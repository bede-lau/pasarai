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d5f67625194fe5" /><Relationship Type="http://schemas.openxmlformats.org/officeDocument/2006/relationships/extended-properties" Target="/docProps/app.xml" Id="R233e035052234eec" /><Relationship Type="http://schemas.openxmlformats.org/officeDocument/2006/relationships/officeDocument" Target="/ppt/presentation.xml" Id="Rdb253a5da65444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0b5e32971643df"/>
  </p:sldMasterIdLst>
  <p:notesMasterIdLst>
    <p:notesMasterId xmlns:r="http://schemas.openxmlformats.org/officeDocument/2006/relationships" r:id="R4c605b31978a440a"/>
  </p:notesMasterIdLst>
  <p:sldIdLst>
    <p:sldId xmlns:r="http://schemas.openxmlformats.org/officeDocument/2006/relationships" id="256" r:id="Rcef9515f1fd5414b"/>
    <p:sldId xmlns:r="http://schemas.openxmlformats.org/officeDocument/2006/relationships" id="257" r:id="R39d0e45f9217496d"/>
    <p:sldId xmlns:r="http://schemas.openxmlformats.org/officeDocument/2006/relationships" id="258" r:id="Ra000866d5efd45dd"/>
    <p:sldId xmlns:r="http://schemas.openxmlformats.org/officeDocument/2006/relationships" id="259" r:id="R5645a89b944f4708"/>
    <p:sldId xmlns:r="http://schemas.openxmlformats.org/officeDocument/2006/relationships" id="260" r:id="Re4ed519cbe3b4700"/>
    <p:sldId xmlns:r="http://schemas.openxmlformats.org/officeDocument/2006/relationships" id="261" r:id="R0298a445bd424569"/>
    <p:sldId xmlns:r="http://schemas.openxmlformats.org/officeDocument/2006/relationships" id="262" r:id="Rd50aedfcbe474297"/>
    <p:sldId xmlns:r="http://schemas.openxmlformats.org/officeDocument/2006/relationships" id="263" r:id="R2dffcfb0fe0341ca"/>
    <p:sldId xmlns:r="http://schemas.openxmlformats.org/officeDocument/2006/relationships" id="264" r:id="Rc2084a691110457e"/>
    <p:sldId xmlns:r="http://schemas.openxmlformats.org/officeDocument/2006/relationships" id="265" r:id="R5a195069a9a34f9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693f87096b4bb6" /><Relationship Type="http://schemas.openxmlformats.org/officeDocument/2006/relationships/slideMaster" Target="/ppt/slideMasters/slideMaster1.xml" Id="R150b5e32971643df" /><Relationship Type="http://schemas.openxmlformats.org/officeDocument/2006/relationships/notesMaster" Target="/ppt/notesMasters/notesMaster1.xml" Id="R4c605b31978a440a" /><Relationship Type="http://schemas.openxmlformats.org/officeDocument/2006/relationships/presProps" Target="/ppt/presProps.xml" Id="R1ebe2101daad4516" /><Relationship Type="http://schemas.openxmlformats.org/officeDocument/2006/relationships/tableStyles" Target="/ppt/tableStyles.xml" Id="R7170807914ea47b5" /><Relationship Type="http://schemas.openxmlformats.org/officeDocument/2006/relationships/slide" Target="/ppt/slides/slide1.xml" Id="Rcef9515f1fd5414b" /><Relationship Type="http://schemas.openxmlformats.org/officeDocument/2006/relationships/slide" Target="/ppt/slides/slide2.xml" Id="R39d0e45f9217496d" /><Relationship Type="http://schemas.openxmlformats.org/officeDocument/2006/relationships/slide" Target="/ppt/slides/slide3.xml" Id="Ra000866d5efd45dd" /><Relationship Type="http://schemas.openxmlformats.org/officeDocument/2006/relationships/slide" Target="/ppt/slides/slide4.xml" Id="R5645a89b944f4708" /><Relationship Type="http://schemas.openxmlformats.org/officeDocument/2006/relationships/slide" Target="/ppt/slides/slide5.xml" Id="Re4ed519cbe3b4700" /><Relationship Type="http://schemas.openxmlformats.org/officeDocument/2006/relationships/slide" Target="/ppt/slides/slide6.xml" Id="R0298a445bd424569" /><Relationship Type="http://schemas.openxmlformats.org/officeDocument/2006/relationships/slide" Target="/ppt/slides/slide7.xml" Id="Rd50aedfcbe474297" /><Relationship Type="http://schemas.openxmlformats.org/officeDocument/2006/relationships/slide" Target="/ppt/slides/slide8.xml" Id="R2dffcfb0fe0341ca" /><Relationship Type="http://schemas.openxmlformats.org/officeDocument/2006/relationships/slide" Target="/ppt/slides/slide9.xml" Id="Rc2084a691110457e" /><Relationship Type="http://schemas.openxmlformats.org/officeDocument/2006/relationships/slide" Target="/ppt/slides/slide10.xml" Id="R5a195069a9a34f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2c85f723c442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0df79648b54d63" /><Relationship Type="http://schemas.openxmlformats.org/officeDocument/2006/relationships/notesMaster" Target="/ppt/notesMasters/notesMaster1.xml" Id="R53651043d35a43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107d182bf74f8c" /><Relationship Type="http://schemas.openxmlformats.org/officeDocument/2006/relationships/notesMaster" Target="/ppt/notesMasters/notesMaster1.xml" Id="Rce6b3b8272b54f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f531b662e44a90" /><Relationship Type="http://schemas.openxmlformats.org/officeDocument/2006/relationships/notesMaster" Target="/ppt/notesMasters/notesMaster1.xml" Id="R7d1301dba83944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05242a01144bf6" /><Relationship Type="http://schemas.openxmlformats.org/officeDocument/2006/relationships/notesMaster" Target="/ppt/notesMasters/notesMaster1.xml" Id="R49dc5baf53b34f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b6ca9dbdae443b" /><Relationship Type="http://schemas.openxmlformats.org/officeDocument/2006/relationships/notesMaster" Target="/ppt/notesMasters/notesMaster1.xml" Id="R0927c914ec114c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862b53a9e04efa" /><Relationship Type="http://schemas.openxmlformats.org/officeDocument/2006/relationships/notesMaster" Target="/ppt/notesMasters/notesMaster1.xml" Id="R53e05b2fd25549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8d47dad2ac4616" /><Relationship Type="http://schemas.openxmlformats.org/officeDocument/2006/relationships/notesMaster" Target="/ppt/notesMasters/notesMaster1.xml" Id="Rcdfd4655536e42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5023af0b7a42b3" /><Relationship Type="http://schemas.openxmlformats.org/officeDocument/2006/relationships/notesMaster" Target="/ppt/notesMasters/notesMaster1.xml" Id="R427bff17489a4d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de93694a544068" /><Relationship Type="http://schemas.openxmlformats.org/officeDocument/2006/relationships/notesMaster" Target="/ppt/notesMasters/notesMaster1.xml" Id="R58a4e40412d340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12341b999643c6" /><Relationship Type="http://schemas.openxmlformats.org/officeDocument/2006/relationships/notesMaster" Target="/ppt/notesMasters/notesMaster1.xml" Id="R199fccbc87c346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</a:t>
            </a:r>
          </a:p>
          <a:p xmlns:a="http://schemas.openxmlformats.org/drawingml/2006/main">
            <a:r>
              <a:t>PasarAI is a zero-UI financial copilot for Malaysian micro-vendors.</a:t>
            </a:r>
          </a:p>
          <a:p xmlns:a="http://schemas.openxmlformats.org/drawingml/2006/main">
            <a:r>
              <a:t>Merchants speak or send receipts in the channels they already use, then get verified daily margin clarity.</a:t>
            </a:r>
          </a:p>
          <a:p xmlns:a="http://schemas.openxmlformats.org/drawingml/2006/main">
            <a:r>
              <a:t>The dashboard on this slide is the working product, not a design mockup.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framing:</a:t>
            </a:r>
          </a:p>
          <a:p xmlns:a="http://schemas.openxmlformats.org/drawingml/2006/main">
            <a:r>
              <a:t>Micro-vendors often have the sales number but not the daily cost-of-sales picture.</a:t>
            </a:r>
          </a:p>
          <a:p xmlns:a="http://schemas.openxmlformats.org/drawingml/2006/main">
            <a:r>
              <a:t>Inputs arrive as cash, QR transactions, photos, voice notes, and changing supplier prices.</a:t>
            </a:r>
          </a:p>
          <a:p xmlns:a="http://schemas.openxmlformats.org/drawingml/2006/main">
            <a:r>
              <a:t>The result is delayed or guessed pricing decisions, especially when ingredient or material costs move.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Solution framing:</a:t>
            </a:r>
          </a:p>
          <a:p xmlns:a="http://schemas.openxmlformats.org/drawingml/2006/main">
            <a:r>
              <a:t>This is a deck-native view of the operating experience, not a webpage screenshot.</a:t>
            </a:r>
          </a:p>
          <a:p xmlns:a="http://schemas.openxmlformats.org/drawingml/2006/main">
            <a:r>
              <a:t>Natural merchant inputs remain connected to receipt evidence, visible confirmation, and deterministic arithmetic.</a:t>
            </a:r>
          </a:p>
          <a:p xmlns:a="http://schemas.openxmlformats.org/drawingml/2006/main">
            <a:r>
              <a:t>The verified 35.60% margin is the central daily decision, with cost drivers and recommended actions around it.</a:t>
            </a:r>
          </a:p>
          <a:p xmlns:a="http://schemas.openxmlformats.org/drawingml/2006/main">
            <a:r>
              <a:t>The merchant gets one answer without forms or spreadsheet setup.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narration:</a:t>
            </a:r>
          </a:p>
          <a:p xmlns:a="http://schemas.openxmlformats.org/drawingml/2006/main">
            <a:r>
              <a:t>Each stage uses a distinct crop from the working PasarAI product.</a:t>
            </a:r>
          </a:p>
          <a:p xmlns:a="http://schemas.openxmlformats.org/drawingml/2006/main">
            <a:r>
              <a:t>Capture accepts natural merchant input; Structure exposes extracted facts; Confirm keeps uncertainty visible.</a:t>
            </a:r>
          </a:p>
          <a:p xmlns:a="http://schemas.openxmlformats.org/drawingml/2006/main">
            <a:r>
              <a:t>Calculate applies deterministic business logic, and Act lets the merchant test an explainable next move.</a:t>
            </a:r>
          </a:p>
          <a:p xmlns:a="http://schemas.openxmlformats.org/drawingml/2006/main">
            <a:r>
              <a:t>The trust rail is the product contract: natural input, visible ambiguity, approval, math, then 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narration:</a:t>
            </a:r>
          </a:p>
          <a:p xmlns:a="http://schemas.openxmlformats.org/drawingml/2006/main">
            <a:r>
              <a:t>Node.js is the single runtime hub and owns deterministic business logic plus every output path.</a:t>
            </a:r>
          </a:p>
          <a:p xmlns:a="http://schemas.openxmlformats.org/drawingml/2006/main">
            <a:r>
              <a:t>Next.js and Google Sheets connect directly; voice input alone uses Scribe, while Qwen supports interpretation.</a:t>
            </a:r>
          </a:p>
          <a:p xmlns:a="http://schemas.openxmlformats.org/drawingml/2006/main">
            <a:r>
              <a:t>Immutable evidence files and Lakebase operational Postgres remain separate responsibilities.</a:t>
            </a:r>
          </a:p>
          <a:p xmlns:a="http://schemas.openxmlformats.org/drawingml/2006/main">
            <a:r>
              <a:t>Databricks runs only when triggered: JDBC snapshot, Delta and Lakeflow Bronze-Silver-Gold, forecast notebook, then forecasts return to Lakebase.</a:t>
            </a:r>
          </a:p>
          <a:p xmlns:a="http://schemas.openxmlformats.org/drawingml/2006/main">
            <a:r>
              <a:t>Codex belongs only to the build workflow and has no live data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Market narration:</a:t>
            </a:r>
          </a:p>
          <a:p xmlns:a="http://schemas.openxmlformats.org/drawingml/2006/main">
            <a:r>
              <a:t>We are not claiming every microenterprise on day one.</a:t>
            </a:r>
          </a:p>
          <a:p xmlns:a="http://schemas.openxmlformats.org/drawingml/2006/main">
            <a:r>
              <a:t>The beachhead is product-based micro-vendors in the three densest commercial markets.</a:t>
            </a:r>
          </a:p>
          <a:p xmlns:a="http://schemas.openxmlformats.org/drawingml/2006/main">
            <a:r>
              <a:t>SAM is explicitly a planning estimate and should be refined with sector-level DOSM counts.</a:t>
            </a:r>
          </a:p>
          <a:p xmlns:a="http://schemas.openxmlformats.org/drawingml/2006/main">
            <a:r>
              <a:t>The SOM target is 3,800 active merchants in three years, approximately one percent of the planning-estimate SAM.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GTM narration:</a:t>
            </a:r>
          </a:p>
          <a:p xmlns:a="http://schemas.openxmlformats.org/drawingml/2006/main">
            <a:r>
              <a:t>The first wedge is a product-based merchant in a dense Klang Valley cluster, with guided setup and a first verified margin.</a:t>
            </a:r>
          </a:p>
          <a:p xmlns:a="http://schemas.openxmlformats.org/drawingml/2006/main">
            <a:r>
              <a:t>The 14-Day Margin Challenge bridges beachhead proof into weekly habit and partner-ready evidence.</a:t>
            </a:r>
          </a:p>
          <a:p xmlns:a="http://schemas.openxmlformats.org/drawingml/2006/main">
            <a:r>
              <a:t>Distribution comes through organisers, councils, associations, wholesalers, banks, and merchant referrals.</a:t>
            </a:r>
          </a:p>
          <a:p xmlns:a="http://schemas.openxmlformats.org/drawingml/2006/main">
            <a:r>
              <a:t>The operating loop is one market, twenty merchants, weekly habit, referrals, then repeatable partner cohorts.</a:t>
            </a:r>
          </a:p>
          <a:p xmlns:a="http://schemas.openxmlformats.org/drawingml/2006/main">
            <a:r>
              <a:t>The KPI rail is explicitly a target set, not current traction.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Business-model narration:</a:t>
            </a:r>
          </a:p>
          <a:p xmlns:a="http://schemas.openxmlformats.org/drawingml/2006/main">
            <a:r>
              <a:t>This slide is optional because pricing still needs direct pilot validation.</a:t>
            </a:r>
          </a:p>
          <a:p xmlns:a="http://schemas.openxmlformats.org/drawingml/2006/main">
            <a:r>
              <a:t>RM29 per month is intentionally below entry accounting and POS benchmarks.</a:t>
            </a:r>
          </a:p>
          <a:p xmlns:a="http://schemas.openxmlformats.org/drawingml/2006/main">
            <a:r>
              <a:t>Partner-sponsored cohorts can fund distribution while keeping the merchant entry price low.</a:t>
            </a:r>
          </a:p>
          <a:p xmlns:a="http://schemas.openxmlformats.org/drawingml/2006/main">
            <a:r>
              <a:t>PasarAI should not take a transaction fee or sell merchant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Recommended answer:</a:t>
            </a:r>
          </a:p>
          <a:p xmlns:a="http://schemas.openxmlformats.org/drawingml/2006/main">
            <a:r>
              <a:t>Touch 'n Go and similar apps are valuable for payments, transaction visibility, and merchant tools.</a:t>
            </a:r>
          </a:p>
          <a:p xmlns:a="http://schemas.openxmlformats.org/drawingml/2006/main">
            <a:r>
              <a:t>PasarAI is payment-agnostic and focuses on a different question: after today's changing input costs, what did the merchant actually make?</a:t>
            </a:r>
          </a:p>
          <a:p xmlns:a="http://schemas.openxmlformats.org/drawingml/2006/main">
            <a:r>
              <a:t>It combines cash and digital activity with voice notes and receipts, then produces an evidence-backed gross-margin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Additional answers:</a:t>
            </a:r>
          </a:p>
          <a:p xmlns:a="http://schemas.openxmlformats.org/drawingml/2006/main">
            <a:r>
              <a:t>Privacy: use merchant-scoped authentication, encrypted integration tokens, append-only audit history, and production PDPA controls.</a:t>
            </a:r>
          </a:p>
          <a:p xmlns:a="http://schemas.openxmlformats.org/drawingml/2006/main">
            <a:r>
              <a:t>Outage handling: evidence is retained and uncertain interpretations stay in review rather than silently writing financial facts.</a:t>
            </a:r>
          </a:p>
          <a:p xmlns:a="http://schemas.openxmlformats.org/drawingml/2006/main">
            <a:r>
              <a:t>Non-food use: the architecture is reusable for any product or component-based micro-business; the current demo is strongest for food vendors.</a:t>
            </a:r>
          </a:p>
          <a:p xmlns:a="http://schemas.openxmlformats.org/drawingml/2006/main">
            <a:r>
              <a:t>Moat: the compound dataset is not generic chat. It is localized, evidence-linked merchant operations data with confirmations and outcomes.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13fe60237642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0594cd4fd94561" /><Relationship Type="http://schemas.openxmlformats.org/officeDocument/2006/relationships/slideLayout" Target="/ppt/slideLayouts/slideLayout1.xml" Id="R80603e698ffd43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603e698ffd43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96fc6345b4f4a" /><Relationship Type="http://schemas.openxmlformats.org/officeDocument/2006/relationships/image" Target="/ppt/media/image.jpeg" Id="R4ff55b09f7ec46d1" /><Relationship Type="http://schemas.openxmlformats.org/officeDocument/2006/relationships/notesSlide" Target="/ppt/notesSlides/notesSlide1.xml" Id="Rf43c52baa3eb4b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c80d52612448e3" /><Relationship Type="http://schemas.openxmlformats.org/officeDocument/2006/relationships/image" Target="/ppt/media/image2.jpeg" Id="R51d7af4285894eed" /><Relationship Type="http://schemas.openxmlformats.org/officeDocument/2006/relationships/notesSlide" Target="/ppt/notesSlides/notesSlide2.xml" Id="R94c6fa74b6504e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ec0a1e90848f8" /><Relationship Type="http://schemas.openxmlformats.org/officeDocument/2006/relationships/notesSlide" Target="/ppt/notesSlides/notesSlide3.xml" Id="Rd69f5436ae4a40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f7aa11e41437b" /><Relationship Type="http://schemas.openxmlformats.org/officeDocument/2006/relationships/image" Target="/ppt/media/image.png" Id="R29e45437710f4d0b" /><Relationship Type="http://schemas.openxmlformats.org/officeDocument/2006/relationships/image" Target="/ppt/media/image2.png" Id="R782c7b54866c4bb8" /><Relationship Type="http://schemas.openxmlformats.org/officeDocument/2006/relationships/image" Target="/ppt/media/image3.png" Id="R82b03e5c21df41dc" /><Relationship Type="http://schemas.openxmlformats.org/officeDocument/2006/relationships/notesSlide" Target="/ppt/notesSlides/notesSlide4.xml" Id="R2d88b469a64841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0edc6a0514c18" /><Relationship Type="http://schemas.openxmlformats.org/officeDocument/2006/relationships/image" Target="/ppt/media/image4.png" Id="Rdb0e2cbbf23a48b9" /><Relationship Type="http://schemas.openxmlformats.org/officeDocument/2006/relationships/image" Target="/ppt/media/image.svg" Id="R8c785c23c6e340a0" /><Relationship Type="http://schemas.openxmlformats.org/officeDocument/2006/relationships/image" Target="/ppt/media/image5.png" Id="R89bf910bc5134a05" /><Relationship Type="http://schemas.openxmlformats.org/officeDocument/2006/relationships/image" Target="/ppt/media/image2.svg" Id="R4ff32132679c4554" /><Relationship Type="http://schemas.openxmlformats.org/officeDocument/2006/relationships/image" Target="/ppt/media/image6.png" Id="R9d201ae4f5fb4ccb" /><Relationship Type="http://schemas.openxmlformats.org/officeDocument/2006/relationships/image" Target="/ppt/media/image3.svg" Id="R496cafe2b2634273" /><Relationship Type="http://schemas.openxmlformats.org/officeDocument/2006/relationships/image" Target="/ppt/media/image7.png" Id="R17400e202bd8489c" /><Relationship Type="http://schemas.openxmlformats.org/officeDocument/2006/relationships/image" Target="/ppt/media/image4.svg" Id="R741e164259bc4dd8" /><Relationship Type="http://schemas.openxmlformats.org/officeDocument/2006/relationships/image" Target="/ppt/media/image8.png" Id="R63ad2e1a7e034e36" /><Relationship Type="http://schemas.openxmlformats.org/officeDocument/2006/relationships/image" Target="/ppt/media/image5.svg" Id="Rdda554df254044dd" /><Relationship Type="http://schemas.openxmlformats.org/officeDocument/2006/relationships/image" Target="/ppt/media/image9.png" Id="Ra7a8137011c24eaf" /><Relationship Type="http://schemas.openxmlformats.org/officeDocument/2006/relationships/image" Target="/ppt/media/image6.svg" Id="Rececc9ae4fd5463a" /><Relationship Type="http://schemas.openxmlformats.org/officeDocument/2006/relationships/image" Target="/ppt/media/image10.png" Id="R325778fc59844631" /><Relationship Type="http://schemas.openxmlformats.org/officeDocument/2006/relationships/image" Target="/ppt/media/image7.svg" Id="R26279511cd5b4a93" /><Relationship Type="http://schemas.openxmlformats.org/officeDocument/2006/relationships/image" Target="/ppt/media/image11.png" Id="R80fd6ff1b12f4429" /><Relationship Type="http://schemas.openxmlformats.org/officeDocument/2006/relationships/image" Target="/ppt/media/image8.svg" Id="R714961b7531f4f20" /><Relationship Type="http://schemas.openxmlformats.org/officeDocument/2006/relationships/image" Target="/ppt/media/image12.png" Id="Rfa864be2f83244da" /><Relationship Type="http://schemas.openxmlformats.org/officeDocument/2006/relationships/image" Target="/ppt/media/image9.svg" Id="R26323a2e17994575" /><Relationship Type="http://schemas.openxmlformats.org/officeDocument/2006/relationships/notesSlide" Target="/ppt/notesSlides/notesSlide5.xml" Id="R69687e77f73940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a97052f16f48f5" /><Relationship Type="http://schemas.openxmlformats.org/officeDocument/2006/relationships/notesSlide" Target="/ppt/notesSlides/notesSlide6.xml" Id="R0cef01ed728344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59234b2a04e8f" /><Relationship Type="http://schemas.openxmlformats.org/officeDocument/2006/relationships/notesSlide" Target="/ppt/notesSlides/notesSlide7.xml" Id="R82593d64504f4c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a5c56d5944ac8" /><Relationship Type="http://schemas.openxmlformats.org/officeDocument/2006/relationships/notesSlide" Target="/ppt/notesSlides/notesSlide8.xml" Id="Rced81b6a579846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95c33f0354571" /><Relationship Type="http://schemas.openxmlformats.org/officeDocument/2006/relationships/notesSlide" Target="/ppt/notesSlides/notesSlide9.xml" Id="R2b61fd8584844a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a2696883a4931" /><Relationship Type="http://schemas.openxmlformats.org/officeDocument/2006/relationships/notesSlide" Target="/ppt/notesSlides/notesSlide10.xml" Id="Rbdd9726c8dac4f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EF6311-45AC-4C17-B247-9E9E3EFD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9F73D-649D-4879-8947-B0C4EEFA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59598-6DB7-4C1B-B0BC-F1BEB6F4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PASARAI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90000-049A-4722-AFEE-DDE5D858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333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DE8C2-1366-48B6-9F56-4CE949C6A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96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MALAYSIA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0320A0-2EE8-4BC7-87DF-7E0D0D08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85925"/>
            <a:ext cx="4381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PasarAI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75AFDD-BA19-45DC-AD83-F44A91FD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324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The Zero-UI financial copilot for Malaysia's micro-vendors.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6B0B0F-D0E7-4EA8-AE87-2BF0EE23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E665F"/>
                </a:solidFill>
                <a:latin typeface="Arial"/>
                <a:ea typeface="Arial"/>
                <a:cs typeface="Arial"/>
              </a:rPr>
              <a:t>Starting with product-based traders.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54C7A-AD4D-4284-99DF-7B4F6D0A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57200"/>
            <a:ext cx="6353175" cy="5219700"/>
          </a:xfrm>
          <a:prstGeom xmlns:a="http://schemas.openxmlformats.org/drawingml/2006/main" prst="roundRect">
            <a:avLst>
              <a:gd name="adj" fmla="val 21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51B1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55b09f7ec46d1"/>
          <a:stretch xmlns:a="http://schemas.openxmlformats.org/drawingml/2006/main"/>
        </p:blipFill>
        <p:spPr>
          <a:xfrm xmlns:a="http://schemas.openxmlformats.org/drawingml/2006/main">
            <a:off x="5438775" y="1164226"/>
            <a:ext cx="6086475" cy="3805649"/>
          </a:xfrm>
          <a:prstGeom xmlns:a="http://schemas.openxmlformats.org/drawingml/2006/main" prst="roundRect">
            <a:avLst>
              <a:gd name="adj" fmla="val 1538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A888CB-9C69-403E-9F4A-6538CD10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704850"/>
            <a:ext cx="1571625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BBEB26-CDD3-44DE-8B07-38C31462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71437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WORKING PRODUCT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DB599C-6FFF-4A50-8664-BF5DDB1A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57875"/>
            <a:ext cx="14859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8ECF4D-6763-4278-A6D6-CCBCB065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6740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PASAR MALAM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EBDAB4-F479-494E-AC44-27C30B0E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857875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CD6FE8-E515-4DF2-8A86-8C856BA1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8674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FOOD STALLS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B84D3D-EBC6-4F7F-B1D5-4BFE9F9D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57875"/>
            <a:ext cx="10668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F2466E-9F60-4432-A268-F927AA3D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TAILORS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3FCC44-E00A-48C7-B0E5-7127F187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857875"/>
            <a:ext cx="14478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114136-B826-4633-8710-F71DE86E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8674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HOME BAKERS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59E94D-9ACE-436C-80E1-B0431401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02932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Hackathon demo deck</a:t>
            </a:r>
          </a:p>
        </p:txBody>
      </p:sp>
    </p:spTree>
    <p:extLst>
      <p:ext uri="{BB962C8B-B14F-4D97-AF65-F5344CB8AC3E}">
        <p14:creationId xmlns:p14="http://schemas.microsoft.com/office/powerpoint/2010/main" val="20470048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0A7F97-CDE1-4C21-A80F-7A85CB12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8FA0E-A50F-40F0-8CA8-CCC119D4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8286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Revenue is visible. Real margin isn't.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EFA0E-0681-44C2-ABD7-69DDFF9A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2609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CECDF"/>
          </a:solidFill>
          <a:ln xmlns:a="http://schemas.openxmlformats.org/drawingml/2006/main" w="14288">
            <a:solidFill>
              <a:srgbClr val="2F7A5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B7943-488D-4B1A-A40B-DDBBC092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814E3-29C5-48AF-A1A2-B56D29B9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5E4D0D-374D-44C3-A14B-6DEFD4D5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1819275"/>
            <a:ext cx="1838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Cash + QR sales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29D667-3CB7-4504-B2D9-98E0082A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2609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14288">
            <a:solidFill>
              <a:srgbClr val="D5A6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06833-BCBD-4597-A83C-2FD7EAD0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62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99291D-1ACB-467D-BA4C-FCDCD620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A308E-9549-47C3-AA30-29B83070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600325"/>
            <a:ext cx="1838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Receipt photos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DFC3BE-5656-47D8-86A8-BDFCF0D6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95650"/>
            <a:ext cx="2609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DE8F7"/>
          </a:solidFill>
          <a:ln xmlns:a="http://schemas.openxmlformats.org/drawingml/2006/main" w="14288">
            <a:solidFill>
              <a:srgbClr val="356AC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8A8BE-E4E0-44AE-A4BE-6667DF5C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F36C68-21C9-477B-9180-4E61ED14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97314-D290-4702-81E3-F0911FB5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381375"/>
            <a:ext cx="1838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Voice notes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F3E1E-A434-4967-A4CD-E292A50B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76700"/>
            <a:ext cx="2609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14288">
            <a:solidFill>
              <a:srgbClr val="A8241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BD1AB-5299-4A8C-955D-A0E99B67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1666D5-7624-4F53-842E-08AB5FD1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1FD811-63E4-4F3C-8523-5F4C3F8F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162425"/>
            <a:ext cx="1838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329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Changing input prices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9E5D94-A3B4-4D52-9B51-6BF21342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381250"/>
            <a:ext cx="1581150" cy="1581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1B17"/>
          </a:solidFill>
          <a:ln xmlns:a="http://schemas.openxmlformats.org/drawingml/2006/main" w="19050">
            <a:solidFill>
              <a:srgbClr val="251B1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338BB6-D65D-440E-990E-BF2CF85F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333625"/>
            <a:ext cx="1581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AE9368-3876-4AFB-95BD-C1476708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476625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TODAY'S REAL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MARGIN</a:t>
            </a:r>
          </a:p>
        </p:txBody>
      </p:sp>
      <p:cxnSp>
        <p:nvCxnSpPr>
          <p:cNvPr id="62" name=""/>
          <p:cNvCxnSpPr>
            <a:stCxn xmlns:a="http://schemas.openxmlformats.org/drawingml/2006/main" id="3" idx="3"/>
            <a:endCxn xmlns:a="http://schemas.openxmlformats.org/drawingml/2006/main" id="19" idx="2"/>
          </p:cNvCxnSpPr>
          <p:nvPr/>
        </p:nvCxnSpPr>
        <p:spPr>
          <a:xfrm xmlns:a="http://schemas.openxmlformats.org/drawingml/2006/main">
            <a:off x="3162300" y="2009775"/>
            <a:ext cx="800100" cy="11620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7" idx="3"/>
            <a:endCxn xmlns:a="http://schemas.openxmlformats.org/drawingml/2006/main" id="19" idx="2"/>
          </p:cNvCxnSpPr>
          <p:nvPr/>
        </p:nvCxnSpPr>
        <p:spPr>
          <a:xfrm xmlns:a="http://schemas.openxmlformats.org/drawingml/2006/main">
            <a:off x="3162300" y="2790825"/>
            <a:ext cx="8001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  <a:tailEnd type="arrow" w="sm" len="sm"/>
          </a:ln>
        </p:spPr>
      </p:cxnSp>
      <p:cxnSp>
        <p:nvCxnSpPr>
          <p:cNvPr id="64" name=""/>
          <p:cNvCxnSpPr>
            <a:stCxn xmlns:a="http://schemas.openxmlformats.org/drawingml/2006/main" id="11" idx="3"/>
            <a:endCxn xmlns:a="http://schemas.openxmlformats.org/drawingml/2006/main" id="19" idx="2"/>
          </p:cNvCxnSpPr>
          <p:nvPr/>
        </p:nvCxnSpPr>
        <p:spPr>
          <a:xfrm xmlns:a="http://schemas.openxmlformats.org/drawingml/2006/main" flipV="1">
            <a:off x="3162300" y="3171825"/>
            <a:ext cx="80010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  <a:tailEnd type="arrow" w="sm" len="sm"/>
          </a:ln>
        </p:spPr>
      </p:cxnSp>
      <p:cxnSp>
        <p:nvCxnSpPr>
          <p:cNvPr id="65" name=""/>
          <p:cNvCxnSpPr>
            <a:stCxn xmlns:a="http://schemas.openxmlformats.org/drawingml/2006/main" id="15" idx="3"/>
            <a:endCxn xmlns:a="http://schemas.openxmlformats.org/drawingml/2006/main" id="19" idx="2"/>
          </p:cNvCxnSpPr>
          <p:nvPr/>
        </p:nvCxnSpPr>
        <p:spPr>
          <a:xfrm xmlns:a="http://schemas.openxmlformats.org/drawingml/2006/main" flipV="1">
            <a:off x="3162300" y="3171825"/>
            <a:ext cx="800100" cy="118110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  <a:tailEnd type="arrow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402CE2-EA77-4B4E-A42A-96279E6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695450"/>
            <a:ext cx="2743200" cy="352425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9C0B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405706-B719-4AC4-AA37-C38355EB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19335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What merchants know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DBBCF7-0E41-4952-BB49-453EE9EC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90775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F7A5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F7A57"/>
                </a:solidFill>
                <a:latin typeface="Arial"/>
                <a:ea typeface="Arial"/>
                <a:cs typeface="Arial"/>
              </a:rPr>
              <a:t>RM200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19385B-3ACE-4A1D-9ADD-C621B782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718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E665F"/>
                </a:solidFill>
                <a:latin typeface="Arial"/>
                <a:ea typeface="Arial"/>
                <a:cs typeface="Arial"/>
              </a:rPr>
              <a:t>sales today</a:t>
            </a:r>
          </a:p>
        </p:txBody>
      </p:sp>
      <p:cxnSp>
        <p:nvCxnSpPr>
          <p:cNvPr id="70" name=""/>
          <p:cNvCxnSpPr/>
          <p:nvPr/>
        </p:nvCxnSpPr>
        <p:spPr>
          <a:xfrm xmlns:a="http://schemas.openxmlformats.org/drawingml/2006/main">
            <a:off x="6467475" y="3476625"/>
            <a:ext cx="21431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C0B5"/>
            </a:solidFill>
            <a:prstDash val="soli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E10823-26E6-4FDE-9140-A44921E2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7528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What they cannot see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80A383-21A6-4717-AFB9-60A32D27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1910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RM 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63FC13-EEE0-4E9D-A56F-3A2B4D32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62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E665F"/>
                </a:solidFill>
                <a:latin typeface="Arial"/>
                <a:ea typeface="Arial"/>
                <a:cs typeface="Arial"/>
              </a:rPr>
              <a:t>gross profit after today's costs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B5EB79-7E77-4C94-BF4C-36DE7CEE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62100"/>
            <a:ext cx="2324100" cy="39814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675F55"/>
          </a:solidFill>
          <a:ln xmlns:a="http://schemas.openxmlformats.org/drawingml/2006/main" w="14288">
            <a:solidFill>
              <a:srgbClr val="251B17"/>
            </a:solidFill>
            <a:prstDash val="solid"/>
          </a:ln>
        </p:spPr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d7af4285894eed"/>
          <a:srcRect xmlns:a="http://schemas.openxmlformats.org/drawingml/2006/main" l="10608" t="0" r="1060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20225" y="1685925"/>
            <a:ext cx="2076450" cy="3733800"/>
          </a:xfrm>
          <a:prstGeom xmlns:a="http://schemas.openxmlformats.org/drawingml/2006/main" prst="roundRect">
            <a:avLst>
              <a:gd name="adj" fmla="val 2752"/>
            </a:avLst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E4953D-27CB-4492-A677-437AEEC0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5657850"/>
            <a:ext cx="2657475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ABDC08-FEC2-4653-B757-DAE6A5B3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5667375"/>
            <a:ext cx="2657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RECEIPT. MANY COST CHANGES.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4B0460-CC26-4975-A81E-EA6CBCC8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823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Most micro-vendors know what they sold, not what they actually made.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542B64-0BF7-4296-B2AA-FC16C8B6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PasarAI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07ACE1-2354-4F13-9099-B2966289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29226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331CCBF-3358-4E22-94ED-58FB0B2C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384BBE-6470-4E86-93D3-94C5A238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147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Turning Voice Notes into Real-Time Margins.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AF9E17-BD60-459B-B243-767DAF2A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3000"/>
            <a:ext cx="876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PasarAI turns everyday merchant inputs into verified margin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84B94-0A65-4E1F-BE8E-62FAC1D1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2000250" cy="44386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251B17"/>
          </a:solidFill>
          <a:ln xmlns:a="http://schemas.openxmlformats.org/drawingml/2006/main" w="9525">
            <a:solidFill>
              <a:srgbClr val="251B1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7F71E-B18B-4C58-A5C5-6086F190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MARGIN CONTROL</a:t>
            </a:r>
          </a:p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BOARD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47E3E8-8F88-461D-810A-1AADC9BA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66034-E860-451C-BF9D-6216FAA1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8E6CA-BCE3-47CD-8131-E2799B21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2BAFE6-9784-4F32-BED2-8886F921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098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9C2B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C9C2BA"/>
                </a:solidFill>
                <a:latin typeface="Arial"/>
                <a:ea typeface="Arial"/>
                <a:cs typeface="Arial"/>
              </a:rPr>
              <a:t>Natural input</a:t>
            </a:r>
          </a:p>
        </p:txBody>
      </p:sp>
      <p:cxnSp>
        <p:nvCxnSpPr>
          <p:cNvPr id="113" name=""/>
          <p:cNvCxnSpPr/>
          <p:nvPr/>
        </p:nvCxnSpPr>
        <p:spPr>
          <a:xfrm xmlns:a="http://schemas.openxmlformats.org/drawingml/2006/main">
            <a:off x="876300" y="2933700"/>
            <a:ext cx="0" cy="5905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68635D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2928A-E69F-40DB-B4E0-3E3DEE8F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62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E0C09-6B36-4C74-A1DB-3E550F13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CA56F6-678D-4E0A-AB89-4EADA9A6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638202-80E5-4442-9381-3AD07EC0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623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9C2B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C9C2BA"/>
                </a:solidFill>
                <a:latin typeface="Arial"/>
                <a:ea typeface="Arial"/>
                <a:cs typeface="Arial"/>
              </a:rPr>
              <a:t>Visible evidence</a:t>
            </a:r>
          </a:p>
        </p:txBody>
      </p:sp>
      <p:cxnSp>
        <p:nvCxnSpPr>
          <p:cNvPr id="118" name=""/>
          <p:cNvCxnSpPr/>
          <p:nvPr/>
        </p:nvCxnSpPr>
        <p:spPr>
          <a:xfrm xmlns:a="http://schemas.openxmlformats.org/drawingml/2006/main">
            <a:off x="876300" y="3886200"/>
            <a:ext cx="0" cy="5905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68635D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2FE73A-054D-4368-A404-7BF845A0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396E38-15D4-42C3-918E-DE08B128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6C25A6-E262-4C66-BC4A-EF22F62B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7AC5D4-1476-475D-813E-2AB5778D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148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C9C2B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C9C2BA"/>
                </a:solidFill>
                <a:latin typeface="Arial"/>
                <a:ea typeface="Arial"/>
                <a:cs typeface="Arial"/>
              </a:rPr>
              <a:t>Margin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8F1EE2-4F45-4508-B048-F612C2D8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Evidence-linked</a:t>
            </a:r>
          </a:p>
          <a:p xmlns:a="http://schemas.openxmlformats.org/drawingml/2006/main">
            <a:pPr algn="l">
              <a:defRPr sz="90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and merchant-approved</a:t>
            </a:r>
          </a:p>
        </p:txBody>
      </p:sp>
      <p:cxnSp>
        <p:nvCxnSpPr>
          <p:cNvPr id="124" name=""/>
          <p:cNvCxnSpPr/>
          <p:nvPr/>
        </p:nvCxnSpPr>
        <p:spPr>
          <a:xfrm xmlns:a="http://schemas.openxmlformats.org/drawingml/2006/main">
            <a:off x="3048000" y="2686050"/>
            <a:ext cx="24193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</a:ln>
        </p:spPr>
      </p:cxnSp>
      <p:cxnSp>
        <p:nvCxnSpPr>
          <p:cNvPr id="125" name=""/>
          <p:cNvCxnSpPr/>
          <p:nvPr/>
        </p:nvCxnSpPr>
        <p:spPr>
          <a:xfrm xmlns:a="http://schemas.openxmlformats.org/drawingml/2006/main">
            <a:off x="5467350" y="2686050"/>
            <a:ext cx="0" cy="9810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</a:ln>
        </p:spPr>
      </p:cxnSp>
      <p:cxnSp>
        <p:nvCxnSpPr>
          <p:cNvPr id="126" name=""/>
          <p:cNvCxnSpPr/>
          <p:nvPr/>
        </p:nvCxnSpPr>
        <p:spPr>
          <a:xfrm xmlns:a="http://schemas.openxmlformats.org/drawingml/2006/main">
            <a:off x="5143500" y="421005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</a:ln>
        </p:spPr>
      </p:cxnSp>
      <p:cxnSp>
        <p:nvCxnSpPr>
          <p:cNvPr id="127" name=""/>
          <p:cNvCxnSpPr/>
          <p:nvPr/>
        </p:nvCxnSpPr>
        <p:spPr>
          <a:xfrm xmlns:a="http://schemas.openxmlformats.org/drawingml/2006/main">
            <a:off x="8572500" y="2686050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</a:ln>
        </p:spPr>
      </p:cxnSp>
      <p:cxnSp>
        <p:nvCxnSpPr>
          <p:cNvPr id="128" name=""/>
          <p:cNvCxnSpPr/>
          <p:nvPr/>
        </p:nvCxnSpPr>
        <p:spPr>
          <a:xfrm xmlns:a="http://schemas.openxmlformats.org/drawingml/2006/main">
            <a:off x="9372600" y="2686050"/>
            <a:ext cx="0" cy="64770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</a:ln>
        </p:spPr>
      </p:cxnSp>
      <p:cxnSp>
        <p:nvCxnSpPr>
          <p:cNvPr id="129" name=""/>
          <p:cNvCxnSpPr/>
          <p:nvPr/>
        </p:nvCxnSpPr>
        <p:spPr>
          <a:xfrm xmlns:a="http://schemas.openxmlformats.org/drawingml/2006/main">
            <a:off x="8572500" y="4457700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</a:ln>
        </p:spPr>
      </p:cxnSp>
      <p:cxnSp>
        <p:nvCxnSpPr>
          <p:cNvPr id="130" name=""/>
          <p:cNvCxnSpPr/>
          <p:nvPr/>
        </p:nvCxnSpPr>
        <p:spPr>
          <a:xfrm xmlns:a="http://schemas.openxmlformats.org/drawingml/2006/main">
            <a:off x="7162800" y="4819650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0B5"/>
            </a:solidFill>
            <a:prstDash val="soli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08466A-DBFC-48A4-B039-AB2DD1D4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43050"/>
            <a:ext cx="34480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DE8F7"/>
          </a:solidFill>
          <a:ln xmlns:a="http://schemas.openxmlformats.org/drawingml/2006/main" w="14288">
            <a:solidFill>
              <a:srgbClr val="356AC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52B4F9-4B47-4C3F-94B0-4F91C6CA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685925"/>
            <a:ext cx="9525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3198CA-2105-4095-936D-D5152DCE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6954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VOICE NOTE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72E585-B55C-4067-96E6-858D1178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0025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"Eggs up RM2 per tray today."</a:t>
            </a:r>
          </a:p>
        </p:txBody>
      </p:sp>
      <p:cxnSp>
        <p:nvCxnSpPr>
          <p:cNvPr id="135" name=""/>
          <p:cNvCxnSpPr/>
          <p:nvPr/>
        </p:nvCxnSpPr>
        <p:spPr>
          <a:xfrm xmlns:a="http://schemas.openxmlformats.org/drawingml/2006/main">
            <a:off x="3162300" y="2381250"/>
            <a:ext cx="0" cy="1333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36" name=""/>
          <p:cNvCxnSpPr/>
          <p:nvPr/>
        </p:nvCxnSpPr>
        <p:spPr>
          <a:xfrm xmlns:a="http://schemas.openxmlformats.org/drawingml/2006/main">
            <a:off x="3333750" y="2328863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37" name=""/>
          <p:cNvCxnSpPr/>
          <p:nvPr/>
        </p:nvCxnSpPr>
        <p:spPr>
          <a:xfrm xmlns:a="http://schemas.openxmlformats.org/drawingml/2006/main">
            <a:off x="3505200" y="2405063"/>
            <a:ext cx="0" cy="857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38" name=""/>
          <p:cNvCxnSpPr/>
          <p:nvPr/>
        </p:nvCxnSpPr>
        <p:spPr>
          <a:xfrm xmlns:a="http://schemas.openxmlformats.org/drawingml/2006/main">
            <a:off x="3676650" y="2300288"/>
            <a:ext cx="0" cy="2952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39" name=""/>
          <p:cNvCxnSpPr/>
          <p:nvPr/>
        </p:nvCxnSpPr>
        <p:spPr>
          <a:xfrm xmlns:a="http://schemas.openxmlformats.org/drawingml/2006/main">
            <a:off x="3848100" y="2357438"/>
            <a:ext cx="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0" name=""/>
          <p:cNvCxnSpPr/>
          <p:nvPr/>
        </p:nvCxnSpPr>
        <p:spPr>
          <a:xfrm xmlns:a="http://schemas.openxmlformats.org/drawingml/2006/main">
            <a:off x="4019550" y="2271713"/>
            <a:ext cx="0" cy="3524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1" name=""/>
          <p:cNvCxnSpPr/>
          <p:nvPr/>
        </p:nvCxnSpPr>
        <p:spPr>
          <a:xfrm xmlns:a="http://schemas.openxmlformats.org/drawingml/2006/main">
            <a:off x="4191000" y="2386013"/>
            <a:ext cx="0" cy="1238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2" name=""/>
          <p:cNvCxnSpPr/>
          <p:nvPr/>
        </p:nvCxnSpPr>
        <p:spPr>
          <a:xfrm xmlns:a="http://schemas.openxmlformats.org/drawingml/2006/main">
            <a:off x="4362450" y="2309813"/>
            <a:ext cx="0" cy="2762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3" name=""/>
          <p:cNvCxnSpPr/>
          <p:nvPr/>
        </p:nvCxnSpPr>
        <p:spPr>
          <a:xfrm xmlns:a="http://schemas.openxmlformats.org/drawingml/2006/main">
            <a:off x="4533900" y="2362200"/>
            <a:ext cx="0" cy="1714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4" name=""/>
          <p:cNvCxnSpPr/>
          <p:nvPr/>
        </p:nvCxnSpPr>
        <p:spPr>
          <a:xfrm xmlns:a="http://schemas.openxmlformats.org/drawingml/2006/main">
            <a:off x="4705350" y="22860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5" name=""/>
          <p:cNvCxnSpPr/>
          <p:nvPr/>
        </p:nvCxnSpPr>
        <p:spPr>
          <a:xfrm xmlns:a="http://schemas.openxmlformats.org/drawingml/2006/main">
            <a:off x="4876800" y="2395538"/>
            <a:ext cx="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6" name=""/>
          <p:cNvCxnSpPr/>
          <p:nvPr/>
        </p:nvCxnSpPr>
        <p:spPr>
          <a:xfrm xmlns:a="http://schemas.openxmlformats.org/drawingml/2006/main">
            <a:off x="5048250" y="2338388"/>
            <a:ext cx="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7" name=""/>
          <p:cNvCxnSpPr/>
          <p:nvPr/>
        </p:nvCxnSpPr>
        <p:spPr>
          <a:xfrm xmlns:a="http://schemas.openxmlformats.org/drawingml/2006/main">
            <a:off x="5219700" y="2371725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8" name=""/>
          <p:cNvCxnSpPr/>
          <p:nvPr/>
        </p:nvCxnSpPr>
        <p:spPr>
          <a:xfrm xmlns:a="http://schemas.openxmlformats.org/drawingml/2006/main">
            <a:off x="5391150" y="230505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49" name=""/>
          <p:cNvCxnSpPr/>
          <p:nvPr/>
        </p:nvCxnSpPr>
        <p:spPr>
          <a:xfrm xmlns:a="http://schemas.openxmlformats.org/drawingml/2006/main">
            <a:off x="5562600" y="2390775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50" name=""/>
          <p:cNvCxnSpPr/>
          <p:nvPr/>
        </p:nvCxnSpPr>
        <p:spPr>
          <a:xfrm xmlns:a="http://schemas.openxmlformats.org/drawingml/2006/main">
            <a:off x="5734050" y="2347913"/>
            <a:ext cx="0" cy="2000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A9611B-43D0-4553-AA73-EBBD3CDD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95600"/>
            <a:ext cx="234315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5A6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564210-E1D0-4B87-A8BD-E7632A3B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4800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RECEIPT EVIDENCE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CD55C05-DE68-4FA9-9E7C-6F848A84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05175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4 ingredients detected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143019C-F3E7-473B-9597-59E70DD0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667125"/>
            <a:ext cx="59055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910167-CC71-4E54-851E-101AC317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676650"/>
            <a:ext cx="590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EGGS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BB0F018-5452-4EEC-8F5E-703A1A41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67125"/>
            <a:ext cx="62865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2C0C817-B0D5-45F7-A96F-8138C9AC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76650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FLOUR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0ABA2F3-CE59-4218-A6A8-86737A7B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67125"/>
            <a:ext cx="47625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B534A3-8EAF-4E73-907B-90538829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76650"/>
            <a:ext cx="476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OIL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55B79AE-03E3-4067-B0D9-9AC6B5E6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00500"/>
            <a:ext cx="62865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22DAEBA-9765-48B4-8969-49245ED2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10025"/>
            <a:ext cx="628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SUGAR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6EFBFB4-3FA2-459C-BC3A-FDBDB9F7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000500"/>
            <a:ext cx="11430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ED15579-CB36-49D9-AD61-120F74CD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01002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PACKAGING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05C50B9-F420-4D0F-A5E7-6BDC4EF9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00550"/>
            <a:ext cx="1952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Evidence #08  ·  14:32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D2B027B-50CF-4AA9-83A6-FCFD59CF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81300"/>
            <a:ext cx="27622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51B1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EEA37CE-8345-4C5D-A42E-71B8EC8B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52750"/>
            <a:ext cx="8763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941C005-3252-4638-8672-6F329ABA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62275"/>
            <a:ext cx="8763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VERIFIED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51DF1CA-5E73-471B-B2BA-4644A6C1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14700"/>
            <a:ext cx="2343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7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35.60%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C5982F5-840F-48E9-A612-7932E1EB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057650"/>
            <a:ext cx="2343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TODAY'S GROSS MARGIN</a:t>
            </a:r>
          </a:p>
        </p:txBody>
      </p:sp>
      <p:cxnSp>
        <p:nvCxnSpPr>
          <p:cNvPr id="170" name=""/>
          <p:cNvCxnSpPr/>
          <p:nvPr/>
        </p:nvCxnSpPr>
        <p:spPr>
          <a:xfrm xmlns:a="http://schemas.openxmlformats.org/drawingml/2006/main">
            <a:off x="6000750" y="4391025"/>
            <a:ext cx="2343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5DED3"/>
            </a:solidFill>
            <a:prstDash val="solid"/>
          </a:ln>
        </p:spPr>
      </p:cxn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64ED636-44D3-46AC-812D-3A35FC84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14850"/>
            <a:ext cx="2343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RM71.20 gross profit  ·  RM200 sales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6F53B1A-BE83-4090-86F8-0117A69A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43050"/>
            <a:ext cx="2762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14288">
            <a:solidFill>
              <a:srgbClr val="A8241C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B69046C-B505-4443-9ADD-0DA13824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695450"/>
            <a:ext cx="14668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E121FE6-DE4E-44E2-A28F-7E621C56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04975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NEEDS CONFIRMATION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3C31336-08C7-404A-9EA4-BAD17D1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478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Tray size: 30 eggs?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D645E0-D8EC-4C41-AC74-2F5B0D3A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028825"/>
            <a:ext cx="876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8C17014-4DAE-47D0-BD41-B9B5E3AD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038350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CONFIRMED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6C5FA15-8985-490F-903E-E38ECE33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28950"/>
            <a:ext cx="27622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C0B5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59EF668-8B9C-4979-93E2-6ABB77EF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2419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COST DRIVERS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67D02C4-3358-437F-8E6C-EAD2D0CA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24250"/>
            <a:ext cx="704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Eggs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5DCAFE7-E5DE-4545-B7F6-B407D854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524250"/>
            <a:ext cx="1657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+RM0.18 / pack</a:t>
            </a:r>
          </a:p>
        </p:txBody>
      </p:sp>
      <p:cxnSp>
        <p:nvCxnSpPr>
          <p:cNvPr id="182" name=""/>
          <p:cNvCxnSpPr/>
          <p:nvPr/>
        </p:nvCxnSpPr>
        <p:spPr>
          <a:xfrm xmlns:a="http://schemas.openxmlformats.org/drawingml/2006/main">
            <a:off x="9029700" y="376237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E5DED3"/>
            </a:solidFill>
            <a:prstDash val="solid"/>
          </a:ln>
        </p:spPr>
      </p:cxnSp>
      <p:cxnSp>
        <p:nvCxnSpPr>
          <p:cNvPr id="183" name=""/>
          <p:cNvCxnSpPr/>
          <p:nvPr/>
        </p:nvCxnSpPr>
        <p:spPr>
          <a:xfrm xmlns:a="http://schemas.openxmlformats.org/drawingml/2006/main">
            <a:off x="9029700" y="3762375"/>
            <a:ext cx="1632204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A8241C"/>
            </a:solidFill>
            <a:prstDash val="solid"/>
          </a:ln>
        </p:spPr>
      </p:cxn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A5E6B13-C4FF-4CB8-8FA5-2754FDF7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952875"/>
            <a:ext cx="704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Oil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6DC86AC-2BAE-43FF-8042-92833B66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952875"/>
            <a:ext cx="1657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+RM0.06 / pack</a:t>
            </a:r>
          </a:p>
        </p:txBody>
      </p:sp>
      <p:cxnSp>
        <p:nvCxnSpPr>
          <p:cNvPr id="186" name=""/>
          <p:cNvCxnSpPr/>
          <p:nvPr/>
        </p:nvCxnSpPr>
        <p:spPr>
          <a:xfrm xmlns:a="http://schemas.openxmlformats.org/drawingml/2006/main">
            <a:off x="9029700" y="419100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E5DED3"/>
            </a:solidFill>
            <a:prstDash val="solid"/>
          </a:ln>
        </p:spPr>
      </p:cxnSp>
      <p:cxnSp>
        <p:nvCxnSpPr>
          <p:cNvPr id="187" name=""/>
          <p:cNvCxnSpPr/>
          <p:nvPr/>
        </p:nvCxnSpPr>
        <p:spPr>
          <a:xfrm xmlns:a="http://schemas.openxmlformats.org/drawingml/2006/main">
            <a:off x="9029700" y="4191000"/>
            <a:ext cx="861441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D5A62E"/>
            </a:solidFill>
            <a:prstDash val="solid"/>
          </a:ln>
        </p:spPr>
      </p:cxn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0B09FD4-C5F1-4196-8615-36D238A4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81500"/>
            <a:ext cx="7048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Packaging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8A17911-C73A-4231-8549-E18D6A94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4381500"/>
            <a:ext cx="1657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F7A5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F7A57"/>
                </a:solidFill>
                <a:latin typeface="Arial"/>
                <a:ea typeface="Arial"/>
                <a:cs typeface="Arial"/>
              </a:rPr>
              <a:t>unchanged</a:t>
            </a:r>
          </a:p>
        </p:txBody>
      </p:sp>
      <p:cxnSp>
        <p:nvCxnSpPr>
          <p:cNvPr id="190" name=""/>
          <p:cNvCxnSpPr/>
          <p:nvPr/>
        </p:nvCxnSpPr>
        <p:spPr>
          <a:xfrm xmlns:a="http://schemas.openxmlformats.org/drawingml/2006/main">
            <a:off x="9029700" y="46196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E5DED3"/>
            </a:solidFill>
            <a:prstDash val="solid"/>
          </a:ln>
        </p:spPr>
      </p:cxnSp>
      <p:cxnSp>
        <p:nvCxnSpPr>
          <p:cNvPr id="191" name=""/>
          <p:cNvCxnSpPr/>
          <p:nvPr/>
        </p:nvCxnSpPr>
        <p:spPr>
          <a:xfrm xmlns:a="http://schemas.openxmlformats.org/drawingml/2006/main">
            <a:off x="9029700" y="4619625"/>
            <a:ext cx="408051" cy="0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2F7A57"/>
            </a:solidFill>
            <a:prstDash val="solid"/>
          </a:ln>
        </p:spPr>
      </p:cxn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5ABB133-646C-43A2-9496-96BDF57D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95875"/>
            <a:ext cx="2143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RECOMMENDED NEXT MOVE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8D0C0D1-1F9C-4E6D-89F2-CE7A4431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24475"/>
            <a:ext cx="990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CDF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8789A69-C969-4E4B-8D41-934C8406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3400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7A57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F7A57"/>
                </a:solidFill>
                <a:latin typeface="Arial"/>
                <a:ea typeface="Arial"/>
                <a:cs typeface="Arial"/>
              </a:rPr>
              <a:t>Hold price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C134CCD-8597-40A8-8912-C9EBCE94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5324475"/>
            <a:ext cx="1314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783D8DC-5A79-462A-B928-30DF789C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53340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Reduce oil waste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66195C8-2A53-4EC0-B528-539A8F0B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324475"/>
            <a:ext cx="1581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81C4A55-02BD-4214-BE31-8DA5DB19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334000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Test RM0.50 increase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E7B9921-1CAD-47D5-87EA-8122120C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5324475"/>
            <a:ext cx="1333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8F7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446E17A-DF4F-4939-8EF9-131744C0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53340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356AC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356AC3"/>
                </a:solidFill>
                <a:latin typeface="Arial"/>
                <a:ea typeface="Arial"/>
                <a:cs typeface="Arial"/>
              </a:rPr>
              <a:t>Simulate volume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274C5B5-7287-4ABC-8B05-3C392F2F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7622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CE8E0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D03F898-AF7C-42DA-8327-AF0E72A7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210175"/>
            <a:ext cx="2495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14:34 MYT  ·  8 evidence items  ·  94% confidence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184B721-1639-46E0-BE3B-D26E58EC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429250"/>
            <a:ext cx="2495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Deterministic calculation v1.3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2FCBE59-2E14-45D6-B957-258A8EDD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990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No forms. No spreadsheet setup. One verified daily answer.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53A032F-B7CF-4A27-A94B-3D11AE95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PasarAI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BF9CE66-8228-47ED-9562-C38C0B46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302928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21E42F0-1512-4FA7-ABD9-DF7C824E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HOW IT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18885-46B4-4C00-84A1-1DE85E3B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90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Five visible handoffs from input to action.</a:t>
            </a:r>
          </a:p>
        </p:txBody>
      </p:sp>
      <p:cxnSp>
        <p:nvCxnSpPr>
          <p:cNvPr id="76" name=""/>
          <p:cNvCxnSpPr/>
          <p:nvPr/>
        </p:nvCxnSpPr>
        <p:spPr>
          <a:xfrm xmlns:a="http://schemas.openxmlformats.org/drawingml/2006/main">
            <a:off x="838200" y="1790700"/>
            <a:ext cx="10420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1B17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9CFE38-0991-463C-808B-457FD9D4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600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28575">
            <a:solidFill>
              <a:srgbClr val="FBFA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62A39-2DC7-4AB3-B627-61253311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600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E5CE3-316A-4D49-B9F6-EFB3CEB4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7645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2DE8F-331C-4E94-A4FC-4B2A17B0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9350"/>
            <a:ext cx="2133600" cy="238125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DDE8F7"/>
          </a:solidFill>
          <a:ln xmlns:a="http://schemas.openxmlformats.org/drawingml/2006/main" w="14288">
            <a:solidFill>
              <a:srgbClr val="356A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B38CC3-EEB4-4ABE-9E3D-B98904CC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94310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e45437710f4d0b"/>
          <a:stretch xmlns:a="http://schemas.openxmlformats.org/drawingml/2006/main"/>
        </p:blipFill>
        <p:spPr>
          <a:xfrm xmlns:a="http://schemas.openxmlformats.org/drawingml/2006/main">
            <a:off x="676275" y="3101031"/>
            <a:ext cx="1828800" cy="617838"/>
          </a:xfrm>
          <a:prstGeom xmlns:a="http://schemas.openxmlformats.org/drawingml/2006/main" prst="roundRect">
            <a:avLst>
              <a:gd name="adj" fmla="val 1149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FB11B0-FE5E-45CC-AF63-F2F956BA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00550"/>
            <a:ext cx="186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Voice, receipt, or purchase enters naturally.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E3D48C-1D11-4419-8AD4-A04EE8D1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600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665F"/>
          </a:solidFill>
          <a:ln xmlns:a="http://schemas.openxmlformats.org/drawingml/2006/main" w="28575">
            <a:solidFill>
              <a:srgbClr val="FBFAF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998361-0D56-4D6F-9F46-2BD04B87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600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FB34ED-8D37-456F-8A4D-71811336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07645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STRUCTURE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38849A-CF5E-486E-BA28-4A569E07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419350"/>
            <a:ext cx="2133600" cy="238125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CE8E0"/>
          </a:solidFill>
          <a:ln xmlns:a="http://schemas.openxmlformats.org/drawingml/2006/main" w="14288">
            <a:solidFill>
              <a:srgbClr val="6E66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631107-F569-4A1C-9403-A251BF5F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524125"/>
            <a:ext cx="194310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F66B4B-2C97-446D-9492-D75C01E2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4795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EXTRACTED PURCHASE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8667CC-CD22-45A0-BCC8-E0100BAC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876550"/>
            <a:ext cx="571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Item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DE8965-8484-4AE1-ACC7-14BCB5F3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1095375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E5DED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ADDCD2-DA80-4F55-98CC-B28B9A29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876550"/>
            <a:ext cx="9620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Eggs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3D043C-2508-4B90-B5D9-57F7C2E8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152775"/>
            <a:ext cx="571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Quantity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C0DAD-7AF7-437F-A287-7FA21561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33725"/>
            <a:ext cx="1095375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E5DED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7B2F65-1C06-4CCB-B4DB-9316AC03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152775"/>
            <a:ext cx="9620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1 tray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424D34-156E-49A6-9509-1A7BC693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429000"/>
            <a:ext cx="571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Unit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711213-38C6-4E34-8B34-7955F6C3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09950"/>
            <a:ext cx="1095375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E5DED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01216F-65AA-4907-930B-CA6AC3F5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429000"/>
            <a:ext cx="9620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30 eggs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F2B8E6-BCDA-4874-A9FF-56F2BD53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705225"/>
            <a:ext cx="571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9A9BDD-868B-4B02-82F9-3E30F93C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686175"/>
            <a:ext cx="1095375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E5DED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577F3F-6B4E-4DCB-84DC-4317BE9F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705225"/>
            <a:ext cx="9620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RM15.00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66486F-D0D1-4DB9-A526-5D1E7B3B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019550"/>
            <a:ext cx="9906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72% confidence</a:t>
            </a:r>
          </a:p>
        </p:txBody>
      </p:sp>
      <p:cxnSp>
        <p:nvCxnSpPr>
          <p:cNvPr id="103" name=""/>
          <p:cNvCxnSpPr/>
          <p:nvPr/>
        </p:nvCxnSpPr>
        <p:spPr>
          <a:xfrm xmlns:a="http://schemas.openxmlformats.org/drawingml/2006/main">
            <a:off x="3971925" y="4095750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E5DED3"/>
            </a:solidFill>
            <a:prstDash val="solid"/>
          </a:ln>
        </p:spPr>
      </p:cxnSp>
      <p:cxnSp>
        <p:nvCxnSpPr>
          <p:cNvPr id="104" name=""/>
          <p:cNvCxnSpPr/>
          <p:nvPr/>
        </p:nvCxnSpPr>
        <p:spPr>
          <a:xfrm xmlns:a="http://schemas.openxmlformats.org/drawingml/2006/main">
            <a:off x="3971925" y="4095750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D5A62E"/>
            </a:solidFill>
            <a:prstDash val="soli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4171C6-DF55-4A14-BE72-07D720D6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400550"/>
            <a:ext cx="186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Items, units, and prices become visible facts.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48145E-05F2-4408-9C61-BDA1AD49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1600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A62E"/>
          </a:solidFill>
          <a:ln xmlns:a="http://schemas.openxmlformats.org/drawingml/2006/main" w="28575">
            <a:solidFill>
              <a:srgbClr val="FBFAF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D856BA-B96E-449F-99F9-51B1938F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1600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1D62A1-66D0-41CB-B800-DA786607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07645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CONFIRM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CED776-0E16-4E64-BD17-67688FE2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419350"/>
            <a:ext cx="2133600" cy="238125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14288">
            <a:solidFill>
              <a:srgbClr val="D5A62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43B8A1-6C9E-42E5-9A4F-DBF5D900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524125"/>
            <a:ext cx="194310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0634EE-17F6-454F-8674-8DDFC04B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657475"/>
            <a:ext cx="13525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E37F63-C1B5-46B9-B6DA-2ADE0F12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667000"/>
            <a:ext cx="1352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NEEDS CONFIRMATION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7386D0-17AA-43F5-996E-5441B5E1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0003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What does one tray mean?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39391E-A335-477A-839D-10852F26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3909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E665F"/>
                </a:solidFill>
                <a:latin typeface="Arial"/>
                <a:ea typeface="Arial"/>
                <a:cs typeface="Arial"/>
              </a:rPr>
              <a:t>Choose the unit before margin is updated.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E9A03E-6B42-4F75-B449-2309236BC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81425"/>
            <a:ext cx="742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38584C-1424-4E43-BC00-EFC34C06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90950"/>
            <a:ext cx="742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30 eggs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140FB8-3420-4079-B300-7017E5A9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781425"/>
            <a:ext cx="742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6E10AE-1C56-423E-9B41-0CF2A9DD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790950"/>
            <a:ext cx="742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Other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FCF3EF-4E99-4DB5-AF2F-57829DD8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400550"/>
            <a:ext cx="186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Ambiguity waits for merchant approval.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33E439C-5A56-4D21-A84C-4FEFDDA9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600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57"/>
          </a:solidFill>
          <a:ln xmlns:a="http://schemas.openxmlformats.org/drawingml/2006/main" w="28575">
            <a:solidFill>
              <a:srgbClr val="FBFAF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23D5A57-8902-4008-8B59-39D77B64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600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71D8D23-72FF-421D-856E-E16DC6E6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07645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CALCULATE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FF7D09-4C79-4659-9BFC-BAFEC13C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419350"/>
            <a:ext cx="2133600" cy="238125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DCECDF"/>
          </a:solidFill>
          <a:ln xmlns:a="http://schemas.openxmlformats.org/drawingml/2006/main" w="14288">
            <a:solidFill>
              <a:srgbClr val="2F7A5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5EA4A7F-B91B-47C5-BD6E-49D3E226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24125"/>
            <a:ext cx="194310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pic>
        <p:nvPicPr>
          <p:cNvPr id="1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2c7b54866c4bb8"/>
          <a:srcRect xmlns:a="http://schemas.openxmlformats.org/drawingml/2006/main" l="0" t="14021" r="0" b="140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19975" y="2581275"/>
            <a:ext cx="1828800" cy="1657350"/>
          </a:xfrm>
          <a:prstGeom xmlns:a="http://schemas.openxmlformats.org/drawingml/2006/main" prst="roundRect">
            <a:avLst>
              <a:gd name="adj" fmla="val 1149"/>
            </a:avLst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E0AEAE-3B0D-43EC-A3D3-EC344F12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400550"/>
            <a:ext cx="186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Deterministic math updates unit economics.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53AA3D-B1AC-486F-8F3B-70CDD221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600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28575">
            <a:solidFill>
              <a:srgbClr val="FBFAF7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41BC9BF-D72A-4697-8539-0860B80A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600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506839C-26A3-4281-9114-590EF413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07645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ACT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F1A42F-2C18-4751-82BA-CA39A7E7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419350"/>
            <a:ext cx="2133600" cy="238125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14288">
            <a:solidFill>
              <a:srgbClr val="A8241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F409D47-2922-45CE-A67F-91AF0681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524125"/>
            <a:ext cx="194310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0B5"/>
            </a:solidFill>
            <a:prstDash val="solid"/>
          </a:ln>
        </p:spPr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03e5c21df41dc"/>
          <a:srcRect xmlns:a="http://schemas.openxmlformats.org/drawingml/2006/main" l="6650" t="0" r="66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67875" y="2581275"/>
            <a:ext cx="1828800" cy="1657350"/>
          </a:xfrm>
          <a:prstGeom xmlns:a="http://schemas.openxmlformats.org/drawingml/2006/main" prst="roundRect">
            <a:avLst>
              <a:gd name="adj" fmla="val 1149"/>
            </a:avLst>
          </a:prstGeom>
        </p:spPr>
      </p:pic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E4D3A5A-4EFF-4E22-AEAA-EF188579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4400550"/>
            <a:ext cx="186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Scenarios turn margin into a next move.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BD0EECB-937E-4C28-AB1F-2672C5D4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86350"/>
            <a:ext cx="11068050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251B17"/>
          </a:solidFill>
          <a:ln xmlns:a="http://schemas.openxmlformats.org/drawingml/2006/main" w="9525">
            <a:solidFill>
              <a:srgbClr val="251B1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CC12EA4-37ED-4202-BA73-23F116A4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971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TRUST RAIL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C60591E-CDAE-4DD5-8981-4EE921A5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314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Natural input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608074B-8684-4DE6-ADF7-0C5937B2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2768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EE817E6-9CFD-4F4E-8F25-A814DB08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visible ambiguity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C8BAA79-C5D9-439A-BA47-66D67618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2768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5BF4718-C510-4F02-9201-7C5EF0D0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314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merchant approval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6FFFBED-0EE5-4C79-B10C-9ECC7C7F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52768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CC480F8-140A-456E-80EB-511A5B74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14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deterministic math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C25DF1E-97AD-4C5A-B326-8D05AF6F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276850"/>
            <a:ext cx="28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7D034CF-593D-4C1F-A5FC-CCEA4532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314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explainable action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407F28D-5B3F-43FB-924E-AF298058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PasarAI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34F9D35-736A-4C2A-80D6-904C228E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85337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D1E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74530BC-D0BA-4BDE-B701-13913043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cxnSp>
        <p:nvCxnSpPr>
          <p:cNvPr id="95" name=""/>
          <p:cNvCxnSpPr/>
          <p:nvPr/>
        </p:nvCxnSpPr>
        <p:spPr>
          <a:xfrm xmlns:a="http://schemas.openxmlformats.org/drawingml/2006/main">
            <a:off x="1352550" y="1428750"/>
            <a:ext cx="3333750" cy="99060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81827C"/>
            </a:solidFill>
            <a:prstDash val="solid"/>
          </a:ln>
        </p:spPr>
      </p:cxnSp>
      <p:cxnSp>
        <p:nvCxnSpPr>
          <p:cNvPr id="96" name=""/>
          <p:cNvCxnSpPr/>
          <p:nvPr/>
        </p:nvCxnSpPr>
        <p:spPr>
          <a:xfrm xmlns:a="http://schemas.openxmlformats.org/drawingml/2006/main">
            <a:off x="2647950" y="1428750"/>
            <a:ext cx="2038350" cy="99060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81827C"/>
            </a:solidFill>
            <a:prstDash val="solid"/>
          </a:ln>
        </p:spPr>
      </p:cxnSp>
      <p:cxnSp>
        <p:nvCxnSpPr>
          <p:cNvPr id="97" name=""/>
          <p:cNvCxnSpPr/>
          <p:nvPr/>
        </p:nvCxnSpPr>
        <p:spPr>
          <a:xfrm xmlns:a="http://schemas.openxmlformats.org/drawingml/2006/main">
            <a:off x="3943350" y="1428750"/>
            <a:ext cx="742950" cy="99060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D5A62E"/>
            </a:solidFill>
            <a:prstDash val="dash"/>
          </a:ln>
        </p:spPr>
      </p:cxnSp>
      <p:cxnSp>
        <p:nvCxnSpPr>
          <p:cNvPr id="98" name=""/>
          <p:cNvCxnSpPr/>
          <p:nvPr/>
        </p:nvCxnSpPr>
        <p:spPr>
          <a:xfrm xmlns:a="http://schemas.openxmlformats.org/drawingml/2006/main">
            <a:off x="5238750" y="1428750"/>
            <a:ext cx="209550" cy="99060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81827C"/>
            </a:solidFill>
            <a:prstDash val="solid"/>
          </a:ln>
        </p:spPr>
      </p:cxnSp>
      <p:cxnSp>
        <p:nvCxnSpPr>
          <p:cNvPr id="99" name=""/>
          <p:cNvCxnSpPr/>
          <p:nvPr/>
        </p:nvCxnSpPr>
        <p:spPr>
          <a:xfrm xmlns:a="http://schemas.openxmlformats.org/drawingml/2006/main">
            <a:off x="2286000" y="26384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FFFFFF"/>
            </a:solidFill>
            <a:prstDash val="solid"/>
          </a:ln>
        </p:spPr>
      </p:cxnSp>
      <p:cxnSp>
        <p:nvCxnSpPr>
          <p:cNvPr id="100" name=""/>
          <p:cNvCxnSpPr/>
          <p:nvPr/>
        </p:nvCxnSpPr>
        <p:spPr>
          <a:xfrm xmlns:a="http://schemas.openxmlformats.org/drawingml/2006/main">
            <a:off x="3886200" y="26384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FFFFFF"/>
            </a:solidFill>
            <a:prstDash val="solid"/>
          </a:ln>
        </p:spPr>
      </p:cxnSp>
      <p:cxnSp>
        <p:nvCxnSpPr>
          <p:cNvPr id="101" name=""/>
          <p:cNvCxnSpPr/>
          <p:nvPr/>
        </p:nvCxnSpPr>
        <p:spPr>
          <a:xfrm xmlns:a="http://schemas.openxmlformats.org/drawingml/2006/main">
            <a:off x="7715250" y="263842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FFFFFF"/>
            </a:solidFill>
            <a:prstDash val="solid"/>
          </a:ln>
        </p:spPr>
      </p:cxnSp>
      <p:cxnSp>
        <p:nvCxnSpPr>
          <p:cNvPr id="102" name=""/>
          <p:cNvCxnSpPr/>
          <p:nvPr/>
        </p:nvCxnSpPr>
        <p:spPr>
          <a:xfrm xmlns:a="http://schemas.openxmlformats.org/drawingml/2006/main">
            <a:off x="7715250" y="3257550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FFFFFF"/>
            </a:solidFill>
            <a:prstDash val="solid"/>
          </a:ln>
        </p:spPr>
      </p:cxnSp>
      <p:cxnSp>
        <p:nvCxnSpPr>
          <p:cNvPr id="103" name=""/>
          <p:cNvCxnSpPr/>
          <p:nvPr/>
        </p:nvCxnSpPr>
        <p:spPr>
          <a:xfrm xmlns:a="http://schemas.openxmlformats.org/drawingml/2006/main">
            <a:off x="9544050" y="3714750"/>
            <a:ext cx="0" cy="6191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FFFFFF"/>
            </a:solidFill>
            <a:prstDash val="solid"/>
          </a:ln>
        </p:spPr>
      </p:cxnSp>
      <p:cxnSp>
        <p:nvCxnSpPr>
          <p:cNvPr id="104" name=""/>
          <p:cNvCxnSpPr/>
          <p:nvPr/>
        </p:nvCxnSpPr>
        <p:spPr>
          <a:xfrm xmlns:a="http://schemas.openxmlformats.org/drawingml/2006/main">
            <a:off x="3962400" y="46672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6A7A1"/>
            </a:solidFill>
            <a:prstDash val="solid"/>
          </a:ln>
        </p:spPr>
      </p:cxnSp>
      <p:cxnSp>
        <p:nvCxnSpPr>
          <p:cNvPr id="105" name=""/>
          <p:cNvCxnSpPr/>
          <p:nvPr/>
        </p:nvCxnSpPr>
        <p:spPr>
          <a:xfrm xmlns:a="http://schemas.openxmlformats.org/drawingml/2006/main">
            <a:off x="5162550" y="46672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6A7A1"/>
            </a:solidFill>
            <a:prstDash val="solid"/>
          </a:ln>
        </p:spPr>
      </p:cxnSp>
      <p:cxnSp>
        <p:nvCxnSpPr>
          <p:cNvPr id="106" name=""/>
          <p:cNvCxnSpPr/>
          <p:nvPr/>
        </p:nvCxnSpPr>
        <p:spPr>
          <a:xfrm xmlns:a="http://schemas.openxmlformats.org/drawingml/2006/main">
            <a:off x="7029450" y="46672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6A7A1"/>
            </a:solidFill>
            <a:prstDash val="solid"/>
          </a:ln>
        </p:spPr>
      </p:cxnSp>
      <p:cxnSp>
        <p:nvCxnSpPr>
          <p:cNvPr id="107" name=""/>
          <p:cNvCxnSpPr/>
          <p:nvPr/>
        </p:nvCxnSpPr>
        <p:spPr>
          <a:xfrm xmlns:a="http://schemas.openxmlformats.org/drawingml/2006/main">
            <a:off x="8801100" y="46672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6A7A1"/>
            </a:solidFill>
            <a:prstDash val="solid"/>
          </a:ln>
        </p:spPr>
      </p:cxnSp>
      <p:cxnSp>
        <p:nvCxnSpPr>
          <p:cNvPr id="108" name=""/>
          <p:cNvCxnSpPr/>
          <p:nvPr/>
        </p:nvCxnSpPr>
        <p:spPr>
          <a:xfrm xmlns:a="http://schemas.openxmlformats.org/drawingml/2006/main">
            <a:off x="3257550" y="3267075"/>
            <a:ext cx="0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2F7A57"/>
            </a:solidFill>
            <a:prstDash val="solid"/>
          </a:ln>
        </p:spPr>
      </p:cxnSp>
      <p:cxnSp>
        <p:nvCxnSpPr>
          <p:cNvPr id="109" name=""/>
          <p:cNvCxnSpPr/>
          <p:nvPr/>
        </p:nvCxnSpPr>
        <p:spPr>
          <a:xfrm xmlns:a="http://schemas.openxmlformats.org/drawingml/2006/main">
            <a:off x="7715250" y="3257550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2F7A57"/>
            </a:solidFill>
            <a:prstDash val="solid"/>
          </a:ln>
        </p:spPr>
      </p:cxnSp>
      <p:cxnSp>
        <p:nvCxnSpPr>
          <p:cNvPr id="110" name=""/>
          <p:cNvCxnSpPr/>
          <p:nvPr/>
        </p:nvCxnSpPr>
        <p:spPr>
          <a:xfrm xmlns:a="http://schemas.openxmlformats.org/drawingml/2006/main">
            <a:off x="10134600" y="3257550"/>
            <a:ext cx="0" cy="10858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2F7A57"/>
            </a:solidFill>
            <a:prstDash val="solid"/>
          </a:ln>
        </p:spPr>
      </p:cxnSp>
      <p:cxnSp>
        <p:nvCxnSpPr>
          <p:cNvPr id="111" name=""/>
          <p:cNvCxnSpPr/>
          <p:nvPr/>
        </p:nvCxnSpPr>
        <p:spPr>
          <a:xfrm xmlns:a="http://schemas.openxmlformats.org/drawingml/2006/main">
            <a:off x="7715250" y="3257550"/>
            <a:ext cx="24193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2F7A57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C131D6-E4DD-4B0E-937B-20699CE4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CHANNELS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DF6D03-555F-4D91-AB2D-C623ADEB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33450"/>
            <a:ext cx="10668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4A4B47"/>
            </a:solidFill>
            <a:prstDash val="solid"/>
          </a:ln>
        </p:spPr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0e2cbbf23a48b9">
            <a:extLst>
              <a:ext uri="{96DAC541-7B7A-43D3-8B79-37D633B846F1}">
                <asvg:svgBlip xmlns:asvg="http://schemas.microsoft.com/office/drawing/2016/SVG/main" r:embed="R8c785c23c6e340a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4850" y="1009650"/>
            <a:ext cx="723900" cy="26670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006845-6DE9-4B99-9F4A-9E212203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314450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Next.js</a:t>
            </a:r>
          </a:p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Dashboard + BFF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8AE1AB-BE7E-472E-BB4F-8409D2C5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933450"/>
            <a:ext cx="10668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4A4B47"/>
            </a:solidFill>
            <a:prstDash val="solid"/>
          </a:ln>
        </p:spPr>
      </p:sp>
      <p:pic>
        <p:nvPicPr>
          <p:cNvPr id="1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bf910bc5134a05">
            <a:extLst>
              <a:ext uri="{96DAC541-7B7A-43D3-8B79-37D633B846F1}">
                <asvg:svgBlip xmlns:asvg="http://schemas.microsoft.com/office/drawing/2016/SVG/main" r:embed="R4ff32132679c45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000250" y="1009650"/>
            <a:ext cx="723900" cy="2667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625E26-5758-4037-AF68-BF35ED9A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1314450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Telegram bot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90929E-A704-4E74-9965-E6D83A9D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933450"/>
            <a:ext cx="10668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4A4B47"/>
            </a:solidFill>
            <a:prstDash val="solid"/>
          </a:ln>
        </p:spPr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201ae4f5fb4ccb">
            <a:extLst>
              <a:ext uri="{96DAC541-7B7A-43D3-8B79-37D633B846F1}">
                <asvg:svgBlip xmlns:asvg="http://schemas.microsoft.com/office/drawing/2016/SVG/main" r:embed="R496cafe2b263427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1009650"/>
            <a:ext cx="723900" cy="266700"/>
          </a:xfrm>
          <a:prstGeom xmlns:a="http://schemas.openxmlformats.org/drawingml/2006/main" prst="rect">
            <a:avLst/>
          </a:prstGeom>
        </p:spPr>
      </p:pic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BADD41-3C44-4430-85C0-7D1D04A0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1314450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ElevenLabs</a:t>
            </a:r>
          </a:p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Live Advisor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087E93-B4B9-4BFF-822E-A39E5B92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828675"/>
            <a:ext cx="9525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CONFIGURED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74AB47-E588-4849-B229-B1CA0324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933450"/>
            <a:ext cx="10668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4A4B47"/>
            </a:solidFill>
            <a:prstDash val="solid"/>
          </a:ln>
        </p:spPr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00e202bd8489c">
            <a:extLst>
              <a:ext uri="{96DAC541-7B7A-43D3-8B79-37D633B846F1}">
                <asvg:svgBlip xmlns:asvg="http://schemas.microsoft.com/office/drawing/2016/SVG/main" r:embed="R741e164259bc4d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91050" y="1009650"/>
            <a:ext cx="723900" cy="26670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063476-09CC-44CF-8233-0A6D3BEB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314450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Google Sheets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39A89A-FF42-4475-A085-19413E65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09750"/>
            <a:ext cx="3086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RUNTIME CORE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31AEE3-3BF7-4990-8F39-CC4E3B19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38350"/>
            <a:ext cx="3105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2F7A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d2e1a7e034e36">
            <a:extLst>
              <a:ext uri="{96DAC541-7B7A-43D3-8B79-37D633B846F1}">
                <asvg:svgBlip xmlns:asvg="http://schemas.microsoft.com/office/drawing/2016/SVG/main" r:embed="Rdda554df254044d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2209800"/>
            <a:ext cx="704850" cy="41910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0B50DE-13DF-4868-8D0B-F2898935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81225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NODE.JS API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AE2A6D-BA67-407F-9B77-D2DF1DAB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14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7A5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A57"/>
                </a:solidFill>
                <a:latin typeface="Arial"/>
                <a:ea typeface="Arial"/>
                <a:cs typeface="Arial"/>
              </a:rPr>
              <a:t>Deterministic business service</a:t>
            </a:r>
          </a:p>
        </p:txBody>
      </p:sp>
      <p:cxnSp>
        <p:nvCxnSpPr>
          <p:cNvPr id="131" name=""/>
          <p:cNvCxnSpPr/>
          <p:nvPr/>
        </p:nvCxnSpPr>
        <p:spPr>
          <a:xfrm xmlns:a="http://schemas.openxmlformats.org/drawingml/2006/main">
            <a:off x="4857750" y="3105150"/>
            <a:ext cx="26098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5DED3"/>
            </a:solidFill>
            <a:prstDash val="solid"/>
          </a:ln>
        </p:spPr>
      </p:cxn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9756FE-CC69-478A-981D-EDF3ED45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194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Validation  ·  margin math  ·  scenarios  ·  output routing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8E21EC-4FE0-4B13-BC9B-E3F683DA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8097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AI ADAPTERS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3C3C73-DEA9-45B7-ADE3-5B9A1808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343150"/>
            <a:ext cx="10668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4A4B47"/>
            </a:solidFill>
            <a:prstDash val="solid"/>
          </a:ln>
        </p:spPr>
      </p:sp>
      <p:pic>
        <p:nvPicPr>
          <p:cNvPr id="1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a8137011c24eaf">
            <a:extLst>
              <a:ext uri="{96DAC541-7B7A-43D3-8B79-37D633B846F1}">
                <asvg:svgBlip xmlns:asvg="http://schemas.microsoft.com/office/drawing/2016/SVG/main" r:embed="Rececc9ae4fd5463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228850" y="2419350"/>
            <a:ext cx="723900" cy="266700"/>
          </a:xfrm>
          <a:prstGeom xmlns:a="http://schemas.openxmlformats.org/drawingml/2006/main" prst="rect">
            <a:avLst/>
          </a:prstGeom>
        </p:spPr>
      </p:pic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FF5BCE-B9EE-4A70-B323-E12CBF7A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2724150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ElevenLabs</a:t>
            </a:r>
          </a:p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Scribe v2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AE4F31-DF93-4481-B75D-F6E58723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43150"/>
            <a:ext cx="10668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4A4B47"/>
            </a:solidFill>
            <a:prstDash val="solid"/>
          </a:ln>
        </p:spPr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778fc59844631">
            <a:extLst>
              <a:ext uri="{96DAC541-7B7A-43D3-8B79-37D633B846F1}">
                <asvg:svgBlip xmlns:asvg="http://schemas.microsoft.com/office/drawing/2016/SVG/main" r:embed="R26279511cd5b4a9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24250" y="2419350"/>
            <a:ext cx="723900" cy="266700"/>
          </a:xfrm>
          <a:prstGeom xmlns:a="http://schemas.openxmlformats.org/drawingml/2006/main" prst="rect">
            <a:avLst/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8CAF32-AF9A-442E-B512-C299E5CC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24150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Qwen /</a:t>
            </a:r>
          </a:p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DashScope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432840-42D8-49A3-85E7-3B2E54097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009900"/>
            <a:ext cx="9715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A6A7A1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A6A7A1"/>
                </a:solidFill>
                <a:latin typeface="Arial"/>
                <a:ea typeface="Arial"/>
                <a:cs typeface="Arial"/>
              </a:rPr>
              <a:t>voice only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3F3C47-1D82-47F5-8D96-BAB31B50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009900"/>
            <a:ext cx="9715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A6A7A1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A6A7A1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71ABAB-15FD-42CE-AB65-D458FE5D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09750"/>
            <a:ext cx="3219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OPERATIONAL STATE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9E85F7A-F33D-470C-8673-4E68E365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33600"/>
            <a:ext cx="13525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14288">
            <a:solidFill>
              <a:srgbClr val="D5A62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38E4F40-7AD4-41C9-8164-9C77583B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33625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IMMUTABLE</a:t>
            </a:r>
          </a:p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EVIDENCE FILES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8D8814-3282-4FA9-97F7-AE6E8CD1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67050"/>
            <a:ext cx="171450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E8F7"/>
          </a:solidFill>
          <a:ln xmlns:a="http://schemas.openxmlformats.org/drawingml/2006/main" w="14288">
            <a:solidFill>
              <a:srgbClr val="356AC3"/>
            </a:solidFill>
            <a:prstDash val="solid"/>
          </a:ln>
        </p:spPr>
      </p:sp>
      <p:cxnSp>
        <p:nvCxnSpPr>
          <p:cNvPr id="146" name=""/>
          <p:cNvCxnSpPr/>
          <p:nvPr/>
        </p:nvCxnSpPr>
        <p:spPr>
          <a:xfrm xmlns:a="http://schemas.openxmlformats.org/drawingml/2006/main">
            <a:off x="8572500" y="3257550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56AC3"/>
            </a:solidFill>
            <a:prstDash val="solid"/>
          </a:ln>
        </p:spPr>
      </p:cxnSp>
      <p:cxnSp>
        <p:nvCxnSpPr>
          <p:cNvPr id="147" name=""/>
          <p:cNvCxnSpPr/>
          <p:nvPr/>
        </p:nvCxnSpPr>
        <p:spPr>
          <a:xfrm xmlns:a="http://schemas.openxmlformats.org/drawingml/2006/main">
            <a:off x="8572500" y="3352800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356AC3"/>
            </a:solidFill>
            <a:prstDash val="solid"/>
          </a:ln>
        </p:spPr>
      </p:cxn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6BEAA64-DB7B-428D-8449-544F8E59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480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LAKEBASE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21F42EF-C5B9-4C99-8D87-CE616401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57600"/>
            <a:ext cx="13716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Operational Postgres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5D90881-5CCC-41AF-8C0C-A4488907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14800"/>
            <a:ext cx="11125200" cy="11811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555650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2CBF0CB-F220-4D91-B73E-5F2819C3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TRIGGERED ANALYTICS LOOP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DD91890-4734-4504-BA13-405CB25A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00550"/>
            <a:ext cx="13906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59D80CA-74A6-4E35-9229-F3204439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95800"/>
            <a:ext cx="1200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LAKEBASE</a:t>
            </a:r>
          </a:p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JDBC SNAPSHOT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BA9E4F0-C4A0-4703-95E6-6C61C26F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43400"/>
            <a:ext cx="95250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4A4B47"/>
            </a:solidFill>
            <a:prstDash val="solid"/>
          </a:ln>
        </p:spPr>
      </p:sp>
      <p:pic>
        <p:nvPicPr>
          <p:cNvPr id="1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fd6ff1b12f4429">
            <a:extLst>
              <a:ext uri="{96DAC541-7B7A-43D3-8B79-37D633B846F1}">
                <asvg:svgBlip xmlns:asvg="http://schemas.microsoft.com/office/drawing/2016/SVG/main" r:embed="R714961b7531f4f2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381500" y="4419600"/>
            <a:ext cx="6096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B77380D-5A05-404A-A4B6-62B326F1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724400"/>
            <a:ext cx="857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Databricks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F3FE521-C0F0-4B60-AE77-6DCE83BE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400550"/>
            <a:ext cx="16192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6AF4F97-D766-4197-B52D-3A1F6040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767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DELTA / LAKEFLOW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09D0105-261A-45CB-9821-AD946D5A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95825"/>
            <a:ext cx="4381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048197F-F151-418A-B1BF-49F5B0EA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7053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5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BRONZE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F047DA9-4F0A-4613-8E66-06C983A9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695825"/>
            <a:ext cx="4381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E8E0"/>
          </a:solidFill>
          <a:ln xmlns:a="http://schemas.openxmlformats.org/drawingml/2006/main" w="9525">
            <a:solidFill>
              <a:srgbClr val="6E665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959E88D-BE62-4BAB-BC34-A49595D8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5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SILVER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BC7B021-F6CB-4D08-93BF-A0EC463F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95825"/>
            <a:ext cx="4381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2B27675-BE87-4E14-B1DA-8F661CC1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053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5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GOLD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10F3E6B-6AFE-404C-A219-6A6A063C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400550"/>
            <a:ext cx="152400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CECDF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DFBCD4E-8BAD-4140-B500-30092AEF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767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FORECAST NOTEBOOK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0BFACA-14BE-4C80-B6CF-F6FEF39D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05350"/>
            <a:ext cx="1333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F7A57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2F7A57"/>
                </a:solidFill>
                <a:latin typeface="Arial"/>
                <a:ea typeface="Arial"/>
                <a:cs typeface="Arial"/>
              </a:rPr>
              <a:t>publish forecasts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5A0A899-B00F-400A-A460-49B1A7FE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00550"/>
            <a:ext cx="12001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DE8F7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2E83704-27F8-4F0E-81C9-98B412A4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95800"/>
            <a:ext cx="1009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BACK TO</a:t>
            </a:r>
          </a:p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LAKEBASE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909EBE2-5E9C-4825-A738-A9E71A37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767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Outputs return through Node API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6F116EF-3594-4DA8-BF94-F013B58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05450"/>
            <a:ext cx="11125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51614"/>
          </a:solidFill>
          <a:ln xmlns:a="http://schemas.openxmlformats.org/drawingml/2006/main" w="9525">
            <a:solidFill>
              <a:srgbClr val="4A4B47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1A2BFE4-4DEA-4CF2-B3A9-CD460843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29275"/>
            <a:ext cx="2209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BUILD WORKFLOW — NON-RUNTIME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F76ACBA-AF51-4555-8A6D-3E835DE5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72125"/>
            <a:ext cx="85725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4A4B47"/>
            </a:solidFill>
            <a:prstDash val="solid"/>
          </a:ln>
        </p:spPr>
      </p:sp>
      <p:pic>
        <p:nvPicPr>
          <p:cNvPr id="1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864be2f83244da">
            <a:extLst>
              <a:ext uri="{96DAC541-7B7A-43D3-8B79-37D633B846F1}">
                <asvg:svgBlip xmlns:asvg="http://schemas.microsoft.com/office/drawing/2016/SVG/main" r:embed="R26323a2e1799457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24200" y="5648325"/>
            <a:ext cx="514350" cy="266700"/>
          </a:xfrm>
          <a:prstGeom xmlns:a="http://schemas.openxmlformats.org/drawingml/2006/main" prst="rect">
            <a:avLst/>
          </a:prstGeom>
        </p:spPr>
      </p:pic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D866471-92CD-4C5A-844A-CF359685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953125"/>
            <a:ext cx="762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cxnSp>
        <p:nvCxnSpPr>
          <p:cNvPr id="176" name=""/>
          <p:cNvCxnSpPr/>
          <p:nvPr/>
        </p:nvCxnSpPr>
        <p:spPr>
          <a:xfrm xmlns:a="http://schemas.openxmlformats.org/drawingml/2006/main">
            <a:off x="3886200" y="5848350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777872"/>
            </a:solidFill>
            <a:prstDash val="dash"/>
          </a:ln>
        </p:spPr>
      </p:cxn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4293C3B-7976-459A-8FC2-A65D8204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676900"/>
            <a:ext cx="12001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55565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EF2BABB-E111-4057-99FD-CBFCA5DA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6769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cxnSp>
        <p:nvCxnSpPr>
          <p:cNvPr id="179" name=""/>
          <p:cNvCxnSpPr/>
          <p:nvPr/>
        </p:nvCxnSpPr>
        <p:spPr>
          <a:xfrm xmlns:a="http://schemas.openxmlformats.org/drawingml/2006/main">
            <a:off x="5943600" y="5838825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777872"/>
            </a:solidFill>
            <a:prstDash val="dash"/>
          </a:ln>
        </p:spPr>
      </p:cxn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37DEAF6-3380-4C23-A098-94298BF2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676900"/>
            <a:ext cx="12001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555650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435FB60-F4B1-4F1B-B729-8EB7872B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6769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cxnSp>
        <p:nvCxnSpPr>
          <p:cNvPr id="182" name=""/>
          <p:cNvCxnSpPr/>
          <p:nvPr/>
        </p:nvCxnSpPr>
        <p:spPr>
          <a:xfrm xmlns:a="http://schemas.openxmlformats.org/drawingml/2006/main">
            <a:off x="7372350" y="5838825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777872"/>
            </a:solidFill>
            <a:prstDash val="dash"/>
          </a:ln>
        </p:spPr>
      </p:cxn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AEDAAA7-0DF7-4118-B621-2572E380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676900"/>
            <a:ext cx="1200150" cy="32385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A2B28"/>
          </a:solidFill>
          <a:ln xmlns:a="http://schemas.openxmlformats.org/drawingml/2006/main" w="9525">
            <a:solidFill>
              <a:srgbClr val="55565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C015089-C679-4B59-BB85-B083E1A5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6769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DEPLOYMENT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068F851-DAD9-43DB-81C4-0A8A680E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74357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A6A7A1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6A7A1"/>
                </a:solidFill>
                <a:latin typeface="Arial"/>
                <a:ea typeface="Arial"/>
                <a:cs typeface="Arial"/>
              </a:rPr>
              <a:t>No live data path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426F45A-F90B-4016-960F-F5143ED7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8B8C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B8C8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497031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BDA56F4-074C-4258-A998-F797366F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MARKET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E372B-B3E0-479E-B9E9-844439F3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096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A focused Malaysian market, with room to scale.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07D5F-4C57-4FAD-880A-3EBFB323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TAM / SAM / SOM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ECE9F-7398-434F-BC54-F83D846E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952750" cy="2952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DAD5"/>
          </a:solidFill>
          <a:ln xmlns:a="http://schemas.openxmlformats.org/drawingml/2006/main" w="19050">
            <a:solidFill>
              <a:srgbClr val="A8241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84E49-517A-40CA-9501-C2D3BC94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90800"/>
            <a:ext cx="1962150" cy="1962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CDF"/>
          </a:solidFill>
          <a:ln xmlns:a="http://schemas.openxmlformats.org/drawingml/2006/main" w="19050">
            <a:solidFill>
              <a:srgbClr val="2F7A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3A9CE-E932-417E-8282-7AE1FE74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05150"/>
            <a:ext cx="933450" cy="933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E9BE"/>
          </a:solidFill>
          <a:ln xmlns:a="http://schemas.openxmlformats.org/drawingml/2006/main" w="19050">
            <a:solidFill>
              <a:srgbClr val="D5A62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C27C5-AF64-4021-83F2-4C5A3A54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38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MALAYSIA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188DB-F1EC-4360-A88F-8E16AD52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7432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2F7A57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2F7A57"/>
                </a:solidFill>
                <a:latin typeface="Arial"/>
                <a:ea typeface="Arial"/>
                <a:cs typeface="Arial"/>
              </a:rPr>
              <a:t>3 STATES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C10E22-3FDE-4FE4-8630-D85305AC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30517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3-YEAR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D090B-37AD-4E4B-B2FE-6C476020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133600"/>
            <a:ext cx="1352550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14288">
            <a:solidFill>
              <a:srgbClr val="A8241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78914-3F00-4789-89A0-AF77EAB6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288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767K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83FFA-D330-48D9-9B25-002223A7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9080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TAM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100BD4-B74F-4ED4-B8EA-DE8BC70F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1352550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DCECDF"/>
          </a:solidFill>
          <a:ln xmlns:a="http://schemas.openxmlformats.org/drawingml/2006/main" w="14288">
            <a:solidFill>
              <a:srgbClr val="2F7A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BD33E-DC4D-4ED6-8FF5-B332BEBC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004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7A5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F7A57"/>
                </a:solidFill>
                <a:latin typeface="Arial"/>
                <a:ea typeface="Arial"/>
                <a:cs typeface="Arial"/>
              </a:rPr>
              <a:t>~377K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9003A2-1FE4-4CD6-80D0-A35938E5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562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1A3486-9F3B-416C-B862-10DC72C6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76700"/>
            <a:ext cx="1352550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14288">
            <a:solidFill>
              <a:srgbClr val="D5A62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E39F5C-18D6-4CC2-BF23-932F7DA8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719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3.8K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F4067-082A-4143-BEE1-73193D4C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53390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SOM</a:t>
            </a:r>
          </a:p>
        </p:txBody>
      </p:sp>
      <p:cxnSp>
        <p:nvCxnSpPr>
          <p:cNvPr id="80" name=""/>
          <p:cNvCxnSpPr/>
          <p:nvPr/>
        </p:nvCxnSpPr>
        <p:spPr>
          <a:xfrm xmlns:a="http://schemas.openxmlformats.org/drawingml/2006/main">
            <a:off x="3162300" y="2381250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A8241C"/>
            </a:solidFill>
            <a:prstDash val="solid"/>
          </a:ln>
        </p:spPr>
      </p:cxnSp>
      <p:cxnSp>
        <p:nvCxnSpPr>
          <p:cNvPr id="81" name=""/>
          <p:cNvCxnSpPr/>
          <p:nvPr/>
        </p:nvCxnSpPr>
        <p:spPr>
          <a:xfrm xmlns:a="http://schemas.openxmlformats.org/drawingml/2006/main">
            <a:off x="2733675" y="3467100"/>
            <a:ext cx="1019175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2F7A57"/>
            </a:solidFill>
            <a:prstDash val="solid"/>
          </a:ln>
        </p:spPr>
      </p:cxnSp>
      <p:cxnSp>
        <p:nvCxnSpPr>
          <p:cNvPr id="82" name=""/>
          <p:cNvCxnSpPr/>
          <p:nvPr/>
        </p:nvCxnSpPr>
        <p:spPr>
          <a:xfrm xmlns:a="http://schemas.openxmlformats.org/drawingml/2006/main">
            <a:off x="2533650" y="4410075"/>
            <a:ext cx="121920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D5A62E"/>
            </a:solidFill>
            <a:prstDash val="soli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6C0EF9-BC15-4A4E-B47F-5DFFE34C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10200"/>
            <a:ext cx="3467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E665F"/>
                </a:solidFill>
                <a:latin typeface="Arial"/>
                <a:ea typeface="Arial"/>
                <a:cs typeface="Arial"/>
              </a:rPr>
              <a:t>SAM is a planning estimate using establishment concentration as a proxy.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8E8D5F-57A4-4DE6-B58D-A9092554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533525"/>
            <a:ext cx="5105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PREDICTED SME SOFTWARE GROWTH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B86F78-167B-4F5E-8091-5E1176F7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14525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8.2%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C9BF58-9E2A-4FA2-9ECE-23B52ED1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621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CAGR through 2030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7A8320-A8E1-40A0-904F-066125EF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4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Market index (2025 = 100)</a:t>
            </a:r>
          </a:p>
        </p:txBody>
      </p:sp>
      <p:cxnSp>
        <p:nvCxnSpPr>
          <p:cNvPr id="88" name=""/>
          <p:cNvCxnSpPr/>
          <p:nvPr/>
        </p:nvCxnSpPr>
        <p:spPr>
          <a:xfrm xmlns:a="http://schemas.openxmlformats.org/drawingml/2006/main">
            <a:off x="5619750" y="5238750"/>
            <a:ext cx="556260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C9C0B5"/>
            </a:solidFill>
            <a:prstDash val="solid"/>
          </a:ln>
        </p:spPr>
      </p:cxnSp>
      <p:cxnSp>
        <p:nvCxnSpPr>
          <p:cNvPr id="89" name=""/>
          <p:cNvCxnSpPr/>
          <p:nvPr/>
        </p:nvCxnSpPr>
        <p:spPr>
          <a:xfrm xmlns:a="http://schemas.openxmlformats.org/drawingml/2006/main">
            <a:off x="5619750" y="3286125"/>
            <a:ext cx="0" cy="1952625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C9C0B5"/>
            </a:solidFill>
            <a:prstDash val="solid"/>
          </a:ln>
        </p:spPr>
      </p:cxnSp>
      <p:cxnSp>
        <p:nvCxnSpPr>
          <p:cNvPr id="90" name=""/>
          <p:cNvCxnSpPr/>
          <p:nvPr/>
        </p:nvCxnSpPr>
        <p:spPr>
          <a:xfrm xmlns:a="http://schemas.openxmlformats.org/drawingml/2006/main">
            <a:off x="5619750" y="3930491"/>
            <a:ext cx="5562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5DED3"/>
            </a:solidFill>
            <a:prstDash val="dash"/>
          </a:ln>
        </p:spPr>
      </p:cxnSp>
      <p:cxnSp>
        <p:nvCxnSpPr>
          <p:cNvPr id="91" name=""/>
          <p:cNvCxnSpPr/>
          <p:nvPr/>
        </p:nvCxnSpPr>
        <p:spPr>
          <a:xfrm xmlns:a="http://schemas.openxmlformats.org/drawingml/2006/main">
            <a:off x="5619750" y="4574858"/>
            <a:ext cx="55626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5DED3"/>
            </a:solidFill>
            <a:prstDash val="dash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495F01-2684-443C-A289-B2232D05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99456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7ED938-9E47-4323-AA80-274DD98C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737389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DF26D9-33F1-4D09-9DDA-3A2FB7DF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625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CA076F-DC7B-45D0-84B9-0E4070B0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5595" y="471054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BCD7C8-9EC2-4013-BDE7-34BEAE03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670" y="445337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108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3551B7-4EB9-4252-811E-F033B545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625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77D7DC-5B26-4A63-B96E-3630F0AD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8115" y="4391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A40B8E-6FB7-4D94-ADF1-F609E83E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133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117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8A657C-2E0F-43A5-890F-350D5640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040" y="53625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2027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D9E0C00-70A4-4DB8-887F-48F6831C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635" y="407150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3F8FD40-DEA3-4B19-9DED-AF87D74E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8710" y="381433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126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A9223A-37F9-4C5F-B2FA-352A1673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1560" y="53625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2028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B48908-E9B8-4BFB-A06B-DC32092D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155" y="368098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14069B-4230-4522-9334-EBB07854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230" y="342380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137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D0EC87-251D-49CE-8DA9-D96BCDDF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3625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2029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8A3F44-DAB1-471C-B5C7-EF7AA502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329045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232FE24-9FF1-4562-AE6D-ED99D6DE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3328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148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FBCD781-8127-487C-9D10-24E0BBDD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5362575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2030</a:t>
            </a:r>
          </a:p>
        </p:txBody>
      </p:sp>
      <p:cxnSp>
        <p:nvCxnSpPr>
          <p:cNvPr id="110" name=""/>
          <p:cNvCxnSpPr/>
          <p:nvPr/>
        </p:nvCxnSpPr>
        <p:spPr>
          <a:xfrm xmlns:a="http://schemas.openxmlformats.org/drawingml/2006/main">
            <a:off x="5619750" y="5061239"/>
            <a:ext cx="111252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cxnSp>
        <p:nvCxnSpPr>
          <p:cNvPr id="111" name=""/>
          <p:cNvCxnSpPr/>
          <p:nvPr/>
        </p:nvCxnSpPr>
        <p:spPr>
          <a:xfrm xmlns:a="http://schemas.openxmlformats.org/drawingml/2006/main">
            <a:off x="6732270" y="4777220"/>
            <a:ext cx="0" cy="284018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cxnSp>
        <p:nvCxnSpPr>
          <p:cNvPr id="112" name=""/>
          <p:cNvCxnSpPr/>
          <p:nvPr/>
        </p:nvCxnSpPr>
        <p:spPr>
          <a:xfrm xmlns:a="http://schemas.openxmlformats.org/drawingml/2006/main">
            <a:off x="6732270" y="4777220"/>
            <a:ext cx="111252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cxnSp>
        <p:nvCxnSpPr>
          <p:cNvPr id="113" name=""/>
          <p:cNvCxnSpPr/>
          <p:nvPr/>
        </p:nvCxnSpPr>
        <p:spPr>
          <a:xfrm xmlns:a="http://schemas.openxmlformats.org/drawingml/2006/main">
            <a:off x="7844790" y="4457700"/>
            <a:ext cx="0" cy="31952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cxnSp>
        <p:nvCxnSpPr>
          <p:cNvPr id="114" name=""/>
          <p:cNvCxnSpPr/>
          <p:nvPr/>
        </p:nvCxnSpPr>
        <p:spPr>
          <a:xfrm xmlns:a="http://schemas.openxmlformats.org/drawingml/2006/main">
            <a:off x="7844790" y="4457700"/>
            <a:ext cx="111252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cxnSp>
        <p:nvCxnSpPr>
          <p:cNvPr id="115" name=""/>
          <p:cNvCxnSpPr/>
          <p:nvPr/>
        </p:nvCxnSpPr>
        <p:spPr>
          <a:xfrm xmlns:a="http://schemas.openxmlformats.org/drawingml/2006/main">
            <a:off x="8957310" y="4138180"/>
            <a:ext cx="0" cy="31952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cxnSp>
        <p:nvCxnSpPr>
          <p:cNvPr id="116" name=""/>
          <p:cNvCxnSpPr/>
          <p:nvPr/>
        </p:nvCxnSpPr>
        <p:spPr>
          <a:xfrm xmlns:a="http://schemas.openxmlformats.org/drawingml/2006/main">
            <a:off x="8957310" y="4138180"/>
            <a:ext cx="111252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cxnSp>
        <p:nvCxnSpPr>
          <p:cNvPr id="117" name=""/>
          <p:cNvCxnSpPr/>
          <p:nvPr/>
        </p:nvCxnSpPr>
        <p:spPr>
          <a:xfrm xmlns:a="http://schemas.openxmlformats.org/drawingml/2006/main">
            <a:off x="10069830" y="3747655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cxnSp>
        <p:nvCxnSpPr>
          <p:cNvPr id="118" name=""/>
          <p:cNvCxnSpPr/>
          <p:nvPr/>
        </p:nvCxnSpPr>
        <p:spPr>
          <a:xfrm xmlns:a="http://schemas.openxmlformats.org/drawingml/2006/main">
            <a:off x="10069830" y="3747655"/>
            <a:ext cx="111252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cxnSp>
        <p:nvCxnSpPr>
          <p:cNvPr id="119" name=""/>
          <p:cNvCxnSpPr/>
          <p:nvPr/>
        </p:nvCxnSpPr>
        <p:spPr>
          <a:xfrm xmlns:a="http://schemas.openxmlformats.org/drawingml/2006/main">
            <a:off x="11182350" y="3357130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A8241C"/>
            </a:solidFill>
            <a:prstDash val="solid"/>
          </a:ln>
        </p:spPr>
      </p:cxn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7C4601D-217D-4498-9F45-5182FEFD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72200"/>
            <a:ext cx="1057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E665F"/>
                </a:solidFill>
                <a:latin typeface="Arial"/>
                <a:ea typeface="Arial"/>
                <a:cs typeface="Arial"/>
              </a:rPr>
              <a:t>Sources: DOSM Economic Census 2023; APEC / SME Corp Malaysia MSME composition; ResearchAndMarkets SEA SME Software Forecast to 2030.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4A841E-DA05-4E38-8125-5C2F3E84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PasarAI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C179A6D-D4AD-4D2D-A42A-37D3C18F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083710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4ECEB51-C2E9-449E-9089-D827F242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GO-TO-MARKET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24324-D8ED-403A-9EBD-D91C5A9A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98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Start with a concentrated merchant wedge, prove weekly habit, then scale through trusted partners.</a:t>
            </a:r>
          </a:p>
        </p:txBody>
      </p:sp>
      <p:cxnSp>
        <p:nvCxnSpPr>
          <p:cNvPr id="84" name=""/>
          <p:cNvCxnSpPr/>
          <p:nvPr/>
        </p:nvCxnSpPr>
        <p:spPr>
          <a:xfrm xmlns:a="http://schemas.openxmlformats.org/drawingml/2006/main">
            <a:off x="3886200" y="26955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1B17"/>
            </a:solidFill>
            <a:prstDash val="solid"/>
          </a:ln>
        </p:spPr>
      </p:cxnSp>
      <p:cxnSp>
        <p:nvCxnSpPr>
          <p:cNvPr id="85" name=""/>
          <p:cNvCxnSpPr/>
          <p:nvPr/>
        </p:nvCxnSpPr>
        <p:spPr>
          <a:xfrm xmlns:a="http://schemas.openxmlformats.org/drawingml/2006/main">
            <a:off x="7734300" y="26955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1B17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1301D-F365-43D4-B40C-38828E1C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33337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14288">
            <a:solidFill>
              <a:srgbClr val="A8241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1F8EEC-93A4-474D-8CDD-B2197703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43075"/>
            <a:ext cx="476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10EB54-B5EA-46BD-B1A7-7A59CB32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8D582D-CD9B-41E6-9BFD-B3E52216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714500"/>
            <a:ext cx="457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C146C-CB8C-4DCD-84AF-CB95997B7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809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1E1917-3A97-4BEE-BB6F-B1C49786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09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8F4A1E-983C-4CB0-AAC5-AEDBAF42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95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E3D34C-3D77-456E-99AF-B9D398BC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764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BEACHHEAD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6DE68D-4F53-47B0-87C9-2AB45BBE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2914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Ideal first customer: a product-based merchant in a dense Klang Valley cluster.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76C9BB-08AC-42F4-A02B-59609FE1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291465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4652BD-851F-418C-B9CB-DD46F65A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86125"/>
            <a:ext cx="2914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Pasar malam + stalls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41512E-BF15-4F6E-9689-C0CED08B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291465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A3AF6C-BB7F-474B-8554-1EBAC7E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2914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Guided setup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23C27-7C29-422E-B39D-ECF9A8AC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291465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F8E747-BA3B-46D8-9A53-4B8C472D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67125"/>
            <a:ext cx="2914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First verified margin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F74EB4-CF7D-47EE-A6DD-15DA7073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62100"/>
            <a:ext cx="33337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DDE8F7"/>
          </a:solidFill>
          <a:ln xmlns:a="http://schemas.openxmlformats.org/drawingml/2006/main" w="14288">
            <a:solidFill>
              <a:srgbClr val="356AC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457619-CB91-4223-B45E-DF975ABF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743075"/>
            <a:ext cx="476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6F8DBB-DBF2-4352-9EF0-C858AF921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752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8225B2-250F-4750-BBAD-7FFBF3CF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14500"/>
            <a:ext cx="457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47FD6D-71DD-4D77-82CF-70F6E58D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09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915B5E-808D-4241-B791-9F3A4BF1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09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cxnSp>
        <p:nvCxnSpPr>
          <p:cNvPr id="107" name=""/>
          <p:cNvCxnSpPr/>
          <p:nvPr/>
        </p:nvCxnSpPr>
        <p:spPr>
          <a:xfrm xmlns:a="http://schemas.openxmlformats.org/drawingml/2006/main">
            <a:off x="7248525" y="19145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56AC3"/>
            </a:solidFill>
            <a:prstDash val="solid"/>
          </a:ln>
        </p:spPr>
      </p:cxnSp>
      <p:cxnSp>
        <p:nvCxnSpPr>
          <p:cNvPr id="108" name=""/>
          <p:cNvCxnSpPr/>
          <p:nvPr/>
        </p:nvCxnSpPr>
        <p:spPr>
          <a:xfrm xmlns:a="http://schemas.openxmlformats.org/drawingml/2006/main">
            <a:off x="7296150" y="1866900"/>
            <a:ext cx="0" cy="171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6AC3"/>
            </a:solidFill>
            <a:prstDash val="soli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3C32ED-C687-4233-9B31-011BE136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764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DISTRIBUTION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2788E4-6D1F-4D55-AEC8-6D0AC7CD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28900"/>
            <a:ext cx="2914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Turn a weekly margin habit into cohorts delivered by institutions merchants already trust.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95A2B2-7B67-4177-8140-6B86BBC2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76600"/>
            <a:ext cx="291465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2F488F-D3DA-4267-A0F3-133F9F9D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86125"/>
            <a:ext cx="2914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Organisers + councils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54F79B-ED11-4599-8C48-B7C6EB0E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67100"/>
            <a:ext cx="291465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D959DE-9FD0-427D-B51C-0C05DE77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76625"/>
            <a:ext cx="2914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Associations + wholesalers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9A9515-2580-4B24-A135-68FDBAD2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57600"/>
            <a:ext cx="291465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5B8BA6-0DB0-4733-8E87-F00D26B5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67125"/>
            <a:ext cx="2914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Banks + referrals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6DE72D-C1A6-4237-9C7C-B9B538CC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562100"/>
            <a:ext cx="33337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DCECDF"/>
          </a:solidFill>
          <a:ln xmlns:a="http://schemas.openxmlformats.org/drawingml/2006/main" w="14288">
            <a:solidFill>
              <a:srgbClr val="2F7A5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61E7DA-08F9-48FE-8705-89379948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43075"/>
            <a:ext cx="476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86D727-24CA-44AB-B244-546D9AB9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526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35E096-9DF9-4C91-8117-CFE7C5F0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1714500"/>
            <a:ext cx="457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cxnSp>
        <p:nvCxnSpPr>
          <p:cNvPr id="121" name=""/>
          <p:cNvCxnSpPr/>
          <p:nvPr/>
        </p:nvCxnSpPr>
        <p:spPr>
          <a:xfrm xmlns:a="http://schemas.openxmlformats.org/drawingml/2006/main">
            <a:off x="11020425" y="1876425"/>
            <a:ext cx="0" cy="1333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F7A57"/>
            </a:solidFill>
            <a:prstDash val="solid"/>
          </a:ln>
        </p:spPr>
      </p:cxnSp>
      <p:cxnSp>
        <p:nvCxnSpPr>
          <p:cNvPr id="122" name=""/>
          <p:cNvCxnSpPr/>
          <p:nvPr/>
        </p:nvCxnSpPr>
        <p:spPr>
          <a:xfrm xmlns:a="http://schemas.openxmlformats.org/drawingml/2006/main">
            <a:off x="11144250" y="1781175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F7A57"/>
            </a:solidFill>
            <a:prstDash val="solid"/>
          </a:ln>
        </p:spPr>
      </p:cxnSp>
      <p:cxnSp>
        <p:nvCxnSpPr>
          <p:cNvPr id="123" name=""/>
          <p:cNvCxnSpPr/>
          <p:nvPr/>
        </p:nvCxnSpPr>
        <p:spPr>
          <a:xfrm xmlns:a="http://schemas.openxmlformats.org/drawingml/2006/main">
            <a:off x="11268075" y="1685925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F7A57"/>
            </a:solidFill>
            <a:prstDash val="solid"/>
          </a:ln>
        </p:spPr>
      </p:cxn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28203B-AD16-42A9-9D16-E400AD48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76475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EXPANSION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B088CE-EE62-46E2-B7DF-93A25FF3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28900"/>
            <a:ext cx="2914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Reuse the operating habit across sectors, markets, and sponsored partner programmes.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3FC0F4-34EE-49F9-854F-5D23E18C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76600"/>
            <a:ext cx="291465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D293AE-FE9D-461F-AEE6-9640154D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86125"/>
            <a:ext cx="2914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Sector templates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A7F8E4-9446-47D9-9874-4EA652AC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467100"/>
            <a:ext cx="291465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3892E49-9B7C-4457-AC9F-65F75D1D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476625"/>
            <a:ext cx="2914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Merchant referrals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527EC4B-D535-49FC-9735-5E0053DE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57600"/>
            <a:ext cx="2914650" cy="1619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A7DDD8E-98CA-4790-BC2D-2E1E5BFD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67125"/>
            <a:ext cx="2914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Partner cohorts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8629BF-7737-4FBE-AB47-5BFBCCB0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81400"/>
            <a:ext cx="1352550" cy="5334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51B17"/>
          </a:solidFill>
          <a:ln xmlns:a="http://schemas.openxmlformats.org/drawingml/2006/main" w="19050">
            <a:solidFill>
              <a:srgbClr val="D5A62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78F4C93-1AF9-40B6-BF14-C544170B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576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14-DAY MARGIN</a:t>
            </a:r>
          </a:p>
          <a:p xmlns:a="http://schemas.openxmlformats.org/drawingml/2006/main">
            <a:pPr algn="ctr">
              <a:defRPr sz="82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CHALLENGE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C68A375-E898-41F5-8792-FBEBAAEF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143375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setup → first margin → weekly habit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C3FC199-47B5-4479-9883-4C4CD937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91025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OPERATING LOOP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09B9416-6A53-4860-9174-06C7AA22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0125"/>
            <a:ext cx="14287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8241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E98867B-AE61-402E-8844-62F8EB21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0125"/>
            <a:ext cx="1276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1 MARKET</a:t>
            </a:r>
          </a:p>
        </p:txBody>
      </p:sp>
      <p:cxnSp>
        <p:nvCxnSpPr>
          <p:cNvPr id="138" name=""/>
          <p:cNvCxnSpPr/>
          <p:nvPr/>
        </p:nvCxnSpPr>
        <p:spPr>
          <a:xfrm xmlns:a="http://schemas.openxmlformats.org/drawingml/2006/main">
            <a:off x="1981200" y="50577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E665F"/>
            </a:solidFill>
            <a:prstDash val="solid"/>
          </a:ln>
        </p:spPr>
      </p:cxn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8566243-FD1D-4A85-8169-1E6AB297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95825"/>
            <a:ext cx="16002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5A62E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B66047F-911A-452D-A85D-66D7721F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95825"/>
            <a:ext cx="1447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20 MERCHANTS</a:t>
            </a:r>
          </a:p>
        </p:txBody>
      </p:sp>
      <p:cxnSp>
        <p:nvCxnSpPr>
          <p:cNvPr id="141" name=""/>
          <p:cNvCxnSpPr/>
          <p:nvPr/>
        </p:nvCxnSpPr>
        <p:spPr>
          <a:xfrm xmlns:a="http://schemas.openxmlformats.org/drawingml/2006/main">
            <a:off x="3810000" y="50006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E665F"/>
            </a:solidFill>
            <a:prstDash val="solid"/>
          </a:ln>
        </p:spPr>
      </p:cxn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2B9DEFE-C605-4F4E-8397-16913B65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81525"/>
            <a:ext cx="1600200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F7A5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3F2D422-146C-4874-8D7A-F63064AA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581525"/>
            <a:ext cx="1447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WEEKLY HABIT</a:t>
            </a:r>
          </a:p>
        </p:txBody>
      </p:sp>
      <p:cxnSp>
        <p:nvCxnSpPr>
          <p:cNvPr id="144" name=""/>
          <p:cNvCxnSpPr/>
          <p:nvPr/>
        </p:nvCxnSpPr>
        <p:spPr>
          <a:xfrm xmlns:a="http://schemas.openxmlformats.org/drawingml/2006/main">
            <a:off x="5638800" y="49434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E665F"/>
            </a:solidFill>
            <a:prstDash val="solid"/>
          </a:ln>
        </p:spPr>
      </p:cxn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39401B-3488-4075-AFA4-A46507BC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467225"/>
            <a:ext cx="1600200" cy="8382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56AC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01BF206-8ED9-4BE1-B0B6-4338023B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467225"/>
            <a:ext cx="1447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REFERRALS</a:t>
            </a:r>
          </a:p>
        </p:txBody>
      </p:sp>
      <p:cxnSp>
        <p:nvCxnSpPr>
          <p:cNvPr id="147" name=""/>
          <p:cNvCxnSpPr/>
          <p:nvPr/>
        </p:nvCxnSpPr>
        <p:spPr>
          <a:xfrm xmlns:a="http://schemas.openxmlformats.org/drawingml/2006/main">
            <a:off x="7467600" y="488632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E665F"/>
            </a:solidFill>
            <a:prstDash val="solid"/>
          </a:ln>
        </p:spPr>
      </p:cxn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92C2501-A106-466F-B03E-45B17636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352925"/>
            <a:ext cx="2000250" cy="952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251B17"/>
          </a:solidFill>
          <a:ln xmlns:a="http://schemas.openxmlformats.org/drawingml/2006/main" w="14288">
            <a:solidFill>
              <a:srgbClr val="251B17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A5D4C95-27F3-4271-9F62-ED99D577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52925"/>
            <a:ext cx="1847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PARTNER COHORTS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A5D1C21-CA81-468C-9C4A-C1B7C039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10490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251B17"/>
          </a:solidFill>
          <a:ln xmlns:a="http://schemas.openxmlformats.org/drawingml/2006/main" w="9525">
            <a:solidFill>
              <a:srgbClr val="251B17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0F04CA8-8AD1-449C-8807-A36430EE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43575"/>
            <a:ext cx="7429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950B8B0-7B5F-477F-9546-DAA966E6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TARGETS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FE7E688-2A9E-4407-AEBA-A39D0475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695950"/>
            <a:ext cx="2190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ACTIVATION RATE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3AB58E3-D391-4BBD-BDD2-E48296C5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88645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setup → first verified margin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BFB2CCA-9043-4818-ACF4-03BDFE00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695950"/>
            <a:ext cx="2190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WEEKLY RETAINED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0E7F07D-30A3-4E85-A784-8A3C42E9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88645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merchants returning each week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A4AFA0B-2F1E-4593-94A2-D87DA637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5950"/>
            <a:ext cx="2190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VERIFIED ENTRIES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A5C41D7-B2AA-4A39-97AD-BD9FD99C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88645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 merchant per week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CED9715-87A2-4815-99A8-99EF46D8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695950"/>
            <a:ext cx="2190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REFERRAL RATE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478743F-DC3C-4AC5-B8D5-7FDBA1C7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88645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merchants from trust loops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0E9F215-F487-4A77-9788-9043EF9D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PasarAI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CFD56DA-04DF-43C3-BDDF-5A58DADC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754193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CEF1568-8BD8-4F81-AF02-5DBAF732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OPTIONAL SLIDE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95C0D1-D6F8-4523-8DAA-7C492338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906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A simple model merchants can understand.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ADD15-07F0-41FA-8D3D-9CF6A2E0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3333750" cy="36385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CE8E0"/>
          </a:solidFill>
          <a:ln xmlns:a="http://schemas.openxmlformats.org/drawingml/2006/main" w="14288">
            <a:solidFill>
              <a:srgbClr val="6E665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F70E50-8C1E-4827-BB87-9F9337FF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57375"/>
            <a:ext cx="11049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665F"/>
          </a:solidFill>
          <a:ln xmlns:a="http://schemas.openxmlformats.org/drawingml/2006/main" w="9525">
            <a:solidFill>
              <a:srgbClr val="6E665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4525D-AA7D-4643-B408-6A9CEC19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FREE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E3284-C86D-4FA6-9007-37E15442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RM0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C9DFB-E5EC-49E8-A986-7280CDAC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860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B49F0-47D5-4D49-BB2C-D18912ED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665F"/>
          </a:solidFill>
          <a:ln xmlns:a="http://schemas.openxmlformats.org/drawingml/2006/main" w="9525">
            <a:solidFill>
              <a:srgbClr val="6E66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8844BF-1C01-4E2E-BB06-959461A4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455AA2-6062-4A78-A4A1-B06E128B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242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Manual capture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2A9192-BA98-4F23-B34E-5BC47D81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86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665F"/>
          </a:solidFill>
          <a:ln xmlns:a="http://schemas.openxmlformats.org/drawingml/2006/main" w="9525">
            <a:solidFill>
              <a:srgbClr val="6E665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5CD75-6411-42AD-BB85-2228ACB4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862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F19B3F-E240-4AB9-8F0E-57CD167F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576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Daily gross margin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049C3F-9F00-4A6B-9D2A-EAF7DC49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665F"/>
          </a:solidFill>
          <a:ln xmlns:a="http://schemas.openxmlformats.org/drawingml/2006/main" w="9525">
            <a:solidFill>
              <a:srgbClr val="6E66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A6BF4B-5EE4-4C60-8582-1574507A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BE3D62-CE09-4937-B6E7-DD83905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910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7-day history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4A367B-D0B0-4DC5-9736-37896970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3333750" cy="36385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23813">
            <a:solidFill>
              <a:srgbClr val="A8241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8C81F4-3C5F-4465-B3DC-A024613C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857375"/>
            <a:ext cx="11049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C16B2D-6A49-44FB-A291-466334C3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866900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EE7471-F700-41E6-B59A-FD53035F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0030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RM29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C13A95-704A-4C12-9931-EA7C6959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6860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/ month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85F571-AB77-46DD-B3CD-732433DC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52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958858-EA68-4DBA-8B50-52D56EB1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528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254FA7-24ED-43F8-A1FA-3CEC1FA5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3242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Voice + photo capture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A53088-95FB-4DB8-B8B6-E34DC122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86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B2597F-C456-4635-9DCF-E914BB41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862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308657-0764-4A30-921F-5CA5B11A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8576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Scenarios + trends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F2E2C7-7BFC-4C6B-A545-F30A5344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419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FC4C83-CFCA-4270-83AC-100A305E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4196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AF922B-00B9-4DF6-BC52-E3895A9D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910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Forecasts + exports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F7A794-458D-46BB-ABC6-2558EB0F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3333750" cy="36385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DCECDF"/>
          </a:solidFill>
          <a:ln xmlns:a="http://schemas.openxmlformats.org/drawingml/2006/main" w="14288">
            <a:solidFill>
              <a:srgbClr val="2F7A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307496-1055-4325-B3F4-8E96C48D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57375"/>
            <a:ext cx="11049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00FBBF-9075-4DB9-BD3A-08C1E981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66900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25979B-11EE-4D7F-965B-0F97D9AD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CUSTOM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5FF783-8628-415C-A720-E9752870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2686050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DF3C00-77FB-40F2-8ED2-0B12AFB6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B0D1A9-D39F-49A2-A7C5-F0804CF0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F351BC-9995-4953-8E7F-D9A9080A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242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Sponsored cohorts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653779-4806-426C-9C09-80A05A97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86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05DA4F-A994-4575-8EFD-975CB293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862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A2DE92-EBB0-4A14-8A1F-AB2B98A2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576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Programme reporting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E7F99E-6BCC-4D86-8CF1-AED97C79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9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2D433D-7527-46C6-9B38-D9D80726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9600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81C248-FCF4-4CE5-951B-82CD6CE8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91025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Co-branded onboarding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9C4938D-8E9A-4656-9B41-246AA4CD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43550"/>
            <a:ext cx="2000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1B17"/>
          </a:solidFill>
          <a:ln xmlns:a="http://schemas.openxmlformats.org/drawingml/2006/main" w="9525">
            <a:solidFill>
              <a:srgbClr val="251B1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034500B-849F-4A11-BF97-FD00B085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5307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TRANSACTION FEE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4F8E2C0-EFCD-47A8-8E5F-83018667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5543550"/>
            <a:ext cx="23241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1B17"/>
          </a:solidFill>
          <a:ln xmlns:a="http://schemas.openxmlformats.org/drawingml/2006/main" w="9525">
            <a:solidFill>
              <a:srgbClr val="251B1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F538706-9E67-4749-AB57-B08244C0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55530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SALE OF MERCHANT 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E089EAC-C5EA-4CD0-AAEB-2992447F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572125"/>
            <a:ext cx="609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Later: opt-in supplier, financing, and insurance referrals.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AD61A50-1E21-45FD-B9BC-0BED0EC0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531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6E665F"/>
                </a:solidFill>
                <a:latin typeface="Arial"/>
                <a:ea typeface="Arial"/>
                <a:cs typeface="Arial"/>
              </a:rPr>
              <a:t>Pricing benchmark: Bukku Seed RM35/month; StoreHub Starter from RM122/month.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3926D05-7159-4E0D-981B-5684340E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PasarAI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781525A-170A-4D59-B13B-76139047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403744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535692-79E7-41DC-91A6-BEF66533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APPENDIX Q&amp;A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4FB8FB-0846-42D4-8A54-F244B19E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76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73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How is this different from Touch 'n Go or financial calculators?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9ADC66-1619-4AC2-8E44-E76D27CA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19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They track transactions. PasarAI explains margin.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FB632-9F50-47E1-88DB-8FA5C390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5124450" cy="331470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ECE8E0"/>
          </a:solidFill>
          <a:ln xmlns:a="http://schemas.openxmlformats.org/drawingml/2006/main" w="14288">
            <a:solidFill>
              <a:srgbClr val="6E665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35CE9-2BF6-4ECD-8E10-0D059E57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71725"/>
            <a:ext cx="20955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E665F"/>
          </a:solidFill>
          <a:ln xmlns:a="http://schemas.openxmlformats.org/drawingml/2006/main" w="9525">
            <a:solidFill>
              <a:srgbClr val="6E66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0D445-DA1B-4D0B-A98F-89C11D81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209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PAYMENT / FINANCE APPS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F3977-B16B-47F5-8AF6-BDFBCB38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"What came in?"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0B1522-D40F-40F1-85AB-3379E0ED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5D323-AB3B-494F-A9BC-B6580A8E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766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Transaction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C553F4-CB02-48CE-B816-6AD67B09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24325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0250E7-8BB8-4618-8C7B-16CA6A0C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8622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Spend summaries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A3BAFE-F62D-424D-A8D3-50B6F2D1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BAD9BA-5129-474F-B4CE-4DD50217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Static calculators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A3D8ED-2F3A-49E6-BBAF-61789871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43475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DF1592-DDAA-482B-BCC9-B6E909CF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0537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Usually tied to app or payment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205E87-F43E-49A6-B768-20B87AFA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52650"/>
            <a:ext cx="5676900" cy="331470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19050">
            <a:solidFill>
              <a:srgbClr val="A8241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BA8C24-369C-4FA1-AB03-15B3412D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71725"/>
            <a:ext cx="11049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E9A62B-2EE0-4933-9E3B-FDD98207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81250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PASARAI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855F50-FEC6-4734-BF6A-0F635363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7180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"What did I actually make?"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2EC7C6-5A2A-400E-8319-B38C2BE8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F0685C-8CB6-4267-B547-ED92A797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766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Cash + digital + voice + receipts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67EAD8-302C-42B0-BE0F-8BD2A375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24325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FF439A-3CAD-4EEF-9C50-BD91D538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86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Evidence-backed cost of sales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5D683D-887A-4F9D-B396-D7D57528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33900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D29E2D-1409-4A1E-A24B-AF65A82C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958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Verified margin and scenarios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D449A2-90EA-4380-988B-E69150C4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43475"/>
            <a:ext cx="30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0D60E9-890B-4ABA-A5E1-635CF43B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053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Payment-agnostic operating layer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CAE853-212D-4009-9AA2-8DE0977C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91200"/>
            <a:ext cx="1752600" cy="2952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1B17"/>
          </a:solidFill>
          <a:ln xmlns:a="http://schemas.openxmlformats.org/drawingml/2006/main" w="9525">
            <a:solidFill>
              <a:srgbClr val="251B1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88B626-C133-4262-AD7D-77F6B945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00725"/>
            <a:ext cx="1752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ANOTHER WALLET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22D49C-A72F-42E3-A471-92732D96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781675"/>
            <a:ext cx="8429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A daily operating decision layer that can sit above any payment method.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6BD8A4-8E00-456C-B533-EE543412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PasarAI | Appendix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998C22-36B7-493F-B8AA-C18646A5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310213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C03387-286B-4752-883E-6E42EFF0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24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8241C"/>
                </a:solidFill>
                <a:latin typeface="Arial"/>
                <a:ea typeface="Arial"/>
                <a:cs typeface="Arial"/>
              </a:rPr>
              <a:t>APPENDIX Q&amp;A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DC3EF-1103-4F01-A8DB-AD460AC3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The judge questions we are ready for.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590E59-4441-49EC-8E83-8B602FCE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52197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DDE8F7"/>
          </a:solidFill>
          <a:ln xmlns:a="http://schemas.openxmlformats.org/drawingml/2006/main" w="14288">
            <a:solidFill>
              <a:srgbClr val="356A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EEFFF-066F-4C5F-8315-39AF8F91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66900"/>
            <a:ext cx="495300" cy="2762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10CA5C-A53F-4997-BCC7-1F2EB950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76425"/>
            <a:ext cx="495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F18359-FDF4-4B1F-AF9E-1E1868C5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478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How accurate is the AI?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F8C6E3-8A23-482D-80FE-2F74F886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AI interprets. A deterministic engine calculates. Ambiguity requires confirmation.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6E60E-5DC5-4B9E-922C-A59FB235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52197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5E9BE"/>
          </a:solidFill>
          <a:ln xmlns:a="http://schemas.openxmlformats.org/drawingml/2006/main" w="14288">
            <a:solidFill>
              <a:srgbClr val="D5A62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837A7C-2AC3-4C67-A289-3A61CA9D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66900"/>
            <a:ext cx="495300" cy="2762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A62E"/>
          </a:solidFill>
          <a:ln xmlns:a="http://schemas.openxmlformats.org/drawingml/2006/main" w="9525">
            <a:solidFill>
              <a:srgbClr val="D5A62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B133F5-837B-471F-8FDE-D596CD3D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76425"/>
            <a:ext cx="495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FA774-1551-4ABD-B7D8-46C053C8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478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Is gross margin the same as profit?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ADCDDD-A839-4BAB-84CF-56D62B66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003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No. PasarAI labels gross margin clearly; overheads stay excluded unless configured.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23A28-A2E6-4277-8638-D0C5CE4C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29025"/>
            <a:ext cx="52197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DCECDF"/>
          </a:solidFill>
          <a:ln xmlns:a="http://schemas.openxmlformats.org/drawingml/2006/main" w="14288">
            <a:solidFill>
              <a:srgbClr val="2F7A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09B048-AF5E-4425-9F77-D6F26DFA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9525"/>
            <a:ext cx="495300" cy="2762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A57"/>
          </a:solidFill>
          <a:ln xmlns:a="http://schemas.openxmlformats.org/drawingml/2006/main" w="9525">
            <a:solidFill>
              <a:srgbClr val="2F7A5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EE44B-0C0E-4A0B-BECE-ABBC001C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29050"/>
            <a:ext cx="495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0BF47D-7688-4A88-86AC-5DE94A74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004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Can merchants trust the forecast?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E8646D-2F42-4076-90E3-46220A66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292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Forecasts appear only when data sufficiency and accuracy gates pass.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6CA094-5969-470D-967F-61AB506B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29025"/>
            <a:ext cx="52197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6DAD5"/>
          </a:solidFill>
          <a:ln xmlns:a="http://schemas.openxmlformats.org/drawingml/2006/main" w="14288">
            <a:solidFill>
              <a:srgbClr val="A8241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6F1BD9-169D-442D-B29E-DCEA205F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19525"/>
            <a:ext cx="495300" cy="2762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8241C"/>
          </a:solidFill>
          <a:ln xmlns:a="http://schemas.openxmlformats.org/drawingml/2006/main" w="9525">
            <a:solidFill>
              <a:srgbClr val="A8241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29E1BE-4039-48A4-BEA3-8028DE13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B3D381-49C8-4829-A104-1179C483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004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Can this scale beyond Telegram?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214A28-9BF8-4500-9D63-30D457E6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5292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1B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1B17"/>
                </a:solidFill>
                <a:latin typeface="Arial"/>
                <a:ea typeface="Arial"/>
                <a:cs typeface="Arial"/>
              </a:rPr>
              <a:t>Yes. Channel adapters share the same contracts, evidence, and finance engine.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784DB6-6F5C-40F8-AF9A-58FD8387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24525"/>
            <a:ext cx="107632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51B17"/>
          </a:solidFill>
          <a:ln xmlns:a="http://schemas.openxmlformats.org/drawingml/2006/main" w="9525">
            <a:solidFill>
              <a:srgbClr val="251B1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F5F90A-2FB2-4DE6-B048-083A69A9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24525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A6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D5A62E"/>
                </a:solidFill>
                <a:latin typeface="Arial"/>
                <a:ea typeface="Arial"/>
                <a:cs typeface="Arial"/>
              </a:rPr>
              <a:t>MOAT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D6B62E-7FDA-473C-90D7-74785208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724525"/>
            <a:ext cx="9563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Localized merchant ontology + evidence-linked history + multilingual confirmation data + partner distribution.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33130A-7ACF-48C0-A029-309D3B34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PasarAI | Appendix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9EE3E4-CDC3-49AC-A0A7-C28D2ABE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865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E665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E665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40918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2026-07-17T20:29:04.8630000Z</dcterms:created>
  <dcterms:modified xsi:type="dcterms:W3CDTF">2026-07-17T20:29:04.8630000Z</dcterms:modified>
</coreProperties>
</file>
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22" autoAdjust="0"/>
  </p:normalViewPr>
  <p:slideViewPr>
    <p:cSldViewPr snapToGrid="0">
      <p:cViewPr>
        <p:scale>
          <a:sx n="88" d="100"/>
          <a:sy n="88" d="100"/>
        </p:scale>
        <p:origin x="228" y="-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</a:t>
            </a:r>
          </a:p>
          <a:p>
            <a:r>
              <a:t>PasarAI is a zero-UI financial copilot for Malaysian micro-vendors.</a:t>
            </a:r>
          </a:p>
          <a:p>
            <a:r>
              <a:t>Merchants speak or send receipts in the channels they already use, then get verified daily margin clarity.</a:t>
            </a:r>
          </a:p>
          <a:p>
            <a:r>
              <a:t>The dashboard on this slide is the working product, not a design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framing:</a:t>
            </a:r>
          </a:p>
          <a:p>
            <a:r>
              <a:t>Micro-vendors often have the sales number but not the daily cost-of-sales picture.</a:t>
            </a:r>
          </a:p>
          <a:p>
            <a:r>
              <a:t>Inputs arrive as cash, QR transactions, photos, voice notes, and changing supplier prices.</a:t>
            </a:r>
          </a:p>
          <a:p>
            <a:r>
              <a:t>The result is delayed or guessed pricing decisions, especially when ingredient or material costs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 framing:</a:t>
            </a:r>
          </a:p>
          <a:p>
            <a:r>
              <a:t>This is a deck-native view of the operating experience, not a webpage screenshot.</a:t>
            </a:r>
          </a:p>
          <a:p>
            <a:r>
              <a:t>Natural merchant inputs remain connected to receipt evidence, visible confirmation, and deterministic arithmetic.</a:t>
            </a:r>
          </a:p>
          <a:p>
            <a:r>
              <a:t>The verified 35.60% margin is the central daily decision, with cost drivers and recommended actions around it.</a:t>
            </a:r>
          </a:p>
          <a:p>
            <a:r>
              <a:t>The merchant gets one answer without forms or spreadsheet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narration:</a:t>
            </a:r>
          </a:p>
          <a:p>
            <a:r>
              <a:t>Each stage uses a distinct crop from the working PasarAI product.</a:t>
            </a:r>
          </a:p>
          <a:p>
            <a:r>
              <a:t>Capture accepts natural merchant input; Structure exposes extracted facts; Confirm keeps uncertainty visible.</a:t>
            </a:r>
          </a:p>
          <a:p>
            <a:r>
              <a:t>Calculate applies deterministic business logic, and Act lets the merchant test an explainable next move.</a:t>
            </a:r>
          </a:p>
          <a:p>
            <a:r>
              <a:t>The trust rail is the product contract: natural input, visible ambiguity, approval, math, then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narration:</a:t>
            </a:r>
          </a:p>
          <a:p>
            <a:r>
              <a:t>Node.js is the single runtime hub and owns deterministic business logic plus every output path.</a:t>
            </a:r>
          </a:p>
          <a:p>
            <a:r>
              <a:t>Next.js and Google Sheets connect directly; voice input alone uses Scribe, while Qwen supports interpretation.</a:t>
            </a:r>
          </a:p>
          <a:p>
            <a:r>
              <a:t>Immutable evidence files and Lakebase operational Postgres remain separate responsibilities.</a:t>
            </a:r>
          </a:p>
          <a:p>
            <a:r>
              <a:t>Databricks runs only when triggered: JDBC snapshot, Delta and Lakeflow Bronze-Silver-Gold, forecast notebook, then forecasts return to Lakebase.</a:t>
            </a:r>
          </a:p>
          <a:p>
            <a:r>
              <a:t>Codex belongs only to the build workflow and has no live data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Market narration:</a:t>
            </a:r>
          </a:p>
          <a:p>
            <a:r>
              <a:t>We are not claiming every microenterprise on day one.</a:t>
            </a:r>
          </a:p>
          <a:p>
            <a:r>
              <a:t>The beachhead is product-based micro-vendors in the three densest commercial markets.</a:t>
            </a:r>
          </a:p>
          <a:p>
            <a:r>
              <a:t>SAM is explicitly a planning estimate and should be refined with sector-level DOSM counts.</a:t>
            </a:r>
          </a:p>
          <a:p>
            <a:r>
              <a:t>The SOM target is 3,800 active merchants in three years, approximately one percent of the planning-estimate 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GTM narration:</a:t>
            </a:r>
          </a:p>
          <a:p>
            <a:r>
              <a:t>The first wedge is a product-based merchant in a dense Klang Valley cluster, with guided setup and a first verified margin.</a:t>
            </a:r>
          </a:p>
          <a:p>
            <a:r>
              <a:t>The 14-Day Margin Challenge bridges beachhead proof into weekly habit and partner-ready evidence.</a:t>
            </a:r>
          </a:p>
          <a:p>
            <a:r>
              <a:t>Distribution comes through organisers, councils, associations, wholesalers, banks, and merchant referrals.</a:t>
            </a:r>
          </a:p>
          <a:p>
            <a:r>
              <a:t>The operating loop is one market, twenty merchants, weekly habit, referrals, then repeatable partner cohorts.</a:t>
            </a:r>
          </a:p>
          <a:p>
            <a:r>
              <a:t>The KPI rail is explicitly a target set, not current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Business-model narration:</a:t>
            </a:r>
          </a:p>
          <a:p>
            <a:r>
              <a:t>This slide is optional because pricing still needs direct pilot validation.</a:t>
            </a:r>
          </a:p>
          <a:p>
            <a:r>
              <a:t>RM29 per month is intentionally below entry accounting and POS benchmarks.</a:t>
            </a:r>
          </a:p>
          <a:p>
            <a:r>
              <a:t>Partner-sponsored cohorts can fund distribution while keeping the merchant entry price low.</a:t>
            </a:r>
          </a:p>
          <a:p>
            <a:r>
              <a:t>PasarAI should not take a transaction fee or sell merchant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Recommended answer:</a:t>
            </a:r>
          </a:p>
          <a:p>
            <a:r>
              <a:t>Touch 'n Go and similar apps are valuable for payments, transaction visibility, and merchant tools.</a:t>
            </a:r>
          </a:p>
          <a:p>
            <a:r>
              <a:t>PasarAI is payment-agnostic and focuses on a different question: after today's changing input costs, what did the merchant actually make?</a:t>
            </a:r>
          </a:p>
          <a:p>
            <a:r>
              <a:t>It combines cash and digital activity with voice notes and receipts, then produces an evidence-backed gross-margin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answers:</a:t>
            </a:r>
          </a:p>
          <a:p>
            <a:r>
              <a:t>Privacy: use merchant-scoped authentication, encrypted integration tokens, append-only audit history, and production PDPA controls.</a:t>
            </a:r>
          </a:p>
          <a:p>
            <a:r>
              <a:t>Outage handling: evidence is retained and uncertain interpretations stay in review rather than silently writing financial facts.</a:t>
            </a:r>
          </a:p>
          <a:p>
            <a:r>
              <a:t>Non-food use: the architecture is reusable for any product or component-based micro-business; the current demo is strongest for food vendors.</a:t>
            </a:r>
          </a:p>
          <a:p>
            <a:r>
              <a:t>Moat: the compound dataset is not generic chat. It is localized, evidence-linked merchant operations data with confirmations and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78EF6311-45AC-4C17-B247-9E9E3EFD405A}"/>
              </a:ext>
            </a:extLst>
          </p:cNvPr>
          <p:cNvSpPr>
            <a:spLocks noGrp="1"/>
          </p:cNvSpPr>
          <p:nvPr/>
        </p:nvSpPr>
        <p:spPr>
          <a:xfrm>
            <a:off x="571500" y="514350"/>
            <a:ext cx="457200" cy="45720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F9F73D-649D-4879-8947-B0C4EEFA8A48}"/>
              </a:ext>
            </a:extLst>
          </p:cNvPr>
          <p:cNvSpPr>
            <a:spLocks noGrp="1"/>
          </p:cNvSpPr>
          <p:nvPr/>
        </p:nvSpPr>
        <p:spPr>
          <a:xfrm>
            <a:off x="571500" y="50482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59598-6DB7-4C1B-B0BC-F1BEB6F4C268}"/>
              </a:ext>
            </a:extLst>
          </p:cNvPr>
          <p:cNvSpPr>
            <a:spLocks noGrp="1"/>
          </p:cNvSpPr>
          <p:nvPr/>
        </p:nvSpPr>
        <p:spPr>
          <a:xfrm>
            <a:off x="1143000" y="552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090000-049A-4722-AFEE-DDE5D858A548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0DE8C2-1366-48B6-9F56-4CE949C6A778}"/>
              </a:ext>
            </a:extLst>
          </p:cNvPr>
          <p:cNvSpPr>
            <a:spLocks noGrp="1"/>
          </p:cNvSpPr>
          <p:nvPr/>
        </p:nvSpPr>
        <p:spPr>
          <a:xfrm>
            <a:off x="571500" y="12096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MALAYSIA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0320A0-2EE8-4BC7-87DF-7E0D0D081A1B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7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5AFDD-BA19-45DC-AD83-F44A91FDDFED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324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MY" sz="2175" b="1" dirty="0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voice-first</a:t>
            </a:r>
            <a:r>
              <a:rPr sz="2175" b="1" dirty="0">
                <a:solidFill>
                  <a:srgbClr val="251B17"/>
                </a:solidFill>
                <a:latin typeface="Arial"/>
                <a:ea typeface="Arial"/>
                <a:cs typeface="Arial"/>
              </a:rPr>
              <a:t> financial copilot for Malaysia's micro-vendors.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6B0B0F-D0E7-4EA8-AE87-2BF0EE23A5E3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Starting with product-based traders.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C54C7A-AD4D-4284-99DF-7B4F6D0AF5C2}"/>
              </a:ext>
            </a:extLst>
          </p:cNvPr>
          <p:cNvSpPr>
            <a:spLocks noGrp="1"/>
          </p:cNvSpPr>
          <p:nvPr/>
        </p:nvSpPr>
        <p:spPr>
          <a:xfrm>
            <a:off x="5305425" y="457200"/>
            <a:ext cx="6353175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251B1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38775" y="1164226"/>
            <a:ext cx="6086475" cy="3805649"/>
          </a:xfrm>
          <a:prstGeom prst="roundRect">
            <a:avLst>
              <a:gd name="adj" fmla="val 1538"/>
            </a:avLst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A888CB-9C69-403E-9F4A-6538CD10A278}"/>
              </a:ext>
            </a:extLst>
          </p:cNvPr>
          <p:cNvSpPr>
            <a:spLocks noGrp="1"/>
          </p:cNvSpPr>
          <p:nvPr/>
        </p:nvSpPr>
        <p:spPr>
          <a:xfrm>
            <a:off x="9667875" y="704850"/>
            <a:ext cx="1571625" cy="28575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BBEB26-CDD3-44DE-8B07-38C31462BC0D}"/>
              </a:ext>
            </a:extLst>
          </p:cNvPr>
          <p:cNvSpPr>
            <a:spLocks noGrp="1"/>
          </p:cNvSpPr>
          <p:nvPr/>
        </p:nvSpPr>
        <p:spPr>
          <a:xfrm>
            <a:off x="9667875" y="71437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PRODUCT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DB599C-6FFF-4A50-8664-BF5DDB1A8122}"/>
              </a:ext>
            </a:extLst>
          </p:cNvPr>
          <p:cNvSpPr>
            <a:spLocks noGrp="1"/>
          </p:cNvSpPr>
          <p:nvPr/>
        </p:nvSpPr>
        <p:spPr>
          <a:xfrm>
            <a:off x="590550" y="5857875"/>
            <a:ext cx="1485900" cy="28575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ECF4D-6763-4278-A6D6-CCBCB0658E26}"/>
              </a:ext>
            </a:extLst>
          </p:cNvPr>
          <p:cNvSpPr>
            <a:spLocks noGrp="1"/>
          </p:cNvSpPr>
          <p:nvPr/>
        </p:nvSpPr>
        <p:spPr>
          <a:xfrm>
            <a:off x="590550" y="58674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 MALAM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EBDAB4-F479-494E-AC44-27C30B0E0BC8}"/>
              </a:ext>
            </a:extLst>
          </p:cNvPr>
          <p:cNvSpPr>
            <a:spLocks noGrp="1"/>
          </p:cNvSpPr>
          <p:nvPr/>
        </p:nvSpPr>
        <p:spPr>
          <a:xfrm>
            <a:off x="2152650" y="58578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CD6FE8-E515-4DF2-8A86-8C856BA15DE9}"/>
              </a:ext>
            </a:extLst>
          </p:cNvPr>
          <p:cNvSpPr>
            <a:spLocks noGrp="1"/>
          </p:cNvSpPr>
          <p:nvPr/>
        </p:nvSpPr>
        <p:spPr>
          <a:xfrm>
            <a:off x="2152650" y="5867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FOOD STALLS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B84D3D-EBC6-4F7F-B1D5-4BFE9F9D92F3}"/>
              </a:ext>
            </a:extLst>
          </p:cNvPr>
          <p:cNvSpPr>
            <a:spLocks noGrp="1"/>
          </p:cNvSpPr>
          <p:nvPr/>
        </p:nvSpPr>
        <p:spPr>
          <a:xfrm>
            <a:off x="3657600" y="5857875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F2466E-9F60-4432-A268-F927AA3DCDD6}"/>
              </a:ext>
            </a:extLst>
          </p:cNvPr>
          <p:cNvSpPr>
            <a:spLocks noGrp="1"/>
          </p:cNvSpPr>
          <p:nvPr/>
        </p:nvSpPr>
        <p:spPr>
          <a:xfrm>
            <a:off x="3657600" y="58674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TAILORS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3FCC44-E00A-48C7-B0E5-7127F187E1BF}"/>
              </a:ext>
            </a:extLst>
          </p:cNvPr>
          <p:cNvSpPr>
            <a:spLocks noGrp="1"/>
          </p:cNvSpPr>
          <p:nvPr/>
        </p:nvSpPr>
        <p:spPr>
          <a:xfrm>
            <a:off x="4800600" y="5857875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114136-B826-4633-8710-F71DE86E8643}"/>
              </a:ext>
            </a:extLst>
          </p:cNvPr>
          <p:cNvSpPr>
            <a:spLocks noGrp="1"/>
          </p:cNvSpPr>
          <p:nvPr/>
        </p:nvSpPr>
        <p:spPr>
          <a:xfrm>
            <a:off x="4800600" y="58674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HOME BAKERS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59E94D-9ACE-436C-80E1-B04314011C71}"/>
              </a:ext>
            </a:extLst>
          </p:cNvPr>
          <p:cNvSpPr>
            <a:spLocks noGrp="1"/>
          </p:cNvSpPr>
          <p:nvPr/>
        </p:nvSpPr>
        <p:spPr>
          <a:xfrm>
            <a:off x="9715500" y="60293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Hackathon demo deck</a:t>
            </a:r>
          </a:p>
        </p:txBody>
      </p:sp>
    </p:spTree>
    <p:extLst>
      <p:ext uri="{BB962C8B-B14F-4D97-AF65-F5344CB8AC3E}">
        <p14:creationId xmlns:p14="http://schemas.microsoft.com/office/powerpoint/2010/main" val="204700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E0A7F97-CDE1-4C21-A80F-7A85CB12571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8FA0E-A50F-40F0-8CA8-CCC119D4D491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828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Revenue is visible. Real margin isn't.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CEFA0E-0681-44C2-ABD7-69DDFF9A7AD2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1B7943-488D-4B1A-A40B-DDBBC0924BD9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285750" cy="285750"/>
          </a:xfrm>
          <a:prstGeom prst="ellipse">
            <a:avLst/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0814E3-29C5-48AF-A1A2-B56D29B94A65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E4D0D-374D-44C3-A14B-6DEFD4D58978}"/>
              </a:ext>
            </a:extLst>
          </p:cNvPr>
          <p:cNvSpPr>
            <a:spLocks noGrp="1"/>
          </p:cNvSpPr>
          <p:nvPr/>
        </p:nvSpPr>
        <p:spPr>
          <a:xfrm>
            <a:off x="1133475" y="1819275"/>
            <a:ext cx="1838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QR sales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29D667-3CB7-4504-B2D9-98E0082A09AE}"/>
              </a:ext>
            </a:extLst>
          </p:cNvPr>
          <p:cNvSpPr>
            <a:spLocks noGrp="1"/>
          </p:cNvSpPr>
          <p:nvPr/>
        </p:nvSpPr>
        <p:spPr>
          <a:xfrm>
            <a:off x="552450" y="251460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F5E9BE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306833-BCBD-4597-A83C-2FD7EAD06CA3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285750" cy="285750"/>
          </a:xfrm>
          <a:prstGeom prst="ellipse">
            <a:avLst/>
          </a:prstGeom>
          <a:solidFill>
            <a:srgbClr val="D5A62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9291D-1ACB-467D-BA4C-FCDCD620EE39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BA308E-9549-47C3-AA30-29B83070BAAC}"/>
              </a:ext>
            </a:extLst>
          </p:cNvPr>
          <p:cNvSpPr>
            <a:spLocks noGrp="1"/>
          </p:cNvSpPr>
          <p:nvPr/>
        </p:nvSpPr>
        <p:spPr>
          <a:xfrm>
            <a:off x="1133475" y="2600325"/>
            <a:ext cx="1838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Receipt photos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DFC3BE-5656-47D8-86A8-BDFCF0D6FD51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38A8BE-E4E0-44AE-A4BE-6667DF5CB7AB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285750" cy="285750"/>
          </a:xfrm>
          <a:prstGeom prst="ellipse">
            <a:avLst/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F36C68-21C9-477B-9180-4E61ED14657A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C97314-D290-4702-81E3-F0911FB5A8BB}"/>
              </a:ext>
            </a:extLst>
          </p:cNvPr>
          <p:cNvSpPr>
            <a:spLocks noGrp="1"/>
          </p:cNvSpPr>
          <p:nvPr/>
        </p:nvSpPr>
        <p:spPr>
          <a:xfrm>
            <a:off x="1133475" y="3381375"/>
            <a:ext cx="1838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notes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AF3E1E-A434-4967-A4CD-E292A50B9D6E}"/>
              </a:ext>
            </a:extLst>
          </p:cNvPr>
          <p:cNvSpPr>
            <a:spLocks noGrp="1"/>
          </p:cNvSpPr>
          <p:nvPr/>
        </p:nvSpPr>
        <p:spPr>
          <a:xfrm>
            <a:off x="552450" y="4076700"/>
            <a:ext cx="2609850" cy="552450"/>
          </a:xfrm>
          <a:prstGeom prst="roundRect">
            <a:avLst>
              <a:gd name="adj" fmla="val 13793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8BD1AB-5299-4A8C-955D-A0E99B671B90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285750" cy="2857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666D5-7624-4F53-842E-08AB5FD17F6E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1FD811-63E4-4F3C-8523-5F4C3F8FADB4}"/>
              </a:ext>
            </a:extLst>
          </p:cNvPr>
          <p:cNvSpPr>
            <a:spLocks noGrp="1"/>
          </p:cNvSpPr>
          <p:nvPr/>
        </p:nvSpPr>
        <p:spPr>
          <a:xfrm>
            <a:off x="1133475" y="4162425"/>
            <a:ext cx="1838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29"/>
          </a:bodyPr>
          <a:lstStyle/>
          <a:p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Changing input prices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9E5D94-A3B4-4D52-9B51-6BF21342C663}"/>
              </a:ext>
            </a:extLst>
          </p:cNvPr>
          <p:cNvSpPr>
            <a:spLocks noGrp="1"/>
          </p:cNvSpPr>
          <p:nvPr/>
        </p:nvSpPr>
        <p:spPr>
          <a:xfrm>
            <a:off x="3962400" y="2381250"/>
            <a:ext cx="1581150" cy="1581150"/>
          </a:xfrm>
          <a:prstGeom prst="ellipse">
            <a:avLst/>
          </a:prstGeom>
          <a:solidFill>
            <a:srgbClr val="251B17"/>
          </a:solidFill>
          <a:ln w="19050">
            <a:solidFill>
              <a:srgbClr val="251B1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338BB6-D65D-440E-990E-BF2CF85F3242}"/>
              </a:ext>
            </a:extLst>
          </p:cNvPr>
          <p:cNvSpPr>
            <a:spLocks noGrp="1"/>
          </p:cNvSpPr>
          <p:nvPr/>
        </p:nvSpPr>
        <p:spPr>
          <a:xfrm>
            <a:off x="3962400" y="2333625"/>
            <a:ext cx="1581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AE9368-3876-4AFB-95BD-C1476708C08E}"/>
              </a:ext>
            </a:extLst>
          </p:cNvPr>
          <p:cNvSpPr>
            <a:spLocks noGrp="1"/>
          </p:cNvSpPr>
          <p:nvPr/>
        </p:nvSpPr>
        <p:spPr>
          <a:xfrm>
            <a:off x="4152900" y="3476625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REAL</a:t>
            </a:r>
          </a:p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cxnSp>
        <p:nvCxnSpPr>
          <p:cNvPr id="62" name="Straight Arrow Connector 61"/>
          <p:cNvCxnSpPr>
            <a:stCxn id="3" idx="3"/>
            <a:endCxn id="19" idx="2"/>
          </p:cNvCxnSpPr>
          <p:nvPr/>
        </p:nvCxnSpPr>
        <p:spPr>
          <a:xfrm>
            <a:off x="3162300" y="2009775"/>
            <a:ext cx="800100" cy="116205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3" name="Straight Arrow Connector 62"/>
          <p:cNvCxnSpPr>
            <a:stCxn id="7" idx="3"/>
            <a:endCxn id="19" idx="2"/>
          </p:cNvCxnSpPr>
          <p:nvPr/>
        </p:nvCxnSpPr>
        <p:spPr>
          <a:xfrm>
            <a:off x="3162300" y="2790825"/>
            <a:ext cx="800100" cy="38100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4" name="Straight Arrow Connector 63"/>
          <p:cNvCxnSpPr>
            <a:stCxn id="11" idx="3"/>
            <a:endCxn id="19" idx="2"/>
          </p:cNvCxnSpPr>
          <p:nvPr/>
        </p:nvCxnSpPr>
        <p:spPr>
          <a:xfrm flipV="1">
            <a:off x="3162300" y="3171825"/>
            <a:ext cx="800100" cy="40005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5" name="Straight Arrow Connector 64"/>
          <p:cNvCxnSpPr>
            <a:stCxn id="15" idx="3"/>
            <a:endCxn id="19" idx="2"/>
          </p:cNvCxnSpPr>
          <p:nvPr/>
        </p:nvCxnSpPr>
        <p:spPr>
          <a:xfrm flipV="1">
            <a:off x="3162300" y="3171825"/>
            <a:ext cx="800100" cy="118110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  <a:tailEnd type="arrow" w="sm" len="sm"/>
          </a:ln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402CE2-EA77-4B4E-A42A-96279E61237E}"/>
              </a:ext>
            </a:extLst>
          </p:cNvPr>
          <p:cNvSpPr>
            <a:spLocks noGrp="1"/>
          </p:cNvSpPr>
          <p:nvPr/>
        </p:nvSpPr>
        <p:spPr>
          <a:xfrm>
            <a:off x="6219825" y="1695450"/>
            <a:ext cx="2743200" cy="352425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C9C0B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405706-B719-4AC4-AA37-C38355EBB4CB}"/>
              </a:ext>
            </a:extLst>
          </p:cNvPr>
          <p:cNvSpPr>
            <a:spLocks noGrp="1"/>
          </p:cNvSpPr>
          <p:nvPr/>
        </p:nvSpPr>
        <p:spPr>
          <a:xfrm>
            <a:off x="6467475" y="19335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merchants know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DBBCF7-0E41-4952-BB49-453EE9ECA293}"/>
              </a:ext>
            </a:extLst>
          </p:cNvPr>
          <p:cNvSpPr>
            <a:spLocks noGrp="1"/>
          </p:cNvSpPr>
          <p:nvPr/>
        </p:nvSpPr>
        <p:spPr>
          <a:xfrm>
            <a:off x="6467475" y="2390775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RM200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19385B-3ACE-4A1D-9ADD-C621B7828495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sales today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6467475" y="3476625"/>
            <a:ext cx="2143125" cy="0"/>
          </a:xfrm>
          <a:prstGeom prst="straightConnector1">
            <a:avLst/>
          </a:prstGeom>
          <a:ln w="9525">
            <a:solidFill>
              <a:srgbClr val="C9C0B5"/>
            </a:solidFill>
            <a:prstDash val="solid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8E10823-26E6-4FDE-9140-A44921E298D1}"/>
              </a:ext>
            </a:extLst>
          </p:cNvPr>
          <p:cNvSpPr>
            <a:spLocks noGrp="1"/>
          </p:cNvSpPr>
          <p:nvPr/>
        </p:nvSpPr>
        <p:spPr>
          <a:xfrm>
            <a:off x="6467475" y="3752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they cannot see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80A383-21A6-4717-AFB9-60A32D27A3DB}"/>
              </a:ext>
            </a:extLst>
          </p:cNvPr>
          <p:cNvSpPr>
            <a:spLocks noGrp="1"/>
          </p:cNvSpPr>
          <p:nvPr/>
        </p:nvSpPr>
        <p:spPr>
          <a:xfrm>
            <a:off x="6467475" y="41910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RM 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63FC13-EEE0-4E9D-A56F-3A2B4D321A9B}"/>
              </a:ext>
            </a:extLst>
          </p:cNvPr>
          <p:cNvSpPr>
            <a:spLocks noGrp="1"/>
          </p:cNvSpPr>
          <p:nvPr/>
        </p:nvSpPr>
        <p:spPr>
          <a:xfrm>
            <a:off x="6477000" y="4762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gross profit after today's costs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B5EB79-7E77-4C94-BF4C-36DE7CEE8EAA}"/>
              </a:ext>
            </a:extLst>
          </p:cNvPr>
          <p:cNvSpPr>
            <a:spLocks noGrp="1"/>
          </p:cNvSpPr>
          <p:nvPr/>
        </p:nvSpPr>
        <p:spPr>
          <a:xfrm>
            <a:off x="9296400" y="1562100"/>
            <a:ext cx="2324100" cy="3981450"/>
          </a:xfrm>
          <a:prstGeom prst="roundRect">
            <a:avLst>
              <a:gd name="adj" fmla="val 3279"/>
            </a:avLst>
          </a:prstGeom>
          <a:solidFill>
            <a:srgbClr val="675F55"/>
          </a:solidFill>
          <a:ln w="14288">
            <a:solidFill>
              <a:srgbClr val="251B17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rcRect l="10608" r="10608"/>
          <a:stretch>
            <a:fillRect/>
          </a:stretch>
        </p:blipFill>
        <p:spPr>
          <a:xfrm>
            <a:off x="9420225" y="1685925"/>
            <a:ext cx="2076450" cy="3733800"/>
          </a:xfrm>
          <a:prstGeom prst="roundRect">
            <a:avLst>
              <a:gd name="adj" fmla="val 2752"/>
            </a:avLst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E4953D-27CB-4492-A677-437AEEC0C7E4}"/>
              </a:ext>
            </a:extLst>
          </p:cNvPr>
          <p:cNvSpPr>
            <a:spLocks noGrp="1"/>
          </p:cNvSpPr>
          <p:nvPr/>
        </p:nvSpPr>
        <p:spPr>
          <a:xfrm>
            <a:off x="8963025" y="5657850"/>
            <a:ext cx="2657475" cy="30480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ABDC08-FEC2-4653-B757-DAE6A5B3B6F7}"/>
              </a:ext>
            </a:extLst>
          </p:cNvPr>
          <p:cNvSpPr>
            <a:spLocks noGrp="1"/>
          </p:cNvSpPr>
          <p:nvPr/>
        </p:nvSpPr>
        <p:spPr>
          <a:xfrm>
            <a:off x="8963025" y="5667375"/>
            <a:ext cx="2657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RECEIPT. MANY COST CHANGES.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4B0460-CC26-4975-A81E-EA6CBCC8B4C6}"/>
              </a:ext>
            </a:extLst>
          </p:cNvPr>
          <p:cNvSpPr>
            <a:spLocks noGrp="1"/>
          </p:cNvSpPr>
          <p:nvPr/>
        </p:nvSpPr>
        <p:spPr>
          <a:xfrm>
            <a:off x="552450" y="5905500"/>
            <a:ext cx="823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Most micro-vendors know what they sold, not what they actually made.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542B64-0BF7-4296-B2AA-FC16C8B6460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07ACE1-2354-4F13-9099-B2966289D7F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292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F331CCBF-3358-4E22-94ED-58FB0B2C9A6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384BBE-6470-4E86-93D3-94C5A23882D8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47"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Turning Voice Notes into Real-Time Margins.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F9E17-BD60-459B-B243-767DAF2AA70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turns everyday merchant inputs into verified margin decisions.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384B94-0A65-4E1F-BE8E-62FAC1D18FF9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2000250" cy="4438650"/>
          </a:xfrm>
          <a:prstGeom prst="roundRect">
            <a:avLst>
              <a:gd name="adj" fmla="val 3810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F7F71E-B18B-4C58-A5C5-6086F190A597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MARGIN CONTROL</a:t>
            </a:r>
          </a:p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47E3E8-8F88-461D-810A-1AADC9BA0F9B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23850" cy="323850"/>
          </a:xfrm>
          <a:prstGeom prst="ellipse">
            <a:avLst/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66034-E860-451C-BF9D-6216FAA1C513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8E6CA-BCE3-47CD-8131-E2799B21D3B9}"/>
              </a:ext>
            </a:extLst>
          </p:cNvPr>
          <p:cNvSpPr>
            <a:spLocks noGrp="1"/>
          </p:cNvSpPr>
          <p:nvPr/>
        </p:nvSpPr>
        <p:spPr>
          <a:xfrm>
            <a:off x="1181100" y="2552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BAFE6-9784-4F32-BED2-8886F9210041}"/>
              </a:ext>
            </a:extLst>
          </p:cNvPr>
          <p:cNvSpPr>
            <a:spLocks noGrp="1"/>
          </p:cNvSpPr>
          <p:nvPr/>
        </p:nvSpPr>
        <p:spPr>
          <a:xfrm>
            <a:off x="1181100" y="28098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Natural input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>
            <a:off x="876300" y="2933700"/>
            <a:ext cx="0" cy="590550"/>
          </a:xfrm>
          <a:prstGeom prst="straightConnector1">
            <a:avLst/>
          </a:prstGeom>
          <a:ln w="13335">
            <a:solidFill>
              <a:srgbClr val="68635D"/>
            </a:solidFill>
            <a:prstDash val="solid"/>
          </a:ln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D32928A-E69F-40DB-B4E0-3E3DEE8F6F08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323850" cy="323850"/>
          </a:xfrm>
          <a:prstGeom prst="ellipse">
            <a:avLst/>
          </a:prstGeom>
          <a:solidFill>
            <a:srgbClr val="D5A62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E0C09-6B36-4C74-A1DB-3E550F138D36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CA56F6-678D-4E0A-AB89-4EADA9A679BF}"/>
              </a:ext>
            </a:extLst>
          </p:cNvPr>
          <p:cNvSpPr>
            <a:spLocks noGrp="1"/>
          </p:cNvSpPr>
          <p:nvPr/>
        </p:nvSpPr>
        <p:spPr>
          <a:xfrm>
            <a:off x="1181100" y="35052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38202-80E5-4442-9381-3AD07EC0548C}"/>
              </a:ext>
            </a:extLst>
          </p:cNvPr>
          <p:cNvSpPr>
            <a:spLocks noGrp="1"/>
          </p:cNvSpPr>
          <p:nvPr/>
        </p:nvSpPr>
        <p:spPr>
          <a:xfrm>
            <a:off x="1181100" y="37623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Visible evidence</a:t>
            </a:r>
          </a:p>
        </p:txBody>
      </p:sp>
      <p:cxnSp>
        <p:nvCxnSpPr>
          <p:cNvPr id="118" name="Straight Arrow Connector 117"/>
          <p:cNvCxnSpPr/>
          <p:nvPr/>
        </p:nvCxnSpPr>
        <p:spPr>
          <a:xfrm>
            <a:off x="876300" y="3886200"/>
            <a:ext cx="0" cy="590550"/>
          </a:xfrm>
          <a:prstGeom prst="straightConnector1">
            <a:avLst/>
          </a:prstGeom>
          <a:ln w="13335">
            <a:solidFill>
              <a:srgbClr val="68635D"/>
            </a:solidFill>
            <a:prstDash val="soli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72FE73A-054D-4368-A404-7BF845A0B461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323850" cy="323850"/>
          </a:xfrm>
          <a:prstGeom prst="ellipse">
            <a:avLst/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396E38-15D4-42C3-918E-DE08B128FFBD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6C25A6-E262-4C66-BC4A-EF22F62B4498}"/>
              </a:ext>
            </a:extLst>
          </p:cNvPr>
          <p:cNvSpPr>
            <a:spLocks noGrp="1"/>
          </p:cNvSpPr>
          <p:nvPr/>
        </p:nvSpPr>
        <p:spPr>
          <a:xfrm>
            <a:off x="1181100" y="4457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7AC5D4-1476-475D-813E-2AB5778D4E7D}"/>
              </a:ext>
            </a:extLst>
          </p:cNvPr>
          <p:cNvSpPr>
            <a:spLocks noGrp="1"/>
          </p:cNvSpPr>
          <p:nvPr/>
        </p:nvSpPr>
        <p:spPr>
          <a:xfrm>
            <a:off x="1181100" y="47148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Margin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8F1EE2-4F45-4508-B048-F612C2D8536C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Evidence-linked</a:t>
            </a:r>
          </a:p>
          <a:p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and merchant-approved</a:t>
            </a:r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3048000" y="2686050"/>
            <a:ext cx="2419350" cy="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25" name="Straight Arrow Connector 124"/>
          <p:cNvCxnSpPr/>
          <p:nvPr/>
        </p:nvCxnSpPr>
        <p:spPr>
          <a:xfrm>
            <a:off x="5467350" y="2686050"/>
            <a:ext cx="0" cy="981075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26" name="Straight Arrow Connector 125"/>
          <p:cNvCxnSpPr/>
          <p:nvPr/>
        </p:nvCxnSpPr>
        <p:spPr>
          <a:xfrm>
            <a:off x="5143500" y="4210050"/>
            <a:ext cx="666750" cy="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27" name="Straight Arrow Connector 126"/>
          <p:cNvCxnSpPr/>
          <p:nvPr/>
        </p:nvCxnSpPr>
        <p:spPr>
          <a:xfrm>
            <a:off x="8572500" y="2686050"/>
            <a:ext cx="800100" cy="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28" name="Straight Arrow Connector 127"/>
          <p:cNvCxnSpPr/>
          <p:nvPr/>
        </p:nvCxnSpPr>
        <p:spPr>
          <a:xfrm>
            <a:off x="9372600" y="2686050"/>
            <a:ext cx="0" cy="64770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29" name="Straight Arrow Connector 128"/>
          <p:cNvCxnSpPr/>
          <p:nvPr/>
        </p:nvCxnSpPr>
        <p:spPr>
          <a:xfrm>
            <a:off x="8572500" y="4457700"/>
            <a:ext cx="800100" cy="0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cxnSp>
        <p:nvCxnSpPr>
          <p:cNvPr id="130" name="Straight Arrow Connector 129"/>
          <p:cNvCxnSpPr/>
          <p:nvPr/>
        </p:nvCxnSpPr>
        <p:spPr>
          <a:xfrm>
            <a:off x="7162800" y="4819650"/>
            <a:ext cx="0" cy="428625"/>
          </a:xfrm>
          <a:prstGeom prst="straightConnector1">
            <a:avLst/>
          </a:prstGeom>
          <a:ln w="14288">
            <a:solidFill>
              <a:srgbClr val="C9C0B5"/>
            </a:solidFill>
            <a:prstDash val="solid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008466A-DBFC-48A4-B039-AB2DD1D4229B}"/>
              </a:ext>
            </a:extLst>
          </p:cNvPr>
          <p:cNvSpPr>
            <a:spLocks noGrp="1"/>
          </p:cNvSpPr>
          <p:nvPr/>
        </p:nvSpPr>
        <p:spPr>
          <a:xfrm>
            <a:off x="2952750" y="1543050"/>
            <a:ext cx="3448050" cy="1028700"/>
          </a:xfrm>
          <a:prstGeom prst="roundRect">
            <a:avLst>
              <a:gd name="adj" fmla="val 7407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52B4F9-4B47-4C3F-94B0-4F91C6CAE93D}"/>
              </a:ext>
            </a:extLst>
          </p:cNvPr>
          <p:cNvSpPr>
            <a:spLocks noGrp="1"/>
          </p:cNvSpPr>
          <p:nvPr/>
        </p:nvSpPr>
        <p:spPr>
          <a:xfrm>
            <a:off x="3124200" y="1685925"/>
            <a:ext cx="952500" cy="228600"/>
          </a:xfrm>
          <a:prstGeom prst="roundRect">
            <a:avLst>
              <a:gd name="adj" fmla="val 50000"/>
            </a:avLst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3198CA-2105-4095-936D-D5152DCEA214}"/>
              </a:ext>
            </a:extLst>
          </p:cNvPr>
          <p:cNvSpPr>
            <a:spLocks noGrp="1"/>
          </p:cNvSpPr>
          <p:nvPr/>
        </p:nvSpPr>
        <p:spPr>
          <a:xfrm>
            <a:off x="3124200" y="16954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NOTE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72E585-B55C-4067-96E6-858D11784CDB}"/>
              </a:ext>
            </a:extLst>
          </p:cNvPr>
          <p:cNvSpPr>
            <a:spLocks noGrp="1"/>
          </p:cNvSpPr>
          <p:nvPr/>
        </p:nvSpPr>
        <p:spPr>
          <a:xfrm>
            <a:off x="3124200" y="20002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"Eggs up RM2 per tray today."</a:t>
            </a:r>
          </a:p>
        </p:txBody>
      </p:sp>
      <p:cxnSp>
        <p:nvCxnSpPr>
          <p:cNvPr id="135" name="Straight Arrow Connector 134"/>
          <p:cNvCxnSpPr/>
          <p:nvPr/>
        </p:nvCxnSpPr>
        <p:spPr>
          <a:xfrm>
            <a:off x="3162300" y="2381250"/>
            <a:ext cx="0" cy="13335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36" name="Straight Arrow Connector 135"/>
          <p:cNvCxnSpPr/>
          <p:nvPr/>
        </p:nvCxnSpPr>
        <p:spPr>
          <a:xfrm>
            <a:off x="3333750" y="2328863"/>
            <a:ext cx="0" cy="2381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37" name="Straight Arrow Connector 136"/>
          <p:cNvCxnSpPr/>
          <p:nvPr/>
        </p:nvCxnSpPr>
        <p:spPr>
          <a:xfrm>
            <a:off x="3505200" y="2405063"/>
            <a:ext cx="0" cy="857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38" name="Straight Arrow Connector 137"/>
          <p:cNvCxnSpPr/>
          <p:nvPr/>
        </p:nvCxnSpPr>
        <p:spPr>
          <a:xfrm>
            <a:off x="3676650" y="2300288"/>
            <a:ext cx="0" cy="29527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39" name="Straight Arrow Connector 138"/>
          <p:cNvCxnSpPr/>
          <p:nvPr/>
        </p:nvCxnSpPr>
        <p:spPr>
          <a:xfrm>
            <a:off x="3848100" y="2357438"/>
            <a:ext cx="0" cy="18097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0" name="Straight Arrow Connector 139"/>
          <p:cNvCxnSpPr/>
          <p:nvPr/>
        </p:nvCxnSpPr>
        <p:spPr>
          <a:xfrm>
            <a:off x="4019550" y="2271713"/>
            <a:ext cx="0" cy="3524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1" name="Straight Arrow Connector 140"/>
          <p:cNvCxnSpPr/>
          <p:nvPr/>
        </p:nvCxnSpPr>
        <p:spPr>
          <a:xfrm>
            <a:off x="4191000" y="2386013"/>
            <a:ext cx="0" cy="1238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2" name="Straight Arrow Connector 141"/>
          <p:cNvCxnSpPr/>
          <p:nvPr/>
        </p:nvCxnSpPr>
        <p:spPr>
          <a:xfrm>
            <a:off x="4362450" y="2309813"/>
            <a:ext cx="0" cy="2762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3" name="Straight Arrow Connector 142"/>
          <p:cNvCxnSpPr/>
          <p:nvPr/>
        </p:nvCxnSpPr>
        <p:spPr>
          <a:xfrm>
            <a:off x="4533900" y="2362200"/>
            <a:ext cx="0" cy="17145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4" name="Straight Arrow Connector 143"/>
          <p:cNvCxnSpPr/>
          <p:nvPr/>
        </p:nvCxnSpPr>
        <p:spPr>
          <a:xfrm>
            <a:off x="4705350" y="2286000"/>
            <a:ext cx="0" cy="32385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5" name="Straight Arrow Connector 144"/>
          <p:cNvCxnSpPr/>
          <p:nvPr/>
        </p:nvCxnSpPr>
        <p:spPr>
          <a:xfrm>
            <a:off x="4876800" y="2395538"/>
            <a:ext cx="0" cy="10477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6" name="Straight Arrow Connector 145"/>
          <p:cNvCxnSpPr/>
          <p:nvPr/>
        </p:nvCxnSpPr>
        <p:spPr>
          <a:xfrm>
            <a:off x="5048250" y="2338388"/>
            <a:ext cx="0" cy="21907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7" name="Straight Arrow Connector 146"/>
          <p:cNvCxnSpPr/>
          <p:nvPr/>
        </p:nvCxnSpPr>
        <p:spPr>
          <a:xfrm>
            <a:off x="5219700" y="2371725"/>
            <a:ext cx="0" cy="15240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8" name="Straight Arrow Connector 147"/>
          <p:cNvCxnSpPr/>
          <p:nvPr/>
        </p:nvCxnSpPr>
        <p:spPr>
          <a:xfrm>
            <a:off x="5391150" y="2305050"/>
            <a:ext cx="0" cy="28575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49" name="Straight Arrow Connector 148"/>
          <p:cNvCxnSpPr/>
          <p:nvPr/>
        </p:nvCxnSpPr>
        <p:spPr>
          <a:xfrm>
            <a:off x="5562600" y="2390775"/>
            <a:ext cx="0" cy="11430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50" name="Straight Arrow Connector 149"/>
          <p:cNvCxnSpPr/>
          <p:nvPr/>
        </p:nvCxnSpPr>
        <p:spPr>
          <a:xfrm>
            <a:off x="5734050" y="2347913"/>
            <a:ext cx="0" cy="200025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4A9611B-43D0-4553-AA73-EBBD3CDD5C83}"/>
              </a:ext>
            </a:extLst>
          </p:cNvPr>
          <p:cNvSpPr>
            <a:spLocks noGrp="1"/>
          </p:cNvSpPr>
          <p:nvPr/>
        </p:nvSpPr>
        <p:spPr>
          <a:xfrm>
            <a:off x="2952750" y="2895600"/>
            <a:ext cx="234315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564210-E1D0-4B87-A8BD-E7632A3B4A65}"/>
              </a:ext>
            </a:extLst>
          </p:cNvPr>
          <p:cNvSpPr>
            <a:spLocks noGrp="1"/>
          </p:cNvSpPr>
          <p:nvPr/>
        </p:nvSpPr>
        <p:spPr>
          <a:xfrm>
            <a:off x="3124200" y="3048000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RECEIPT EVIDENCE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D55C05-DE68-4FA9-9E7C-6F848A84A8A8}"/>
              </a:ext>
            </a:extLst>
          </p:cNvPr>
          <p:cNvSpPr>
            <a:spLocks noGrp="1"/>
          </p:cNvSpPr>
          <p:nvPr/>
        </p:nvSpPr>
        <p:spPr>
          <a:xfrm>
            <a:off x="3124200" y="33051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4 ingredients detected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143019C-F3E7-473B-9597-59E70DD0BE23}"/>
              </a:ext>
            </a:extLst>
          </p:cNvPr>
          <p:cNvSpPr>
            <a:spLocks noGrp="1"/>
          </p:cNvSpPr>
          <p:nvPr/>
        </p:nvSpPr>
        <p:spPr>
          <a:xfrm>
            <a:off x="3124200" y="3667125"/>
            <a:ext cx="590550" cy="238125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910167-CC71-4E54-851E-101AC317C588}"/>
              </a:ext>
            </a:extLst>
          </p:cNvPr>
          <p:cNvSpPr>
            <a:spLocks noGrp="1"/>
          </p:cNvSpPr>
          <p:nvPr/>
        </p:nvSpPr>
        <p:spPr>
          <a:xfrm>
            <a:off x="3124200" y="3676650"/>
            <a:ext cx="5905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BB0F018-5452-4EEC-8F5E-703A1A4190C2}"/>
              </a:ext>
            </a:extLst>
          </p:cNvPr>
          <p:cNvSpPr>
            <a:spLocks noGrp="1"/>
          </p:cNvSpPr>
          <p:nvPr/>
        </p:nvSpPr>
        <p:spPr>
          <a:xfrm>
            <a:off x="3790950" y="3667125"/>
            <a:ext cx="628650" cy="238125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C0C817-B0D5-45F7-A96F-8138C9AC6C13}"/>
              </a:ext>
            </a:extLst>
          </p:cNvPr>
          <p:cNvSpPr>
            <a:spLocks noGrp="1"/>
          </p:cNvSpPr>
          <p:nvPr/>
        </p:nvSpPr>
        <p:spPr>
          <a:xfrm>
            <a:off x="3790950" y="3676650"/>
            <a:ext cx="628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FLOUR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0ABA2F3-CE59-4218-A6A8-86737A7B6334}"/>
              </a:ext>
            </a:extLst>
          </p:cNvPr>
          <p:cNvSpPr>
            <a:spLocks noGrp="1"/>
          </p:cNvSpPr>
          <p:nvPr/>
        </p:nvSpPr>
        <p:spPr>
          <a:xfrm>
            <a:off x="4495800" y="36671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B534A3-8EAF-4E73-907B-90538829E8FC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OIL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55B79AE-03E3-4067-B0D9-9AC6B5E6158E}"/>
              </a:ext>
            </a:extLst>
          </p:cNvPr>
          <p:cNvSpPr>
            <a:spLocks noGrp="1"/>
          </p:cNvSpPr>
          <p:nvPr/>
        </p:nvSpPr>
        <p:spPr>
          <a:xfrm>
            <a:off x="3124200" y="4000500"/>
            <a:ext cx="628650" cy="238125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2DAEBA-9765-48B4-8969-49245ED282C6}"/>
              </a:ext>
            </a:extLst>
          </p:cNvPr>
          <p:cNvSpPr>
            <a:spLocks noGrp="1"/>
          </p:cNvSpPr>
          <p:nvPr/>
        </p:nvSpPr>
        <p:spPr>
          <a:xfrm>
            <a:off x="3124200" y="4010025"/>
            <a:ext cx="628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SUGAR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6EFBFB4-3FA2-459C-BC3A-FDBDB9F7C4E2}"/>
              </a:ext>
            </a:extLst>
          </p:cNvPr>
          <p:cNvSpPr>
            <a:spLocks noGrp="1"/>
          </p:cNvSpPr>
          <p:nvPr/>
        </p:nvSpPr>
        <p:spPr>
          <a:xfrm>
            <a:off x="3829050" y="4000500"/>
            <a:ext cx="1143000" cy="238125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D15579-CB36-49D9-AD61-120F74CD9095}"/>
              </a:ext>
            </a:extLst>
          </p:cNvPr>
          <p:cNvSpPr>
            <a:spLocks noGrp="1"/>
          </p:cNvSpPr>
          <p:nvPr/>
        </p:nvSpPr>
        <p:spPr>
          <a:xfrm>
            <a:off x="3829050" y="4010025"/>
            <a:ext cx="1143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5C50B9-F420-4D0F-A5E7-6BDC4EF9DABC}"/>
              </a:ext>
            </a:extLst>
          </p:cNvPr>
          <p:cNvSpPr>
            <a:spLocks noGrp="1"/>
          </p:cNvSpPr>
          <p:nvPr/>
        </p:nvSpPr>
        <p:spPr>
          <a:xfrm>
            <a:off x="3124200" y="4400550"/>
            <a:ext cx="19526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Evidence #08  ·  14:32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D2B027B-50CF-4AA9-83A6-FCFD59CF4D68}"/>
              </a:ext>
            </a:extLst>
          </p:cNvPr>
          <p:cNvSpPr>
            <a:spLocks noGrp="1"/>
          </p:cNvSpPr>
          <p:nvPr/>
        </p:nvSpPr>
        <p:spPr>
          <a:xfrm>
            <a:off x="5810250" y="2781300"/>
            <a:ext cx="276225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9050">
            <a:solidFill>
              <a:srgbClr val="251B1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EEA37CE-8345-4C5D-A42E-71B8EC8BB9E2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876300" cy="238125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41C005-3252-4638-8672-6F329ABA1A39}"/>
              </a:ext>
            </a:extLst>
          </p:cNvPr>
          <p:cNvSpPr>
            <a:spLocks noGrp="1"/>
          </p:cNvSpPr>
          <p:nvPr/>
        </p:nvSpPr>
        <p:spPr>
          <a:xfrm>
            <a:off x="6000750" y="296227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1DF1CA-5E73-471B-B2BA-4644A6C18049}"/>
              </a:ext>
            </a:extLst>
          </p:cNvPr>
          <p:cNvSpPr>
            <a:spLocks noGrp="1"/>
          </p:cNvSpPr>
          <p:nvPr/>
        </p:nvSpPr>
        <p:spPr>
          <a:xfrm>
            <a:off x="6000750" y="3314700"/>
            <a:ext cx="2343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45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35.60%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5982F5-840F-48E9-A612-7932E1EBA5F9}"/>
              </a:ext>
            </a:extLst>
          </p:cNvPr>
          <p:cNvSpPr>
            <a:spLocks noGrp="1"/>
          </p:cNvSpPr>
          <p:nvPr/>
        </p:nvSpPr>
        <p:spPr>
          <a:xfrm>
            <a:off x="6000750" y="4057650"/>
            <a:ext cx="234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TODAY'S GROSS MARGIN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6000750" y="4391025"/>
            <a:ext cx="2343150" cy="0"/>
          </a:xfrm>
          <a:prstGeom prst="straightConnector1">
            <a:avLst/>
          </a:prstGeom>
          <a:ln w="9525">
            <a:solidFill>
              <a:srgbClr val="E5DED3"/>
            </a:solidFill>
            <a:prstDash val="solid"/>
          </a:ln>
        </p:spPr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364ED636-44D3-46AC-812D-3A35FC84B7F2}"/>
              </a:ext>
            </a:extLst>
          </p:cNvPr>
          <p:cNvSpPr>
            <a:spLocks noGrp="1"/>
          </p:cNvSpPr>
          <p:nvPr/>
        </p:nvSpPr>
        <p:spPr>
          <a:xfrm>
            <a:off x="6000750" y="4514850"/>
            <a:ext cx="2343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RM71.20 gross profit  ·  RM200 sales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6F53B1A-BE83-4090-86F8-0117A69A8496}"/>
              </a:ext>
            </a:extLst>
          </p:cNvPr>
          <p:cNvSpPr>
            <a:spLocks noGrp="1"/>
          </p:cNvSpPr>
          <p:nvPr/>
        </p:nvSpPr>
        <p:spPr>
          <a:xfrm>
            <a:off x="8858250" y="1543050"/>
            <a:ext cx="2762250" cy="1104900"/>
          </a:xfrm>
          <a:prstGeom prst="roundRect">
            <a:avLst>
              <a:gd name="adj" fmla="val 6897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B69046C-B505-4443-9ADD-0DA138245CCE}"/>
              </a:ext>
            </a:extLst>
          </p:cNvPr>
          <p:cNvSpPr>
            <a:spLocks noGrp="1"/>
          </p:cNvSpPr>
          <p:nvPr/>
        </p:nvSpPr>
        <p:spPr>
          <a:xfrm>
            <a:off x="9029700" y="1695450"/>
            <a:ext cx="1466850" cy="22860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E121FE6-DE4E-44E2-A28F-7E621C565393}"/>
              </a:ext>
            </a:extLst>
          </p:cNvPr>
          <p:cNvSpPr>
            <a:spLocks noGrp="1"/>
          </p:cNvSpPr>
          <p:nvPr/>
        </p:nvSpPr>
        <p:spPr>
          <a:xfrm>
            <a:off x="9029700" y="1704975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CONFIRMATION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C31336-08C7-404A-9EA4-BAD17D19CB8F}"/>
              </a:ext>
            </a:extLst>
          </p:cNvPr>
          <p:cNvSpPr>
            <a:spLocks noGrp="1"/>
          </p:cNvSpPr>
          <p:nvPr/>
        </p:nvSpPr>
        <p:spPr>
          <a:xfrm>
            <a:off x="9029700" y="20478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Tray size: 30 eggs?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6D645E0-D8EC-4C41-AC74-2F5B0D3A64FF}"/>
              </a:ext>
            </a:extLst>
          </p:cNvPr>
          <p:cNvSpPr>
            <a:spLocks noGrp="1"/>
          </p:cNvSpPr>
          <p:nvPr/>
        </p:nvSpPr>
        <p:spPr>
          <a:xfrm>
            <a:off x="10572750" y="2028825"/>
            <a:ext cx="876300" cy="257175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8C17014-4DAE-47D0-BD41-B9B5E3AD545E}"/>
              </a:ext>
            </a:extLst>
          </p:cNvPr>
          <p:cNvSpPr>
            <a:spLocks noGrp="1"/>
          </p:cNvSpPr>
          <p:nvPr/>
        </p:nvSpPr>
        <p:spPr>
          <a:xfrm>
            <a:off x="10572750" y="203835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6C5FA15-8985-490F-903E-E38ECE33F4D2}"/>
              </a:ext>
            </a:extLst>
          </p:cNvPr>
          <p:cNvSpPr>
            <a:spLocks noGrp="1"/>
          </p:cNvSpPr>
          <p:nvPr/>
        </p:nvSpPr>
        <p:spPr>
          <a:xfrm>
            <a:off x="8858250" y="3028950"/>
            <a:ext cx="276225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1430">
            <a:solidFill>
              <a:srgbClr val="C9C0B5"/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59EF668-8B9C-4979-93E2-6ABB77EF5637}"/>
              </a:ext>
            </a:extLst>
          </p:cNvPr>
          <p:cNvSpPr>
            <a:spLocks noGrp="1"/>
          </p:cNvSpPr>
          <p:nvPr/>
        </p:nvSpPr>
        <p:spPr>
          <a:xfrm>
            <a:off x="9029700" y="3181350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COST DRIVERS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67D02C4-3358-437F-8E6C-EAD2D0CA8277}"/>
              </a:ext>
            </a:extLst>
          </p:cNvPr>
          <p:cNvSpPr>
            <a:spLocks noGrp="1"/>
          </p:cNvSpPr>
          <p:nvPr/>
        </p:nvSpPr>
        <p:spPr>
          <a:xfrm>
            <a:off x="9029700" y="3524250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5DCAFE7-E5DE-4545-B7F6-B407D854409E}"/>
              </a:ext>
            </a:extLst>
          </p:cNvPr>
          <p:cNvSpPr>
            <a:spLocks noGrp="1"/>
          </p:cNvSpPr>
          <p:nvPr/>
        </p:nvSpPr>
        <p:spPr>
          <a:xfrm>
            <a:off x="9763125" y="3524250"/>
            <a:ext cx="1657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+RM0.18 / pack</a:t>
            </a:r>
          </a:p>
        </p:txBody>
      </p:sp>
      <p:cxnSp>
        <p:nvCxnSpPr>
          <p:cNvPr id="182" name="Straight Arrow Connector 181"/>
          <p:cNvCxnSpPr/>
          <p:nvPr/>
        </p:nvCxnSpPr>
        <p:spPr>
          <a:xfrm>
            <a:off x="9029700" y="3762375"/>
            <a:ext cx="2266950" cy="0"/>
          </a:xfrm>
          <a:prstGeom prst="straightConnector1">
            <a:avLst/>
          </a:prstGeom>
          <a:ln w="57150">
            <a:solidFill>
              <a:srgbClr val="E5DED3"/>
            </a:solidFill>
            <a:prstDash val="solid"/>
          </a:ln>
        </p:spPr>
      </p:cxnSp>
      <p:cxnSp>
        <p:nvCxnSpPr>
          <p:cNvPr id="183" name="Straight Arrow Connector 182"/>
          <p:cNvCxnSpPr/>
          <p:nvPr/>
        </p:nvCxnSpPr>
        <p:spPr>
          <a:xfrm>
            <a:off x="9029700" y="3762375"/>
            <a:ext cx="1632204" cy="0"/>
          </a:xfrm>
          <a:prstGeom prst="straightConnector1">
            <a:avLst/>
          </a:prstGeom>
          <a:ln w="57150">
            <a:solidFill>
              <a:srgbClr val="A8241C"/>
            </a:solidFill>
            <a:prstDash val="solid"/>
          </a:ln>
        </p:spPr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FA5E6B13-C4FF-4CB8-8FA5-2754FDF7B015}"/>
              </a:ext>
            </a:extLst>
          </p:cNvPr>
          <p:cNvSpPr>
            <a:spLocks noGrp="1"/>
          </p:cNvSpPr>
          <p:nvPr/>
        </p:nvSpPr>
        <p:spPr>
          <a:xfrm>
            <a:off x="9029700" y="395287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Oil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6DC86AC-2BAE-43FF-8042-92833B66A2C8}"/>
              </a:ext>
            </a:extLst>
          </p:cNvPr>
          <p:cNvSpPr>
            <a:spLocks noGrp="1"/>
          </p:cNvSpPr>
          <p:nvPr/>
        </p:nvSpPr>
        <p:spPr>
          <a:xfrm>
            <a:off x="9763125" y="3952875"/>
            <a:ext cx="1657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+RM0.06 / pack</a:t>
            </a:r>
          </a:p>
        </p:txBody>
      </p:sp>
      <p:cxnSp>
        <p:nvCxnSpPr>
          <p:cNvPr id="186" name="Straight Arrow Connector 185"/>
          <p:cNvCxnSpPr/>
          <p:nvPr/>
        </p:nvCxnSpPr>
        <p:spPr>
          <a:xfrm>
            <a:off x="9029700" y="4191000"/>
            <a:ext cx="2266950" cy="0"/>
          </a:xfrm>
          <a:prstGeom prst="straightConnector1">
            <a:avLst/>
          </a:prstGeom>
          <a:ln w="57150">
            <a:solidFill>
              <a:srgbClr val="E5DED3"/>
            </a:solidFill>
            <a:prstDash val="solid"/>
          </a:ln>
        </p:spPr>
      </p:cxnSp>
      <p:cxnSp>
        <p:nvCxnSpPr>
          <p:cNvPr id="187" name="Straight Arrow Connector 186"/>
          <p:cNvCxnSpPr/>
          <p:nvPr/>
        </p:nvCxnSpPr>
        <p:spPr>
          <a:xfrm>
            <a:off x="9029700" y="4191000"/>
            <a:ext cx="861441" cy="0"/>
          </a:xfrm>
          <a:prstGeom prst="straightConnector1">
            <a:avLst/>
          </a:prstGeom>
          <a:ln w="57150">
            <a:solidFill>
              <a:srgbClr val="D5A62E"/>
            </a:solidFill>
            <a:prstDash val="solid"/>
          </a:ln>
        </p:spPr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30B09FD4-C5F1-4196-8615-36D238A4E9DA}"/>
              </a:ext>
            </a:extLst>
          </p:cNvPr>
          <p:cNvSpPr>
            <a:spLocks noGrp="1"/>
          </p:cNvSpPr>
          <p:nvPr/>
        </p:nvSpPr>
        <p:spPr>
          <a:xfrm>
            <a:off x="9029700" y="4381500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8A17911-C73A-4231-8549-E18D6A942D10}"/>
              </a:ext>
            </a:extLst>
          </p:cNvPr>
          <p:cNvSpPr>
            <a:spLocks noGrp="1"/>
          </p:cNvSpPr>
          <p:nvPr/>
        </p:nvSpPr>
        <p:spPr>
          <a:xfrm>
            <a:off x="9763125" y="4381500"/>
            <a:ext cx="16573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cxnSp>
        <p:nvCxnSpPr>
          <p:cNvPr id="190" name="Straight Arrow Connector 189"/>
          <p:cNvCxnSpPr/>
          <p:nvPr/>
        </p:nvCxnSpPr>
        <p:spPr>
          <a:xfrm>
            <a:off x="9029700" y="4619625"/>
            <a:ext cx="2266950" cy="0"/>
          </a:xfrm>
          <a:prstGeom prst="straightConnector1">
            <a:avLst/>
          </a:prstGeom>
          <a:ln w="57150">
            <a:solidFill>
              <a:srgbClr val="E5DED3"/>
            </a:solidFill>
            <a:prstDash val="solid"/>
          </a:ln>
        </p:spPr>
      </p:cxnSp>
      <p:cxnSp>
        <p:nvCxnSpPr>
          <p:cNvPr id="191" name="Straight Arrow Connector 190"/>
          <p:cNvCxnSpPr/>
          <p:nvPr/>
        </p:nvCxnSpPr>
        <p:spPr>
          <a:xfrm>
            <a:off x="9029700" y="4619625"/>
            <a:ext cx="408051" cy="0"/>
          </a:xfrm>
          <a:prstGeom prst="straightConnector1">
            <a:avLst/>
          </a:prstGeom>
          <a:ln w="57150">
            <a:solidFill>
              <a:srgbClr val="2F7A57"/>
            </a:solidFill>
            <a:prstDash val="solid"/>
          </a:ln>
        </p:spPr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05ABB133-646C-43A2-9496-96BDF57D5B2F}"/>
              </a:ext>
            </a:extLst>
          </p:cNvPr>
          <p:cNvSpPr>
            <a:spLocks noGrp="1"/>
          </p:cNvSpPr>
          <p:nvPr/>
        </p:nvSpPr>
        <p:spPr>
          <a:xfrm>
            <a:off x="2952750" y="5095875"/>
            <a:ext cx="2143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8D0C0D1-1F9C-4E6D-89F2-CE7A4431258E}"/>
              </a:ext>
            </a:extLst>
          </p:cNvPr>
          <p:cNvSpPr>
            <a:spLocks noGrp="1"/>
          </p:cNvSpPr>
          <p:nvPr/>
        </p:nvSpPr>
        <p:spPr>
          <a:xfrm>
            <a:off x="2952750" y="5324475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DCECDF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8789A69-C969-4E4B-8D41-934C8406C1EC}"/>
              </a:ext>
            </a:extLst>
          </p:cNvPr>
          <p:cNvSpPr>
            <a:spLocks noGrp="1"/>
          </p:cNvSpPr>
          <p:nvPr/>
        </p:nvSpPr>
        <p:spPr>
          <a:xfrm>
            <a:off x="2952750" y="533400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Hold price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C134CCD-8597-40A8-8912-C9EBCE9491F7}"/>
              </a:ext>
            </a:extLst>
          </p:cNvPr>
          <p:cNvSpPr>
            <a:spLocks noGrp="1"/>
          </p:cNvSpPr>
          <p:nvPr/>
        </p:nvSpPr>
        <p:spPr>
          <a:xfrm>
            <a:off x="4029075" y="5324475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783D8DC-5A79-462A-B928-30DF789C9DC2}"/>
              </a:ext>
            </a:extLst>
          </p:cNvPr>
          <p:cNvSpPr>
            <a:spLocks noGrp="1"/>
          </p:cNvSpPr>
          <p:nvPr/>
        </p:nvSpPr>
        <p:spPr>
          <a:xfrm>
            <a:off x="4029075" y="53340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Reduce oil waste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466195C8-2A53-4EC0-B528-539A8F0B5513}"/>
              </a:ext>
            </a:extLst>
          </p:cNvPr>
          <p:cNvSpPr>
            <a:spLocks noGrp="1"/>
          </p:cNvSpPr>
          <p:nvPr/>
        </p:nvSpPr>
        <p:spPr>
          <a:xfrm>
            <a:off x="5429250" y="5324475"/>
            <a:ext cx="1581150" cy="285750"/>
          </a:xfrm>
          <a:prstGeom prst="roundRect">
            <a:avLst>
              <a:gd name="adj" fmla="val 50000"/>
            </a:avLst>
          </a:prstGeom>
          <a:solidFill>
            <a:srgbClr val="F6DAD5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81C4A55-02BD-4214-BE31-8DA5DB191B28}"/>
              </a:ext>
            </a:extLst>
          </p:cNvPr>
          <p:cNvSpPr>
            <a:spLocks noGrp="1"/>
          </p:cNvSpPr>
          <p:nvPr/>
        </p:nvSpPr>
        <p:spPr>
          <a:xfrm>
            <a:off x="5429250" y="53340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Test RM0.50 increase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E7B9921-1CAD-47D5-87EA-8122120C3A50}"/>
              </a:ext>
            </a:extLst>
          </p:cNvPr>
          <p:cNvSpPr>
            <a:spLocks noGrp="1"/>
          </p:cNvSpPr>
          <p:nvPr/>
        </p:nvSpPr>
        <p:spPr>
          <a:xfrm>
            <a:off x="7096125" y="5324475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DDE8F7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46E17A-DF4F-4939-8EF9-131744C0F147}"/>
              </a:ext>
            </a:extLst>
          </p:cNvPr>
          <p:cNvSpPr>
            <a:spLocks noGrp="1"/>
          </p:cNvSpPr>
          <p:nvPr/>
        </p:nvSpPr>
        <p:spPr>
          <a:xfrm>
            <a:off x="7096125" y="53340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356AC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56AC3"/>
                </a:solidFill>
                <a:latin typeface="Arial"/>
                <a:ea typeface="Arial"/>
                <a:cs typeface="Arial"/>
              </a:rPr>
              <a:t>Simulate volume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274C5B5-7287-4ABC-8B05-3C392F2F93D6}"/>
              </a:ext>
            </a:extLst>
          </p:cNvPr>
          <p:cNvSpPr>
            <a:spLocks noGrp="1"/>
          </p:cNvSpPr>
          <p:nvPr/>
        </p:nvSpPr>
        <p:spPr>
          <a:xfrm>
            <a:off x="8858250" y="5095875"/>
            <a:ext cx="2762250" cy="590550"/>
          </a:xfrm>
          <a:prstGeom prst="roundRect">
            <a:avLst>
              <a:gd name="adj" fmla="val 9677"/>
            </a:avLst>
          </a:prstGeom>
          <a:solidFill>
            <a:srgbClr val="ECE8E0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D03F898-AF7C-42DA-8327-AF0E72A7E3F1}"/>
              </a:ext>
            </a:extLst>
          </p:cNvPr>
          <p:cNvSpPr>
            <a:spLocks noGrp="1"/>
          </p:cNvSpPr>
          <p:nvPr/>
        </p:nvSpPr>
        <p:spPr>
          <a:xfrm>
            <a:off x="8991600" y="5210175"/>
            <a:ext cx="2495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14:34 MYT  ·  8 evidence items  ·  94% confidence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184B721-1639-46E0-BE3B-D26E58EC5AD6}"/>
              </a:ext>
            </a:extLst>
          </p:cNvPr>
          <p:cNvSpPr>
            <a:spLocks noGrp="1"/>
          </p:cNvSpPr>
          <p:nvPr/>
        </p:nvSpPr>
        <p:spPr>
          <a:xfrm>
            <a:off x="8991600" y="5429250"/>
            <a:ext cx="2495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Deterministic calculation v1.3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FCBE59-2E14-45D6-B957-258A8EDDD457}"/>
              </a:ext>
            </a:extLst>
          </p:cNvPr>
          <p:cNvSpPr>
            <a:spLocks noGrp="1"/>
          </p:cNvSpPr>
          <p:nvPr/>
        </p:nvSpPr>
        <p:spPr>
          <a:xfrm>
            <a:off x="533400" y="60388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 forms. No spreadsheet setup. One verified daily answer.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53A032F-B7CF-4A27-A94B-3D11AE959A5C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BF9CE66-8228-47ED-9562-C38C0B4686F3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029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121E42F0-1512-4FA7-ABD9-DF7C824EEEE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18885-46B4-4C00-84A1-1DE85E3BD51B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Five visible handoffs from input to action.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838200" y="1790700"/>
            <a:ext cx="10420350" cy="0"/>
          </a:xfrm>
          <a:prstGeom prst="straightConnector1">
            <a:avLst/>
          </a:prstGeom>
          <a:ln w="19050">
            <a:solidFill>
              <a:srgbClr val="251B17"/>
            </a:solidFill>
            <a:prstDash val="solid"/>
          </a:ln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09CFE38-0991-463C-808B-457FD9D4D93F}"/>
              </a:ext>
            </a:extLst>
          </p:cNvPr>
          <p:cNvSpPr>
            <a:spLocks noGrp="1"/>
          </p:cNvSpPr>
          <p:nvPr/>
        </p:nvSpPr>
        <p:spPr>
          <a:xfrm>
            <a:off x="1400175" y="1600200"/>
            <a:ext cx="381000" cy="381000"/>
          </a:xfrm>
          <a:prstGeom prst="ellipse">
            <a:avLst/>
          </a:prstGeom>
          <a:solidFill>
            <a:srgbClr val="356AC3"/>
          </a:solidFill>
          <a:ln w="28575">
            <a:solidFill>
              <a:srgbClr val="FBFAF7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62A39-2DC7-4AB3-B627-6125331101BC}"/>
              </a:ext>
            </a:extLst>
          </p:cNvPr>
          <p:cNvSpPr>
            <a:spLocks noGrp="1"/>
          </p:cNvSpPr>
          <p:nvPr/>
        </p:nvSpPr>
        <p:spPr>
          <a:xfrm>
            <a:off x="1400175" y="16002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5CE3-316A-4D49-B9F6-EFB3CEB4341C}"/>
              </a:ext>
            </a:extLst>
          </p:cNvPr>
          <p:cNvSpPr>
            <a:spLocks noGrp="1"/>
          </p:cNvSpPr>
          <p:nvPr/>
        </p:nvSpPr>
        <p:spPr>
          <a:xfrm>
            <a:off x="523875" y="20764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B2DE8F-331C-4E94-A4FC-4B2A17B050D4}"/>
              </a:ext>
            </a:extLst>
          </p:cNvPr>
          <p:cNvSpPr>
            <a:spLocks noGrp="1"/>
          </p:cNvSpPr>
          <p:nvPr/>
        </p:nvSpPr>
        <p:spPr>
          <a:xfrm>
            <a:off x="523875" y="2419350"/>
            <a:ext cx="2133600" cy="2381250"/>
          </a:xfrm>
          <a:prstGeom prst="roundRect">
            <a:avLst>
              <a:gd name="adj" fmla="val 3571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B38CC3-EEB4-4ABE-9E3D-B98904CC3639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19431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" y="3101031"/>
            <a:ext cx="1828800" cy="617838"/>
          </a:xfrm>
          <a:prstGeom prst="roundRect">
            <a:avLst>
              <a:gd name="adj" fmla="val 1149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FB11B0-FE5E-45CC-AF63-F2F956BA85CD}"/>
              </a:ext>
            </a:extLst>
          </p:cNvPr>
          <p:cNvSpPr>
            <a:spLocks noGrp="1"/>
          </p:cNvSpPr>
          <p:nvPr/>
        </p:nvSpPr>
        <p:spPr>
          <a:xfrm>
            <a:off x="657225" y="44005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Voice, receipt, or purchase enters naturally.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E3D48C-1D11-4419-8AD4-A04EE8D12FE6}"/>
              </a:ext>
            </a:extLst>
          </p:cNvPr>
          <p:cNvSpPr>
            <a:spLocks noGrp="1"/>
          </p:cNvSpPr>
          <p:nvPr/>
        </p:nvSpPr>
        <p:spPr>
          <a:xfrm>
            <a:off x="3648075" y="1600200"/>
            <a:ext cx="381000" cy="381000"/>
          </a:xfrm>
          <a:prstGeom prst="ellipse">
            <a:avLst/>
          </a:prstGeom>
          <a:solidFill>
            <a:srgbClr val="6E665F"/>
          </a:solidFill>
          <a:ln w="28575">
            <a:solidFill>
              <a:srgbClr val="FBFAF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98361-0D56-4D6F-9F46-2BD04B87414C}"/>
              </a:ext>
            </a:extLst>
          </p:cNvPr>
          <p:cNvSpPr>
            <a:spLocks noGrp="1"/>
          </p:cNvSpPr>
          <p:nvPr/>
        </p:nvSpPr>
        <p:spPr>
          <a:xfrm>
            <a:off x="3648075" y="16002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FB34ED-8D37-456F-8A4D-718113368098}"/>
              </a:ext>
            </a:extLst>
          </p:cNvPr>
          <p:cNvSpPr>
            <a:spLocks noGrp="1"/>
          </p:cNvSpPr>
          <p:nvPr/>
        </p:nvSpPr>
        <p:spPr>
          <a:xfrm>
            <a:off x="2771775" y="20764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38849A-CF5E-486E-BA28-4A569E07471F}"/>
              </a:ext>
            </a:extLst>
          </p:cNvPr>
          <p:cNvSpPr>
            <a:spLocks noGrp="1"/>
          </p:cNvSpPr>
          <p:nvPr/>
        </p:nvSpPr>
        <p:spPr>
          <a:xfrm>
            <a:off x="2771775" y="2419350"/>
            <a:ext cx="2133600" cy="2381250"/>
          </a:xfrm>
          <a:prstGeom prst="roundRect">
            <a:avLst>
              <a:gd name="adj" fmla="val 3571"/>
            </a:avLst>
          </a:prstGeom>
          <a:solidFill>
            <a:srgbClr val="ECE8E0"/>
          </a:solidFill>
          <a:ln w="14288">
            <a:solidFill>
              <a:srgbClr val="6E665F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631107-F569-4A1C-9403-A251BF5F735B}"/>
              </a:ext>
            </a:extLst>
          </p:cNvPr>
          <p:cNvSpPr>
            <a:spLocks noGrp="1"/>
          </p:cNvSpPr>
          <p:nvPr/>
        </p:nvSpPr>
        <p:spPr>
          <a:xfrm>
            <a:off x="2867025" y="2524125"/>
            <a:ext cx="19431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F66B4B-2C97-446D-9492-D75C01E2C217}"/>
              </a:ext>
            </a:extLst>
          </p:cNvPr>
          <p:cNvSpPr>
            <a:spLocks noGrp="1"/>
          </p:cNvSpPr>
          <p:nvPr/>
        </p:nvSpPr>
        <p:spPr>
          <a:xfrm>
            <a:off x="2981325" y="2647950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EXTRACTED PURCHASE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8667CC-CD22-45A0-BCC8-E0100BACC0A1}"/>
              </a:ext>
            </a:extLst>
          </p:cNvPr>
          <p:cNvSpPr>
            <a:spLocks noGrp="1"/>
          </p:cNvSpPr>
          <p:nvPr/>
        </p:nvSpPr>
        <p:spPr>
          <a:xfrm>
            <a:off x="2981325" y="2876550"/>
            <a:ext cx="571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DE8965-8484-4AE1-ACC7-14BCB5F38D23}"/>
              </a:ext>
            </a:extLst>
          </p:cNvPr>
          <p:cNvSpPr>
            <a:spLocks noGrp="1"/>
          </p:cNvSpPr>
          <p:nvPr/>
        </p:nvSpPr>
        <p:spPr>
          <a:xfrm>
            <a:off x="3562350" y="2857500"/>
            <a:ext cx="1095375" cy="209550"/>
          </a:xfrm>
          <a:prstGeom prst="roundRect">
            <a:avLst>
              <a:gd name="adj" fmla="val 9091"/>
            </a:avLst>
          </a:prstGeom>
          <a:solidFill>
            <a:srgbClr val="FBFAF7"/>
          </a:solidFill>
          <a:ln w="9525">
            <a:solidFill>
              <a:srgbClr val="E5DED3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DDCD2-DA80-4F55-98CC-B28B9A2967AF}"/>
              </a:ext>
            </a:extLst>
          </p:cNvPr>
          <p:cNvSpPr>
            <a:spLocks noGrp="1"/>
          </p:cNvSpPr>
          <p:nvPr/>
        </p:nvSpPr>
        <p:spPr>
          <a:xfrm>
            <a:off x="3629025" y="2876550"/>
            <a:ext cx="9620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3D043C-2508-4B90-B5D9-57F7C2E85D21}"/>
              </a:ext>
            </a:extLst>
          </p:cNvPr>
          <p:cNvSpPr>
            <a:spLocks noGrp="1"/>
          </p:cNvSpPr>
          <p:nvPr/>
        </p:nvSpPr>
        <p:spPr>
          <a:xfrm>
            <a:off x="2981325" y="3152775"/>
            <a:ext cx="571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5C0DAD-7AF7-437F-A287-7FA215616E09}"/>
              </a:ext>
            </a:extLst>
          </p:cNvPr>
          <p:cNvSpPr>
            <a:spLocks noGrp="1"/>
          </p:cNvSpPr>
          <p:nvPr/>
        </p:nvSpPr>
        <p:spPr>
          <a:xfrm>
            <a:off x="3562350" y="3133725"/>
            <a:ext cx="1095375" cy="209550"/>
          </a:xfrm>
          <a:prstGeom prst="roundRect">
            <a:avLst>
              <a:gd name="adj" fmla="val 9091"/>
            </a:avLst>
          </a:prstGeom>
          <a:solidFill>
            <a:srgbClr val="FBFAF7"/>
          </a:solidFill>
          <a:ln w="9525">
            <a:solidFill>
              <a:srgbClr val="E5DED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7B2F65-1C06-4CCB-B4DB-9316AC0342E2}"/>
              </a:ext>
            </a:extLst>
          </p:cNvPr>
          <p:cNvSpPr>
            <a:spLocks noGrp="1"/>
          </p:cNvSpPr>
          <p:nvPr/>
        </p:nvSpPr>
        <p:spPr>
          <a:xfrm>
            <a:off x="3629025" y="3152775"/>
            <a:ext cx="9620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 tray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424D34-156E-49A6-9509-1A7BC693DB79}"/>
              </a:ext>
            </a:extLst>
          </p:cNvPr>
          <p:cNvSpPr>
            <a:spLocks noGrp="1"/>
          </p:cNvSpPr>
          <p:nvPr/>
        </p:nvSpPr>
        <p:spPr>
          <a:xfrm>
            <a:off x="2981325" y="3429000"/>
            <a:ext cx="571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711213-38C6-4E34-8B34-7955F6C31884}"/>
              </a:ext>
            </a:extLst>
          </p:cNvPr>
          <p:cNvSpPr>
            <a:spLocks noGrp="1"/>
          </p:cNvSpPr>
          <p:nvPr/>
        </p:nvSpPr>
        <p:spPr>
          <a:xfrm>
            <a:off x="3562350" y="3409950"/>
            <a:ext cx="1095375" cy="209550"/>
          </a:xfrm>
          <a:prstGeom prst="roundRect">
            <a:avLst>
              <a:gd name="adj" fmla="val 9091"/>
            </a:avLst>
          </a:prstGeom>
          <a:solidFill>
            <a:srgbClr val="FBFAF7"/>
          </a:solidFill>
          <a:ln w="9525">
            <a:solidFill>
              <a:srgbClr val="E5DED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01216F-65AA-4907-930B-CA6AC3F5257F}"/>
              </a:ext>
            </a:extLst>
          </p:cNvPr>
          <p:cNvSpPr>
            <a:spLocks noGrp="1"/>
          </p:cNvSpPr>
          <p:nvPr/>
        </p:nvSpPr>
        <p:spPr>
          <a:xfrm>
            <a:off x="3629025" y="3429000"/>
            <a:ext cx="9620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30 eggs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2B8E6-BCDA-4874-A9FF-56F2BD53B979}"/>
              </a:ext>
            </a:extLst>
          </p:cNvPr>
          <p:cNvSpPr>
            <a:spLocks noGrp="1"/>
          </p:cNvSpPr>
          <p:nvPr/>
        </p:nvSpPr>
        <p:spPr>
          <a:xfrm>
            <a:off x="2981325" y="3705225"/>
            <a:ext cx="571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9A9BDD-868B-4B02-82F9-3E30F93CFC19}"/>
              </a:ext>
            </a:extLst>
          </p:cNvPr>
          <p:cNvSpPr>
            <a:spLocks noGrp="1"/>
          </p:cNvSpPr>
          <p:nvPr/>
        </p:nvSpPr>
        <p:spPr>
          <a:xfrm>
            <a:off x="3562350" y="3686175"/>
            <a:ext cx="1095375" cy="209550"/>
          </a:xfrm>
          <a:prstGeom prst="roundRect">
            <a:avLst>
              <a:gd name="adj" fmla="val 9091"/>
            </a:avLst>
          </a:prstGeom>
          <a:solidFill>
            <a:srgbClr val="FBFAF7"/>
          </a:solidFill>
          <a:ln w="9525">
            <a:solidFill>
              <a:srgbClr val="E5DED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577F3F-6B4E-4DCB-84DC-4317BE9F7AE9}"/>
              </a:ext>
            </a:extLst>
          </p:cNvPr>
          <p:cNvSpPr>
            <a:spLocks noGrp="1"/>
          </p:cNvSpPr>
          <p:nvPr/>
        </p:nvSpPr>
        <p:spPr>
          <a:xfrm>
            <a:off x="3629025" y="3705225"/>
            <a:ext cx="9620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RM15.00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6486F-D0D1-4DB9-A526-5D1E7B3B8331}"/>
              </a:ext>
            </a:extLst>
          </p:cNvPr>
          <p:cNvSpPr>
            <a:spLocks noGrp="1"/>
          </p:cNvSpPr>
          <p:nvPr/>
        </p:nvSpPr>
        <p:spPr>
          <a:xfrm>
            <a:off x="2981325" y="4019550"/>
            <a:ext cx="990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6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72% confidence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3971925" y="4095750"/>
            <a:ext cx="647700" cy="0"/>
          </a:xfrm>
          <a:prstGeom prst="straightConnector1">
            <a:avLst/>
          </a:prstGeom>
          <a:ln w="47625">
            <a:solidFill>
              <a:srgbClr val="E5DED3"/>
            </a:solidFill>
            <a:prstDash val="solid"/>
          </a:ln>
        </p:spPr>
      </p:cxnSp>
      <p:cxnSp>
        <p:nvCxnSpPr>
          <p:cNvPr id="104" name="Straight Arrow Connector 103"/>
          <p:cNvCxnSpPr/>
          <p:nvPr/>
        </p:nvCxnSpPr>
        <p:spPr>
          <a:xfrm>
            <a:off x="3971925" y="4095750"/>
            <a:ext cx="466725" cy="0"/>
          </a:xfrm>
          <a:prstGeom prst="straightConnector1">
            <a:avLst/>
          </a:prstGeom>
          <a:ln w="47625">
            <a:solidFill>
              <a:srgbClr val="D5A62E"/>
            </a:solidFill>
            <a:prstDash val="soli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14171C6-DF55-4A14-BE72-07D720D6B968}"/>
              </a:ext>
            </a:extLst>
          </p:cNvPr>
          <p:cNvSpPr>
            <a:spLocks noGrp="1"/>
          </p:cNvSpPr>
          <p:nvPr/>
        </p:nvSpPr>
        <p:spPr>
          <a:xfrm>
            <a:off x="2905125" y="44005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Items, units, and prices become visible facts.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D48145E-05F2-4408-9C61-BDA1AD4906E1}"/>
              </a:ext>
            </a:extLst>
          </p:cNvPr>
          <p:cNvSpPr>
            <a:spLocks noGrp="1"/>
          </p:cNvSpPr>
          <p:nvPr/>
        </p:nvSpPr>
        <p:spPr>
          <a:xfrm>
            <a:off x="5895975" y="1600200"/>
            <a:ext cx="381000" cy="381000"/>
          </a:xfrm>
          <a:prstGeom prst="ellipse">
            <a:avLst/>
          </a:prstGeom>
          <a:solidFill>
            <a:srgbClr val="D5A62E"/>
          </a:solidFill>
          <a:ln w="28575">
            <a:solidFill>
              <a:srgbClr val="FBFAF7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D856BA-B96E-449F-99F9-51B1938F1DA9}"/>
              </a:ext>
            </a:extLst>
          </p:cNvPr>
          <p:cNvSpPr>
            <a:spLocks noGrp="1"/>
          </p:cNvSpPr>
          <p:nvPr/>
        </p:nvSpPr>
        <p:spPr>
          <a:xfrm>
            <a:off x="5895975" y="16002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1D62A1-66D0-41CB-B800-DA7866077C0B}"/>
              </a:ext>
            </a:extLst>
          </p:cNvPr>
          <p:cNvSpPr>
            <a:spLocks noGrp="1"/>
          </p:cNvSpPr>
          <p:nvPr/>
        </p:nvSpPr>
        <p:spPr>
          <a:xfrm>
            <a:off x="5019675" y="20764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FCED776-0E16-4E64-BD17-67688FE269A6}"/>
              </a:ext>
            </a:extLst>
          </p:cNvPr>
          <p:cNvSpPr>
            <a:spLocks noGrp="1"/>
          </p:cNvSpPr>
          <p:nvPr/>
        </p:nvSpPr>
        <p:spPr>
          <a:xfrm>
            <a:off x="5019675" y="2419350"/>
            <a:ext cx="2133600" cy="2381250"/>
          </a:xfrm>
          <a:prstGeom prst="roundRect">
            <a:avLst>
              <a:gd name="adj" fmla="val 3571"/>
            </a:avLst>
          </a:prstGeom>
          <a:solidFill>
            <a:srgbClr val="F5E9BE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843B8A1-6C9E-42E5-9A4F-DBF5D900B159}"/>
              </a:ext>
            </a:extLst>
          </p:cNvPr>
          <p:cNvSpPr>
            <a:spLocks noGrp="1"/>
          </p:cNvSpPr>
          <p:nvPr/>
        </p:nvSpPr>
        <p:spPr>
          <a:xfrm>
            <a:off x="5114925" y="2524125"/>
            <a:ext cx="19431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50634EE-17F6-454F-8674-8DDFC04BBEFF}"/>
              </a:ext>
            </a:extLst>
          </p:cNvPr>
          <p:cNvSpPr>
            <a:spLocks noGrp="1"/>
          </p:cNvSpPr>
          <p:nvPr/>
        </p:nvSpPr>
        <p:spPr>
          <a:xfrm>
            <a:off x="5229225" y="2657475"/>
            <a:ext cx="1352550" cy="20955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E37F63-C1B5-46B9-B6DA-2ADE0F12F9C0}"/>
              </a:ext>
            </a:extLst>
          </p:cNvPr>
          <p:cNvSpPr>
            <a:spLocks noGrp="1"/>
          </p:cNvSpPr>
          <p:nvPr/>
        </p:nvSpPr>
        <p:spPr>
          <a:xfrm>
            <a:off x="5229225" y="266700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CONFIRMATION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7386D0-17AA-43F5-996E-5441B5E16EA4}"/>
              </a:ext>
            </a:extLst>
          </p:cNvPr>
          <p:cNvSpPr>
            <a:spLocks noGrp="1"/>
          </p:cNvSpPr>
          <p:nvPr/>
        </p:nvSpPr>
        <p:spPr>
          <a:xfrm>
            <a:off x="5229225" y="30003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What does one tray mean?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39391E-A335-477A-839D-10852F26161C}"/>
              </a:ext>
            </a:extLst>
          </p:cNvPr>
          <p:cNvSpPr>
            <a:spLocks noGrp="1"/>
          </p:cNvSpPr>
          <p:nvPr/>
        </p:nvSpPr>
        <p:spPr>
          <a:xfrm>
            <a:off x="5286375" y="33909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Choose the unit before margin is updated.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FE9A03E-6B42-4F75-B449-2309236BCF4C}"/>
              </a:ext>
            </a:extLst>
          </p:cNvPr>
          <p:cNvSpPr>
            <a:spLocks noGrp="1"/>
          </p:cNvSpPr>
          <p:nvPr/>
        </p:nvSpPr>
        <p:spPr>
          <a:xfrm>
            <a:off x="5248275" y="378142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38584C-1424-4E43-BC00-EFC34C06ED49}"/>
              </a:ext>
            </a:extLst>
          </p:cNvPr>
          <p:cNvSpPr>
            <a:spLocks noGrp="1"/>
          </p:cNvSpPr>
          <p:nvPr/>
        </p:nvSpPr>
        <p:spPr>
          <a:xfrm>
            <a:off x="5248275" y="37909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 eggs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9140FB8-3420-4079-B300-7017E5A96139}"/>
              </a:ext>
            </a:extLst>
          </p:cNvPr>
          <p:cNvSpPr>
            <a:spLocks noGrp="1"/>
          </p:cNvSpPr>
          <p:nvPr/>
        </p:nvSpPr>
        <p:spPr>
          <a:xfrm>
            <a:off x="6086475" y="378142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E10AE-1C56-423E-9B41-0CF2A9DDE5A3}"/>
              </a:ext>
            </a:extLst>
          </p:cNvPr>
          <p:cNvSpPr>
            <a:spLocks noGrp="1"/>
          </p:cNvSpPr>
          <p:nvPr/>
        </p:nvSpPr>
        <p:spPr>
          <a:xfrm>
            <a:off x="6086475" y="37909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FCF3EF-4E99-4DB5-AF2F-57829DD8C2F1}"/>
              </a:ext>
            </a:extLst>
          </p:cNvPr>
          <p:cNvSpPr>
            <a:spLocks noGrp="1"/>
          </p:cNvSpPr>
          <p:nvPr/>
        </p:nvSpPr>
        <p:spPr>
          <a:xfrm>
            <a:off x="5153025" y="44005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Ambiguity waits for merchant approval.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33E439C-5A56-4D21-A84C-4FEFDDA95ECE}"/>
              </a:ext>
            </a:extLst>
          </p:cNvPr>
          <p:cNvSpPr>
            <a:spLocks noGrp="1"/>
          </p:cNvSpPr>
          <p:nvPr/>
        </p:nvSpPr>
        <p:spPr>
          <a:xfrm>
            <a:off x="8143875" y="1600200"/>
            <a:ext cx="381000" cy="381000"/>
          </a:xfrm>
          <a:prstGeom prst="ellipse">
            <a:avLst/>
          </a:prstGeom>
          <a:solidFill>
            <a:srgbClr val="2F7A57"/>
          </a:solidFill>
          <a:ln w="28575">
            <a:solidFill>
              <a:srgbClr val="FBFAF7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23D5A57-8902-4008-8B59-39D77B64449B}"/>
              </a:ext>
            </a:extLst>
          </p:cNvPr>
          <p:cNvSpPr>
            <a:spLocks noGrp="1"/>
          </p:cNvSpPr>
          <p:nvPr/>
        </p:nvSpPr>
        <p:spPr>
          <a:xfrm>
            <a:off x="8143875" y="16002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1D8D23-72FF-421D-856E-E16DC6E6C833}"/>
              </a:ext>
            </a:extLst>
          </p:cNvPr>
          <p:cNvSpPr>
            <a:spLocks noGrp="1"/>
          </p:cNvSpPr>
          <p:nvPr/>
        </p:nvSpPr>
        <p:spPr>
          <a:xfrm>
            <a:off x="7267575" y="20764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7FF7D09-4C79-4659-9BFC-BAFEC13CB137}"/>
              </a:ext>
            </a:extLst>
          </p:cNvPr>
          <p:cNvSpPr>
            <a:spLocks noGrp="1"/>
          </p:cNvSpPr>
          <p:nvPr/>
        </p:nvSpPr>
        <p:spPr>
          <a:xfrm>
            <a:off x="7267575" y="2419350"/>
            <a:ext cx="2133600" cy="2381250"/>
          </a:xfrm>
          <a:prstGeom prst="roundRect">
            <a:avLst>
              <a:gd name="adj" fmla="val 3571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5EA4A7F-B91B-47C5-BD6E-49D3E2267913}"/>
              </a:ext>
            </a:extLst>
          </p:cNvPr>
          <p:cNvSpPr>
            <a:spLocks noGrp="1"/>
          </p:cNvSpPr>
          <p:nvPr/>
        </p:nvSpPr>
        <p:spPr>
          <a:xfrm>
            <a:off x="7362825" y="2524125"/>
            <a:ext cx="19431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pic>
        <p:nvPicPr>
          <p:cNvPr id="125" name="Picture 124"/>
          <p:cNvPicPr>
            <a:picLocks noChangeAspect="1"/>
          </p:cNvPicPr>
          <p:nvPr/>
        </p:nvPicPr>
        <p:blipFill>
          <a:blip r:embed="rId4"/>
          <a:srcRect t="14021" b="14021"/>
          <a:stretch>
            <a:fillRect/>
          </a:stretch>
        </p:blipFill>
        <p:spPr>
          <a:xfrm>
            <a:off x="7419975" y="2581275"/>
            <a:ext cx="1828800" cy="1657350"/>
          </a:xfrm>
          <a:prstGeom prst="roundRect">
            <a:avLst>
              <a:gd name="adj" fmla="val 1149"/>
            </a:avLst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5E0AEAE-3B0D-43EC-A3D3-EC344F1253EB}"/>
              </a:ext>
            </a:extLst>
          </p:cNvPr>
          <p:cNvSpPr>
            <a:spLocks noGrp="1"/>
          </p:cNvSpPr>
          <p:nvPr/>
        </p:nvSpPr>
        <p:spPr>
          <a:xfrm>
            <a:off x="7400925" y="44005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Deterministic math updates unit economics.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953AA3D-B1AC-486F-8F3B-70CDD2219779}"/>
              </a:ext>
            </a:extLst>
          </p:cNvPr>
          <p:cNvSpPr>
            <a:spLocks noGrp="1"/>
          </p:cNvSpPr>
          <p:nvPr/>
        </p:nvSpPr>
        <p:spPr>
          <a:xfrm>
            <a:off x="10391775" y="1600200"/>
            <a:ext cx="381000" cy="381000"/>
          </a:xfrm>
          <a:prstGeom prst="ellipse">
            <a:avLst/>
          </a:prstGeom>
          <a:solidFill>
            <a:srgbClr val="A8241C"/>
          </a:solidFill>
          <a:ln w="28575">
            <a:solidFill>
              <a:srgbClr val="FBFAF7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1BC9BF-D72A-4697-8539-0860B80A33E0}"/>
              </a:ext>
            </a:extLst>
          </p:cNvPr>
          <p:cNvSpPr>
            <a:spLocks noGrp="1"/>
          </p:cNvSpPr>
          <p:nvPr/>
        </p:nvSpPr>
        <p:spPr>
          <a:xfrm>
            <a:off x="10391775" y="16002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06839C-26A3-4281-9114-590EF4132863}"/>
              </a:ext>
            </a:extLst>
          </p:cNvPr>
          <p:cNvSpPr>
            <a:spLocks noGrp="1"/>
          </p:cNvSpPr>
          <p:nvPr/>
        </p:nvSpPr>
        <p:spPr>
          <a:xfrm>
            <a:off x="9515475" y="20764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1F1A42F-2C18-4751-82BA-CA39A7E77762}"/>
              </a:ext>
            </a:extLst>
          </p:cNvPr>
          <p:cNvSpPr>
            <a:spLocks noGrp="1"/>
          </p:cNvSpPr>
          <p:nvPr/>
        </p:nvSpPr>
        <p:spPr>
          <a:xfrm>
            <a:off x="9515475" y="2419350"/>
            <a:ext cx="2133600" cy="2381250"/>
          </a:xfrm>
          <a:prstGeom prst="roundRect">
            <a:avLst>
              <a:gd name="adj" fmla="val 3571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F409D47-2922-45CE-A67F-91AF06813080}"/>
              </a:ext>
            </a:extLst>
          </p:cNvPr>
          <p:cNvSpPr>
            <a:spLocks noGrp="1"/>
          </p:cNvSpPr>
          <p:nvPr/>
        </p:nvSpPr>
        <p:spPr>
          <a:xfrm>
            <a:off x="9610725" y="2524125"/>
            <a:ext cx="19431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C0B5"/>
            </a:solidFill>
            <a:prstDash val="solid"/>
          </a:ln>
        </p:spPr>
      </p:sp>
      <p:pic>
        <p:nvPicPr>
          <p:cNvPr id="132" name="Picture 131"/>
          <p:cNvPicPr>
            <a:picLocks noChangeAspect="1"/>
          </p:cNvPicPr>
          <p:nvPr/>
        </p:nvPicPr>
        <p:blipFill>
          <a:blip r:embed="rId5"/>
          <a:srcRect l="6650" r="6650"/>
          <a:stretch>
            <a:fillRect/>
          </a:stretch>
        </p:blipFill>
        <p:spPr>
          <a:xfrm>
            <a:off x="9667875" y="2581275"/>
            <a:ext cx="1828800" cy="1657350"/>
          </a:xfrm>
          <a:prstGeom prst="roundRect">
            <a:avLst>
              <a:gd name="adj" fmla="val 1149"/>
            </a:avLst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2E4D3A5A-4EFF-4E22-AEAA-EF1885794A6E}"/>
              </a:ext>
            </a:extLst>
          </p:cNvPr>
          <p:cNvSpPr>
            <a:spLocks noGrp="1"/>
          </p:cNvSpPr>
          <p:nvPr/>
        </p:nvSpPr>
        <p:spPr>
          <a:xfrm>
            <a:off x="9648825" y="44005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Scenarios turn margin into a next move.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BD0EECB-937E-4C28-AB1F-2672C5D4F825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11068050" cy="723900"/>
          </a:xfrm>
          <a:prstGeom prst="roundRect">
            <a:avLst>
              <a:gd name="adj" fmla="val 7895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C12EA4-37ED-4202-BA73-23F116A475F0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971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TRUST RAIL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C60591E-CDAE-4DD5-8981-4EE921A56879}"/>
              </a:ext>
            </a:extLst>
          </p:cNvPr>
          <p:cNvSpPr>
            <a:spLocks noGrp="1"/>
          </p:cNvSpPr>
          <p:nvPr/>
        </p:nvSpPr>
        <p:spPr>
          <a:xfrm>
            <a:off x="1828800" y="5314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input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08074B-8684-4DE6-ADF7-0C5937B24951}"/>
              </a:ext>
            </a:extLst>
          </p:cNvPr>
          <p:cNvSpPr>
            <a:spLocks noGrp="1"/>
          </p:cNvSpPr>
          <p:nvPr/>
        </p:nvSpPr>
        <p:spPr>
          <a:xfrm>
            <a:off x="3400425" y="52768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EE817E6-9CFD-4F4E-8F25-A814DB0820B9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ambiguity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8BAA79-C5D9-439A-BA47-66D6761892D8}"/>
              </a:ext>
            </a:extLst>
          </p:cNvPr>
          <p:cNvSpPr>
            <a:spLocks noGrp="1"/>
          </p:cNvSpPr>
          <p:nvPr/>
        </p:nvSpPr>
        <p:spPr>
          <a:xfrm>
            <a:off x="5286375" y="52768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5BF4718-C510-4F02-9201-7C5EF0D059EB}"/>
              </a:ext>
            </a:extLst>
          </p:cNvPr>
          <p:cNvSpPr>
            <a:spLocks noGrp="1"/>
          </p:cNvSpPr>
          <p:nvPr/>
        </p:nvSpPr>
        <p:spPr>
          <a:xfrm>
            <a:off x="5600700" y="5314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 approval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FFFBED-0EE5-4C79-B10C-9ECC7C7F2AE8}"/>
              </a:ext>
            </a:extLst>
          </p:cNvPr>
          <p:cNvSpPr>
            <a:spLocks noGrp="1"/>
          </p:cNvSpPr>
          <p:nvPr/>
        </p:nvSpPr>
        <p:spPr>
          <a:xfrm>
            <a:off x="7172325" y="52768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C480F8-140A-456E-80EB-511A5B74502D}"/>
              </a:ext>
            </a:extLst>
          </p:cNvPr>
          <p:cNvSpPr>
            <a:spLocks noGrp="1"/>
          </p:cNvSpPr>
          <p:nvPr/>
        </p:nvSpPr>
        <p:spPr>
          <a:xfrm>
            <a:off x="7486650" y="5314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deterministic math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25DF1E-97AD-4C5A-B326-8D05AF6FF514}"/>
              </a:ext>
            </a:extLst>
          </p:cNvPr>
          <p:cNvSpPr>
            <a:spLocks noGrp="1"/>
          </p:cNvSpPr>
          <p:nvPr/>
        </p:nvSpPr>
        <p:spPr>
          <a:xfrm>
            <a:off x="9058275" y="52768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7D034CF-593D-4C1F-A5FC-CCEA4532AC2C}"/>
              </a:ext>
            </a:extLst>
          </p:cNvPr>
          <p:cNvSpPr>
            <a:spLocks noGrp="1"/>
          </p:cNvSpPr>
          <p:nvPr/>
        </p:nvSpPr>
        <p:spPr>
          <a:xfrm>
            <a:off x="9372600" y="531495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explainable action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407F28D-5B3F-43FB-924E-AF29805851B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34F9D35-736A-4C2A-80D6-904C228E327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53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A74530BC-D0BA-4BDE-B701-139130433005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1352550" y="1428750"/>
            <a:ext cx="3333750" cy="990600"/>
          </a:xfrm>
          <a:prstGeom prst="straightConnector1">
            <a:avLst/>
          </a:prstGeom>
          <a:ln w="13335">
            <a:solidFill>
              <a:srgbClr val="81827C"/>
            </a:solidFill>
            <a:prstDash val="solid"/>
          </a:ln>
        </p:spPr>
      </p:cxnSp>
      <p:cxnSp>
        <p:nvCxnSpPr>
          <p:cNvPr id="96" name="Straight Arrow Connector 95"/>
          <p:cNvCxnSpPr/>
          <p:nvPr/>
        </p:nvCxnSpPr>
        <p:spPr>
          <a:xfrm>
            <a:off x="2647950" y="1428750"/>
            <a:ext cx="2038350" cy="990600"/>
          </a:xfrm>
          <a:prstGeom prst="straightConnector1">
            <a:avLst/>
          </a:prstGeom>
          <a:ln w="13335">
            <a:solidFill>
              <a:srgbClr val="81827C"/>
            </a:solidFill>
            <a:prstDash val="solid"/>
          </a:ln>
        </p:spPr>
      </p:cxnSp>
      <p:cxnSp>
        <p:nvCxnSpPr>
          <p:cNvPr id="98" name="Straight Arrow Connector 97"/>
          <p:cNvCxnSpPr/>
          <p:nvPr/>
        </p:nvCxnSpPr>
        <p:spPr>
          <a:xfrm>
            <a:off x="5238750" y="1428750"/>
            <a:ext cx="209550" cy="990600"/>
          </a:xfrm>
          <a:prstGeom prst="straightConnector1">
            <a:avLst/>
          </a:prstGeom>
          <a:ln w="13335">
            <a:solidFill>
              <a:srgbClr val="81827C"/>
            </a:solidFill>
            <a:prstDash val="solid"/>
          </a:ln>
        </p:spPr>
      </p:cxnSp>
      <p:cxnSp>
        <p:nvCxnSpPr>
          <p:cNvPr id="99" name="Straight Arrow Connector 98"/>
          <p:cNvCxnSpPr>
            <a:cxnSpLocks/>
            <a:endCxn id="44" idx="1"/>
          </p:cNvCxnSpPr>
          <p:nvPr/>
        </p:nvCxnSpPr>
        <p:spPr>
          <a:xfrm>
            <a:off x="2286000" y="2638425"/>
            <a:ext cx="1066800" cy="0"/>
          </a:xfrm>
          <a:prstGeom prst="straightConnector1">
            <a:avLst/>
          </a:prstGeom>
          <a:ln w="12383">
            <a:solidFill>
              <a:srgbClr val="FFFFFF"/>
            </a:solidFill>
            <a:prstDash val="solid"/>
          </a:ln>
        </p:spPr>
      </p:cxnSp>
      <p:cxnSp>
        <p:nvCxnSpPr>
          <p:cNvPr id="100" name="Straight Arrow Connector 99"/>
          <p:cNvCxnSpPr/>
          <p:nvPr/>
        </p:nvCxnSpPr>
        <p:spPr>
          <a:xfrm>
            <a:off x="3886200" y="2638425"/>
            <a:ext cx="723900" cy="0"/>
          </a:xfrm>
          <a:prstGeom prst="straightConnector1">
            <a:avLst/>
          </a:prstGeom>
          <a:ln w="12383">
            <a:solidFill>
              <a:srgbClr val="FFFFFF"/>
            </a:solidFill>
            <a:prstDash val="solid"/>
          </a:ln>
        </p:spPr>
      </p:cxnSp>
      <p:cxnSp>
        <p:nvCxnSpPr>
          <p:cNvPr id="101" name="Straight Arrow Connector 100"/>
          <p:cNvCxnSpPr/>
          <p:nvPr/>
        </p:nvCxnSpPr>
        <p:spPr>
          <a:xfrm>
            <a:off x="7715250" y="2638425"/>
            <a:ext cx="685800" cy="0"/>
          </a:xfrm>
          <a:prstGeom prst="straightConnector1">
            <a:avLst/>
          </a:prstGeom>
          <a:ln w="12383">
            <a:solidFill>
              <a:srgbClr val="FFFFFF"/>
            </a:solidFill>
            <a:prstDash val="solid"/>
          </a:ln>
        </p:spPr>
      </p:cxnSp>
      <p:cxnSp>
        <p:nvCxnSpPr>
          <p:cNvPr id="102" name="Straight Arrow Connector 101"/>
          <p:cNvCxnSpPr/>
          <p:nvPr/>
        </p:nvCxnSpPr>
        <p:spPr>
          <a:xfrm>
            <a:off x="7715250" y="3257550"/>
            <a:ext cx="685800" cy="0"/>
          </a:xfrm>
          <a:prstGeom prst="straightConnector1">
            <a:avLst/>
          </a:prstGeom>
          <a:ln w="12383">
            <a:solidFill>
              <a:srgbClr val="FFFFFF"/>
            </a:solidFill>
            <a:prstDash val="solid"/>
          </a:ln>
        </p:spPr>
      </p:cxnSp>
      <p:cxnSp>
        <p:nvCxnSpPr>
          <p:cNvPr id="103" name="Straight Arrow Connector 102"/>
          <p:cNvCxnSpPr/>
          <p:nvPr/>
        </p:nvCxnSpPr>
        <p:spPr>
          <a:xfrm>
            <a:off x="9544050" y="3714750"/>
            <a:ext cx="0" cy="619125"/>
          </a:xfrm>
          <a:prstGeom prst="straightConnector1">
            <a:avLst/>
          </a:prstGeom>
          <a:ln w="12383">
            <a:solidFill>
              <a:srgbClr val="FFFFFF"/>
            </a:solidFill>
            <a:prstDash val="solid"/>
          </a:ln>
        </p:spPr>
      </p:cxnSp>
      <p:cxnSp>
        <p:nvCxnSpPr>
          <p:cNvPr id="104" name="Straight Arrow Connector 103"/>
          <p:cNvCxnSpPr/>
          <p:nvPr/>
        </p:nvCxnSpPr>
        <p:spPr>
          <a:xfrm>
            <a:off x="3962400" y="4667250"/>
            <a:ext cx="247650" cy="0"/>
          </a:xfrm>
          <a:prstGeom prst="straightConnector1">
            <a:avLst/>
          </a:prstGeom>
          <a:ln w="11430">
            <a:solidFill>
              <a:srgbClr val="A6A7A1"/>
            </a:solidFill>
            <a:prstDash val="solid"/>
          </a:ln>
        </p:spPr>
      </p:cxnSp>
      <p:cxnSp>
        <p:nvCxnSpPr>
          <p:cNvPr id="105" name="Straight Arrow Connector 104"/>
          <p:cNvCxnSpPr/>
          <p:nvPr/>
        </p:nvCxnSpPr>
        <p:spPr>
          <a:xfrm>
            <a:off x="5162550" y="4667250"/>
            <a:ext cx="247650" cy="0"/>
          </a:xfrm>
          <a:prstGeom prst="straightConnector1">
            <a:avLst/>
          </a:prstGeom>
          <a:ln w="11430">
            <a:solidFill>
              <a:srgbClr val="A6A7A1"/>
            </a:solidFill>
            <a:prstDash val="solid"/>
          </a:ln>
        </p:spPr>
      </p:cxnSp>
      <p:cxnSp>
        <p:nvCxnSpPr>
          <p:cNvPr id="106" name="Straight Arrow Connector 105"/>
          <p:cNvCxnSpPr/>
          <p:nvPr/>
        </p:nvCxnSpPr>
        <p:spPr>
          <a:xfrm>
            <a:off x="7029450" y="4667250"/>
            <a:ext cx="247650" cy="0"/>
          </a:xfrm>
          <a:prstGeom prst="straightConnector1">
            <a:avLst/>
          </a:prstGeom>
          <a:ln w="11430">
            <a:solidFill>
              <a:srgbClr val="A6A7A1"/>
            </a:solidFill>
            <a:prstDash val="solid"/>
          </a:ln>
        </p:spPr>
      </p:cxnSp>
      <p:cxnSp>
        <p:nvCxnSpPr>
          <p:cNvPr id="107" name="Straight Arrow Connector 106"/>
          <p:cNvCxnSpPr/>
          <p:nvPr/>
        </p:nvCxnSpPr>
        <p:spPr>
          <a:xfrm>
            <a:off x="8801100" y="4667250"/>
            <a:ext cx="247650" cy="0"/>
          </a:xfrm>
          <a:prstGeom prst="straightConnector1">
            <a:avLst/>
          </a:prstGeom>
          <a:ln w="11430">
            <a:solidFill>
              <a:srgbClr val="A6A7A1"/>
            </a:solidFill>
            <a:prstDash val="solid"/>
          </a:ln>
        </p:spPr>
      </p:cxnSp>
      <p:cxnSp>
        <p:nvCxnSpPr>
          <p:cNvPr id="109" name="Straight Arrow Connector 108"/>
          <p:cNvCxnSpPr/>
          <p:nvPr/>
        </p:nvCxnSpPr>
        <p:spPr>
          <a:xfrm>
            <a:off x="7715250" y="3257550"/>
            <a:ext cx="685800" cy="0"/>
          </a:xfrm>
          <a:prstGeom prst="straightConnector1">
            <a:avLst/>
          </a:prstGeom>
          <a:ln w="13335">
            <a:solidFill>
              <a:srgbClr val="2F7A57"/>
            </a:solidFill>
            <a:prstDash val="solid"/>
          </a:ln>
        </p:spPr>
      </p:cxnSp>
      <p:cxnSp>
        <p:nvCxnSpPr>
          <p:cNvPr id="111" name="Straight Arrow Connector 110"/>
          <p:cNvCxnSpPr/>
          <p:nvPr/>
        </p:nvCxnSpPr>
        <p:spPr>
          <a:xfrm>
            <a:off x="7715250" y="3257550"/>
            <a:ext cx="2419350" cy="0"/>
          </a:xfrm>
          <a:prstGeom prst="straightConnector1">
            <a:avLst/>
          </a:prstGeom>
          <a:ln w="13335">
            <a:solidFill>
              <a:srgbClr val="2F7A57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EC131D6-E4DD-4B0E-937B-20699CE433BC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DF6D03-555F-4D91-AB2D-C623ADEB5641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066800" cy="590550"/>
          </a:xfrm>
          <a:prstGeom prst="roundRect">
            <a:avLst>
              <a:gd name="adj" fmla="val 9677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14" name="Graphic 1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4850" y="1009650"/>
            <a:ext cx="723900" cy="2667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B006845-6DE9-4B99-9F4A-9E212203CFDE}"/>
              </a:ext>
            </a:extLst>
          </p:cNvPr>
          <p:cNvSpPr>
            <a:spLocks noGrp="1"/>
          </p:cNvSpPr>
          <p:nvPr/>
        </p:nvSpPr>
        <p:spPr>
          <a:xfrm>
            <a:off x="581025" y="1314450"/>
            <a:ext cx="971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833"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Next.js</a:t>
            </a:r>
          </a:p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+ BFF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8AE1AB-BE7E-472E-BB4F-8409D2C57533}"/>
              </a:ext>
            </a:extLst>
          </p:cNvPr>
          <p:cNvSpPr>
            <a:spLocks noGrp="1"/>
          </p:cNvSpPr>
          <p:nvPr/>
        </p:nvSpPr>
        <p:spPr>
          <a:xfrm>
            <a:off x="1828800" y="933450"/>
            <a:ext cx="1066800" cy="590550"/>
          </a:xfrm>
          <a:prstGeom prst="roundRect">
            <a:avLst>
              <a:gd name="adj" fmla="val 9677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17" name="Graphic 1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000250" y="1009650"/>
            <a:ext cx="723900" cy="2667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625E26-5758-4037-AF68-BF35ED9A6F08}"/>
              </a:ext>
            </a:extLst>
          </p:cNvPr>
          <p:cNvSpPr>
            <a:spLocks noGrp="1"/>
          </p:cNvSpPr>
          <p:nvPr/>
        </p:nvSpPr>
        <p:spPr>
          <a:xfrm>
            <a:off x="1876425" y="1314450"/>
            <a:ext cx="971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 bot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D74AB47-E588-4849-B229-B1CA032473AD}"/>
              </a:ext>
            </a:extLst>
          </p:cNvPr>
          <p:cNvSpPr>
            <a:spLocks noGrp="1"/>
          </p:cNvSpPr>
          <p:nvPr/>
        </p:nvSpPr>
        <p:spPr>
          <a:xfrm>
            <a:off x="4419600" y="933450"/>
            <a:ext cx="1066800" cy="590550"/>
          </a:xfrm>
          <a:prstGeom prst="roundRect">
            <a:avLst>
              <a:gd name="adj" fmla="val 9677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24" name="Graphic 1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591050" y="1009650"/>
            <a:ext cx="723900" cy="2667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0063476-09CC-44CF-8233-0A6D3BEBC8CD}"/>
              </a:ext>
            </a:extLst>
          </p:cNvPr>
          <p:cNvSpPr>
            <a:spLocks noGrp="1"/>
          </p:cNvSpPr>
          <p:nvPr/>
        </p:nvSpPr>
        <p:spPr>
          <a:xfrm>
            <a:off x="4467225" y="1314450"/>
            <a:ext cx="971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Sheets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39A89A-FF42-4475-A085-19413E65170A}"/>
              </a:ext>
            </a:extLst>
          </p:cNvPr>
          <p:cNvSpPr>
            <a:spLocks noGrp="1"/>
          </p:cNvSpPr>
          <p:nvPr/>
        </p:nvSpPr>
        <p:spPr>
          <a:xfrm>
            <a:off x="4686300" y="1809750"/>
            <a:ext cx="3086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RUNTIME CORE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C31AEE3-3BF7-4990-8F39-CC4E3B191393}"/>
              </a:ext>
            </a:extLst>
          </p:cNvPr>
          <p:cNvSpPr>
            <a:spLocks noGrp="1"/>
          </p:cNvSpPr>
          <p:nvPr/>
        </p:nvSpPr>
        <p:spPr>
          <a:xfrm>
            <a:off x="4610100" y="2038350"/>
            <a:ext cx="31051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3813">
            <a:solidFill>
              <a:srgbClr val="2F7A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28" name="Graphic 1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800600" y="2209800"/>
            <a:ext cx="704850" cy="4191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30B50DE-13DF-4868-8D0B-F2898935D226}"/>
              </a:ext>
            </a:extLst>
          </p:cNvPr>
          <p:cNvSpPr>
            <a:spLocks noGrp="1"/>
          </p:cNvSpPr>
          <p:nvPr/>
        </p:nvSpPr>
        <p:spPr>
          <a:xfrm>
            <a:off x="5619750" y="21812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NODE.JS API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AE2A6D-BA67-407F-9B77-D2DF1DABA6DE}"/>
              </a:ext>
            </a:extLst>
          </p:cNvPr>
          <p:cNvSpPr>
            <a:spLocks noGrp="1"/>
          </p:cNvSpPr>
          <p:nvPr/>
        </p:nvSpPr>
        <p:spPr>
          <a:xfrm>
            <a:off x="4800600" y="2714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Deterministic business service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>
            <a:off x="4857750" y="3105150"/>
            <a:ext cx="2609850" cy="0"/>
          </a:xfrm>
          <a:prstGeom prst="straightConnector1">
            <a:avLst/>
          </a:prstGeom>
          <a:ln w="9525">
            <a:solidFill>
              <a:srgbClr val="E5DED3"/>
            </a:solidFill>
            <a:prstDash val="solid"/>
          </a:ln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89756FE-CC69-478A-981D-EDF3ED45764A}"/>
              </a:ext>
            </a:extLst>
          </p:cNvPr>
          <p:cNvSpPr>
            <a:spLocks noGrp="1"/>
          </p:cNvSpPr>
          <p:nvPr/>
        </p:nvSpPr>
        <p:spPr>
          <a:xfrm>
            <a:off x="4876800" y="321945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Validation  ·  margin math  ·  scenarios  ·  output routing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8E21EC-4FE0-4B13-BC9B-E3F683DAD90A}"/>
              </a:ext>
            </a:extLst>
          </p:cNvPr>
          <p:cNvSpPr>
            <a:spLocks noGrp="1"/>
          </p:cNvSpPr>
          <p:nvPr/>
        </p:nvSpPr>
        <p:spPr>
          <a:xfrm>
            <a:off x="2138363" y="21431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D5A62E"/>
                </a:solidFill>
                <a:latin typeface="Arial"/>
                <a:ea typeface="Arial"/>
                <a:cs typeface="Arial"/>
              </a:rPr>
              <a:t>AI ADAPTERS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53C3C73-DEA9-45B7-ADE3-5B9A1808A428}"/>
              </a:ext>
            </a:extLst>
          </p:cNvPr>
          <p:cNvSpPr>
            <a:spLocks noGrp="1"/>
          </p:cNvSpPr>
          <p:nvPr/>
        </p:nvSpPr>
        <p:spPr>
          <a:xfrm>
            <a:off x="2057400" y="2343150"/>
            <a:ext cx="1066800" cy="590550"/>
          </a:xfrm>
          <a:prstGeom prst="roundRect">
            <a:avLst>
              <a:gd name="adj" fmla="val 9677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35" name="Graphic 1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2228850" y="2419350"/>
            <a:ext cx="723900" cy="2667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1AFF5BCE-B9EE-4A70-B323-E12CBF7AE7B7}"/>
              </a:ext>
            </a:extLst>
          </p:cNvPr>
          <p:cNvSpPr>
            <a:spLocks noGrp="1"/>
          </p:cNvSpPr>
          <p:nvPr/>
        </p:nvSpPr>
        <p:spPr>
          <a:xfrm>
            <a:off x="2105025" y="2724150"/>
            <a:ext cx="971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833"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ElevenLabs</a:t>
            </a:r>
          </a:p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Scribe v2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2AE4F31-DF93-4481-B75D-F6E587233AE7}"/>
              </a:ext>
            </a:extLst>
          </p:cNvPr>
          <p:cNvSpPr>
            <a:spLocks noGrp="1"/>
          </p:cNvSpPr>
          <p:nvPr/>
        </p:nvSpPr>
        <p:spPr>
          <a:xfrm>
            <a:off x="3352800" y="2343150"/>
            <a:ext cx="1066800" cy="590550"/>
          </a:xfrm>
          <a:prstGeom prst="roundRect">
            <a:avLst>
              <a:gd name="adj" fmla="val 9677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38" name="Graphic 1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524250" y="2419350"/>
            <a:ext cx="723900" cy="2667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18CAF32-AF9A-442E-B512-C299E5CC3495}"/>
              </a:ext>
            </a:extLst>
          </p:cNvPr>
          <p:cNvSpPr>
            <a:spLocks noGrp="1"/>
          </p:cNvSpPr>
          <p:nvPr/>
        </p:nvSpPr>
        <p:spPr>
          <a:xfrm>
            <a:off x="3400425" y="2724150"/>
            <a:ext cx="971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833"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 /</a:t>
            </a:r>
          </a:p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DashScope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432840-42D8-49A3-85E7-3B2E540979B0}"/>
              </a:ext>
            </a:extLst>
          </p:cNvPr>
          <p:cNvSpPr>
            <a:spLocks noGrp="1"/>
          </p:cNvSpPr>
          <p:nvPr/>
        </p:nvSpPr>
        <p:spPr>
          <a:xfrm>
            <a:off x="2105025" y="3009900"/>
            <a:ext cx="971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A6A7A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A7A1"/>
                </a:solidFill>
                <a:latin typeface="Arial"/>
                <a:ea typeface="Arial"/>
                <a:cs typeface="Arial"/>
              </a:rPr>
              <a:t>voice only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3F3C47-1D82-47F5-8D96-BAB31B50095A}"/>
              </a:ext>
            </a:extLst>
          </p:cNvPr>
          <p:cNvSpPr>
            <a:spLocks noGrp="1"/>
          </p:cNvSpPr>
          <p:nvPr/>
        </p:nvSpPr>
        <p:spPr>
          <a:xfrm>
            <a:off x="3400425" y="3009900"/>
            <a:ext cx="9715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A6A7A1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A7A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1ABAB-15FD-42CE-AB65-D458FE5D4D08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219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OPERATIONAL STATE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9E85F7A-F33D-470C-8673-4E68E36563E9}"/>
              </a:ext>
            </a:extLst>
          </p:cNvPr>
          <p:cNvSpPr>
            <a:spLocks noGrp="1"/>
          </p:cNvSpPr>
          <p:nvPr/>
        </p:nvSpPr>
        <p:spPr>
          <a:xfrm>
            <a:off x="8401050" y="2133600"/>
            <a:ext cx="1352550" cy="781050"/>
          </a:xfrm>
          <a:prstGeom prst="roundRect">
            <a:avLst>
              <a:gd name="adj" fmla="val 7317"/>
            </a:avLst>
          </a:prstGeom>
          <a:solidFill>
            <a:srgbClr val="F5E9BE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8E4F40-7AD4-41C9-8164-9C77583B3F18}"/>
              </a:ext>
            </a:extLst>
          </p:cNvPr>
          <p:cNvSpPr>
            <a:spLocks noGrp="1"/>
          </p:cNvSpPr>
          <p:nvPr/>
        </p:nvSpPr>
        <p:spPr>
          <a:xfrm>
            <a:off x="8553450" y="2333625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IMMUTABLE</a:t>
            </a:r>
          </a:p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 FILES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E8D8814-3282-4FA9-97F7-AE6E8CD1B941}"/>
              </a:ext>
            </a:extLst>
          </p:cNvPr>
          <p:cNvSpPr>
            <a:spLocks noGrp="1"/>
          </p:cNvSpPr>
          <p:nvPr/>
        </p:nvSpPr>
        <p:spPr>
          <a:xfrm>
            <a:off x="8401050" y="3067050"/>
            <a:ext cx="1714500" cy="800100"/>
          </a:xfrm>
          <a:prstGeom prst="roundRect">
            <a:avLst>
              <a:gd name="adj" fmla="val 7143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cxnSp>
        <p:nvCxnSpPr>
          <p:cNvPr id="146" name="Straight Arrow Connector 145"/>
          <p:cNvCxnSpPr/>
          <p:nvPr/>
        </p:nvCxnSpPr>
        <p:spPr>
          <a:xfrm>
            <a:off x="8572500" y="3257550"/>
            <a:ext cx="1371600" cy="0"/>
          </a:xfrm>
          <a:prstGeom prst="straightConnector1">
            <a:avLst/>
          </a:prstGeom>
          <a:ln w="9525">
            <a:solidFill>
              <a:srgbClr val="356AC3"/>
            </a:solidFill>
            <a:prstDash val="solid"/>
          </a:ln>
        </p:spPr>
      </p:cxnSp>
      <p:cxnSp>
        <p:nvCxnSpPr>
          <p:cNvPr id="147" name="Straight Arrow Connector 146"/>
          <p:cNvCxnSpPr/>
          <p:nvPr/>
        </p:nvCxnSpPr>
        <p:spPr>
          <a:xfrm>
            <a:off x="8572500" y="3352800"/>
            <a:ext cx="1371600" cy="0"/>
          </a:xfrm>
          <a:prstGeom prst="straightConnector1">
            <a:avLst/>
          </a:prstGeom>
          <a:ln w="9525">
            <a:solidFill>
              <a:srgbClr val="356AC3"/>
            </a:solidFill>
            <a:prstDash val="solid"/>
          </a:ln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6BEAA64-DB7B-428D-8449-544F8E59BA42}"/>
              </a:ext>
            </a:extLst>
          </p:cNvPr>
          <p:cNvSpPr>
            <a:spLocks noGrp="1"/>
          </p:cNvSpPr>
          <p:nvPr/>
        </p:nvSpPr>
        <p:spPr>
          <a:xfrm>
            <a:off x="8572500" y="3448050"/>
            <a:ext cx="137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LAKEBASE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1F42EF-C5B9-4C99-8D87-CE616401C835}"/>
              </a:ext>
            </a:extLst>
          </p:cNvPr>
          <p:cNvSpPr>
            <a:spLocks noGrp="1"/>
          </p:cNvSpPr>
          <p:nvPr/>
        </p:nvSpPr>
        <p:spPr>
          <a:xfrm>
            <a:off x="8572500" y="3657600"/>
            <a:ext cx="13716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Operational Postgres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5D90881-5CCC-41AF-8C0C-A4488907287C}"/>
              </a:ext>
            </a:extLst>
          </p:cNvPr>
          <p:cNvSpPr>
            <a:spLocks noGrp="1"/>
          </p:cNvSpPr>
          <p:nvPr/>
        </p:nvSpPr>
        <p:spPr>
          <a:xfrm>
            <a:off x="400050" y="4114800"/>
            <a:ext cx="11125200" cy="1181100"/>
          </a:xfrm>
          <a:prstGeom prst="roundRect">
            <a:avLst>
              <a:gd name="adj" fmla="val 4839"/>
            </a:avLst>
          </a:prstGeom>
          <a:solidFill>
            <a:srgbClr val="2A2B28"/>
          </a:solidFill>
          <a:ln w="9525">
            <a:solidFill>
              <a:srgbClr val="555650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CBF0CB-F220-4D91-B73E-5F2819C3A48A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TRIGGERED ANALYTICS LOOP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D91890-4734-4504-BA13-405CB25ABB5F}"/>
              </a:ext>
            </a:extLst>
          </p:cNvPr>
          <p:cNvSpPr>
            <a:spLocks noGrp="1"/>
          </p:cNvSpPr>
          <p:nvPr/>
        </p:nvSpPr>
        <p:spPr>
          <a:xfrm>
            <a:off x="2571750" y="4400550"/>
            <a:ext cx="13906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59D80CA-74A6-4E35-9229-F32044390D77}"/>
              </a:ext>
            </a:extLst>
          </p:cNvPr>
          <p:cNvSpPr>
            <a:spLocks noGrp="1"/>
          </p:cNvSpPr>
          <p:nvPr/>
        </p:nvSpPr>
        <p:spPr>
          <a:xfrm>
            <a:off x="2667000" y="4495800"/>
            <a:ext cx="1200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LAKEBASE</a:t>
            </a:r>
          </a:p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JDBC SNAPSHOT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BA9E4F0-C4A0-4703-95E6-6C61C26FFEDC}"/>
              </a:ext>
            </a:extLst>
          </p:cNvPr>
          <p:cNvSpPr>
            <a:spLocks noGrp="1"/>
          </p:cNvSpPr>
          <p:nvPr/>
        </p:nvSpPr>
        <p:spPr>
          <a:xfrm>
            <a:off x="4210050" y="4343400"/>
            <a:ext cx="952500" cy="628650"/>
          </a:xfrm>
          <a:prstGeom prst="roundRect">
            <a:avLst>
              <a:gd name="adj" fmla="val 9091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55" name="Graphic 1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381500" y="4419600"/>
            <a:ext cx="609600" cy="2667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BB77380D-5A05-404A-A4B6-62B326F11A35}"/>
              </a:ext>
            </a:extLst>
          </p:cNvPr>
          <p:cNvSpPr>
            <a:spLocks noGrp="1"/>
          </p:cNvSpPr>
          <p:nvPr/>
        </p:nvSpPr>
        <p:spPr>
          <a:xfrm>
            <a:off x="4257675" y="4724400"/>
            <a:ext cx="857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Databricks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F3FE521-C0F0-4B60-AE77-6DCE83BE5B6E}"/>
              </a:ext>
            </a:extLst>
          </p:cNvPr>
          <p:cNvSpPr>
            <a:spLocks noGrp="1"/>
          </p:cNvSpPr>
          <p:nvPr/>
        </p:nvSpPr>
        <p:spPr>
          <a:xfrm>
            <a:off x="5410200" y="4400550"/>
            <a:ext cx="1619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AF4F97-D766-4197-B52D-3A1F6040D362}"/>
              </a:ext>
            </a:extLst>
          </p:cNvPr>
          <p:cNvSpPr>
            <a:spLocks noGrp="1"/>
          </p:cNvSpPr>
          <p:nvPr/>
        </p:nvSpPr>
        <p:spPr>
          <a:xfrm>
            <a:off x="5505450" y="44767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DELTA / LAKEFLOW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09D0105-261A-45CB-9821-AD946D5A6C97}"/>
              </a:ext>
            </a:extLst>
          </p:cNvPr>
          <p:cNvSpPr>
            <a:spLocks noGrp="1"/>
          </p:cNvSpPr>
          <p:nvPr/>
        </p:nvSpPr>
        <p:spPr>
          <a:xfrm>
            <a:off x="5505450" y="4695825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F6DAD5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048197F-F151-418A-B1BF-49F5B0EA9835}"/>
              </a:ext>
            </a:extLst>
          </p:cNvPr>
          <p:cNvSpPr>
            <a:spLocks noGrp="1"/>
          </p:cNvSpPr>
          <p:nvPr/>
        </p:nvSpPr>
        <p:spPr>
          <a:xfrm>
            <a:off x="5505450" y="47053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F047DA9-4F0A-4613-8E66-06C983A939CC}"/>
              </a:ext>
            </a:extLst>
          </p:cNvPr>
          <p:cNvSpPr>
            <a:spLocks noGrp="1"/>
          </p:cNvSpPr>
          <p:nvPr/>
        </p:nvSpPr>
        <p:spPr>
          <a:xfrm>
            <a:off x="5981700" y="4695825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ECE8E0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959E88D-BE62-4BAB-BC34-A49595D8CF6E}"/>
              </a:ext>
            </a:extLst>
          </p:cNvPr>
          <p:cNvSpPr>
            <a:spLocks noGrp="1"/>
          </p:cNvSpPr>
          <p:nvPr/>
        </p:nvSpPr>
        <p:spPr>
          <a:xfrm>
            <a:off x="5981700" y="47053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BC7B021-F6CB-4D08-93BF-A0EC463F86B2}"/>
              </a:ext>
            </a:extLst>
          </p:cNvPr>
          <p:cNvSpPr>
            <a:spLocks noGrp="1"/>
          </p:cNvSpPr>
          <p:nvPr/>
        </p:nvSpPr>
        <p:spPr>
          <a:xfrm>
            <a:off x="6457950" y="4695825"/>
            <a:ext cx="438150" cy="171450"/>
          </a:xfrm>
          <a:prstGeom prst="roundRect">
            <a:avLst>
              <a:gd name="adj" fmla="val 50000"/>
            </a:avLst>
          </a:prstGeom>
          <a:solidFill>
            <a:srgbClr val="F5E9B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B27675-BE87-4E14-B1DA-8F661CC1A450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10F3E6B-6AFE-404C-A219-6A6A063CDEDC}"/>
              </a:ext>
            </a:extLst>
          </p:cNvPr>
          <p:cNvSpPr>
            <a:spLocks noGrp="1"/>
          </p:cNvSpPr>
          <p:nvPr/>
        </p:nvSpPr>
        <p:spPr>
          <a:xfrm>
            <a:off x="7277100" y="4400550"/>
            <a:ext cx="1524000" cy="533400"/>
          </a:xfrm>
          <a:prstGeom prst="roundRect">
            <a:avLst>
              <a:gd name="adj" fmla="val 10714"/>
            </a:avLst>
          </a:prstGeom>
          <a:solidFill>
            <a:srgbClr val="DCECDF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DFBCD4E-8BAD-4140-B500-30092AEF9CB5}"/>
              </a:ext>
            </a:extLst>
          </p:cNvPr>
          <p:cNvSpPr>
            <a:spLocks noGrp="1"/>
          </p:cNvSpPr>
          <p:nvPr/>
        </p:nvSpPr>
        <p:spPr>
          <a:xfrm>
            <a:off x="7372350" y="447675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 NOTEBOOK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20BFACA-14BE-4C80-B6CF-F6FEF39D0F72}"/>
              </a:ext>
            </a:extLst>
          </p:cNvPr>
          <p:cNvSpPr>
            <a:spLocks noGrp="1"/>
          </p:cNvSpPr>
          <p:nvPr/>
        </p:nvSpPr>
        <p:spPr>
          <a:xfrm>
            <a:off x="7372350" y="4705350"/>
            <a:ext cx="1333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publish forecasts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5A0A899-B00F-400A-A460-49B1A7FE7574}"/>
              </a:ext>
            </a:extLst>
          </p:cNvPr>
          <p:cNvSpPr>
            <a:spLocks noGrp="1"/>
          </p:cNvSpPr>
          <p:nvPr/>
        </p:nvSpPr>
        <p:spPr>
          <a:xfrm>
            <a:off x="9048750" y="4400550"/>
            <a:ext cx="1200150" cy="533400"/>
          </a:xfrm>
          <a:prstGeom prst="roundRect">
            <a:avLst>
              <a:gd name="adj" fmla="val 10714"/>
            </a:avLst>
          </a:prstGeom>
          <a:solidFill>
            <a:srgbClr val="DDE8F7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2E83704-27F8-4F0E-81C9-98B412A4F560}"/>
              </a:ext>
            </a:extLst>
          </p:cNvPr>
          <p:cNvSpPr>
            <a:spLocks noGrp="1"/>
          </p:cNvSpPr>
          <p:nvPr/>
        </p:nvSpPr>
        <p:spPr>
          <a:xfrm>
            <a:off x="9144000" y="4495800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BACK TO</a:t>
            </a:r>
          </a:p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LAKEBASE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09EBE2-5E9C-4825-A738-A9E71A375042}"/>
              </a:ext>
            </a:extLst>
          </p:cNvPr>
          <p:cNvSpPr>
            <a:spLocks noGrp="1"/>
          </p:cNvSpPr>
          <p:nvPr/>
        </p:nvSpPr>
        <p:spPr>
          <a:xfrm>
            <a:off x="10353675" y="4476750"/>
            <a:ext cx="99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 return through Node API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6F116EF-3594-4DA8-BF94-F013B586236D}"/>
              </a:ext>
            </a:extLst>
          </p:cNvPr>
          <p:cNvSpPr>
            <a:spLocks noGrp="1"/>
          </p:cNvSpPr>
          <p:nvPr/>
        </p:nvSpPr>
        <p:spPr>
          <a:xfrm>
            <a:off x="400050" y="5505450"/>
            <a:ext cx="11125200" cy="685800"/>
          </a:xfrm>
          <a:prstGeom prst="roundRect">
            <a:avLst>
              <a:gd name="adj" fmla="val 8333"/>
            </a:avLst>
          </a:prstGeom>
          <a:solidFill>
            <a:srgbClr val="151614"/>
          </a:solidFill>
          <a:ln w="9525">
            <a:solidFill>
              <a:srgbClr val="4A4B47"/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1A2BFE4-4DEA-4CF2-B3A9-CD4608439203}"/>
              </a:ext>
            </a:extLst>
          </p:cNvPr>
          <p:cNvSpPr>
            <a:spLocks noGrp="1"/>
          </p:cNvSpPr>
          <p:nvPr/>
        </p:nvSpPr>
        <p:spPr>
          <a:xfrm>
            <a:off x="552450" y="5629275"/>
            <a:ext cx="2209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BUILD WORKFLOW — NON-RUNTIME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F76ACBA-AF51-4555-8A6D-3E835DE5B9BE}"/>
              </a:ext>
            </a:extLst>
          </p:cNvPr>
          <p:cNvSpPr>
            <a:spLocks noGrp="1"/>
          </p:cNvSpPr>
          <p:nvPr/>
        </p:nvSpPr>
        <p:spPr>
          <a:xfrm>
            <a:off x="2952750" y="5572125"/>
            <a:ext cx="857250" cy="552450"/>
          </a:xfrm>
          <a:prstGeom prst="roundRect">
            <a:avLst>
              <a:gd name="adj" fmla="val 10345"/>
            </a:avLst>
          </a:prstGeom>
          <a:solidFill>
            <a:srgbClr val="2A2B28"/>
          </a:solidFill>
          <a:ln w="9525">
            <a:solidFill>
              <a:srgbClr val="4A4B47"/>
            </a:solidFill>
            <a:prstDash val="solid"/>
          </a:ln>
        </p:spPr>
      </p:sp>
      <p:pic>
        <p:nvPicPr>
          <p:cNvPr id="174" name="Graphic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124200" y="5648325"/>
            <a:ext cx="514350" cy="26670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8D866471-92CD-4C5A-844A-CF3596858FD4}"/>
              </a:ext>
            </a:extLst>
          </p:cNvPr>
          <p:cNvSpPr>
            <a:spLocks noGrp="1"/>
          </p:cNvSpPr>
          <p:nvPr/>
        </p:nvSpPr>
        <p:spPr>
          <a:xfrm>
            <a:off x="3000375" y="5953125"/>
            <a:ext cx="762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cxnSp>
        <p:nvCxnSpPr>
          <p:cNvPr id="176" name="Straight Arrow Connector 175"/>
          <p:cNvCxnSpPr/>
          <p:nvPr/>
        </p:nvCxnSpPr>
        <p:spPr>
          <a:xfrm>
            <a:off x="3886200" y="5848350"/>
            <a:ext cx="704850" cy="0"/>
          </a:xfrm>
          <a:prstGeom prst="straightConnector1">
            <a:avLst/>
          </a:prstGeom>
          <a:ln w="9525">
            <a:solidFill>
              <a:srgbClr val="777872"/>
            </a:solidFill>
            <a:prstDash val="dash"/>
          </a:ln>
        </p:spPr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4293C3B-7976-459A-8FC2-A65D8204C2FF}"/>
              </a:ext>
            </a:extLst>
          </p:cNvPr>
          <p:cNvSpPr>
            <a:spLocks noGrp="1"/>
          </p:cNvSpPr>
          <p:nvPr/>
        </p:nvSpPr>
        <p:spPr>
          <a:xfrm>
            <a:off x="4724400" y="5676900"/>
            <a:ext cx="1200150" cy="323850"/>
          </a:xfrm>
          <a:prstGeom prst="roundRect">
            <a:avLst>
              <a:gd name="adj" fmla="val 5882"/>
            </a:avLst>
          </a:prstGeom>
          <a:solidFill>
            <a:srgbClr val="2A2B28"/>
          </a:solidFill>
          <a:ln w="9525">
            <a:solidFill>
              <a:srgbClr val="555650"/>
            </a:solidFill>
            <a:prstDash val="solid"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EF2BABB-E111-4057-99FD-CBFCA5DA7836}"/>
              </a:ext>
            </a:extLst>
          </p:cNvPr>
          <p:cNvSpPr>
            <a:spLocks noGrp="1"/>
          </p:cNvSpPr>
          <p:nvPr/>
        </p:nvSpPr>
        <p:spPr>
          <a:xfrm>
            <a:off x="4724400" y="567690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179" name="Straight Arrow Connector 178"/>
          <p:cNvCxnSpPr/>
          <p:nvPr/>
        </p:nvCxnSpPr>
        <p:spPr>
          <a:xfrm>
            <a:off x="5943600" y="5838825"/>
            <a:ext cx="190500" cy="0"/>
          </a:xfrm>
          <a:prstGeom prst="straightConnector1">
            <a:avLst/>
          </a:prstGeom>
          <a:ln w="9525">
            <a:solidFill>
              <a:srgbClr val="777872"/>
            </a:solidFill>
            <a:prstDash val="dash"/>
          </a:ln>
        </p:spPr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37DEAF6-3380-4C23-A098-94298BF27542}"/>
              </a:ext>
            </a:extLst>
          </p:cNvPr>
          <p:cNvSpPr>
            <a:spLocks noGrp="1"/>
          </p:cNvSpPr>
          <p:nvPr/>
        </p:nvSpPr>
        <p:spPr>
          <a:xfrm>
            <a:off x="6153150" y="5676900"/>
            <a:ext cx="1200150" cy="323850"/>
          </a:xfrm>
          <a:prstGeom prst="roundRect">
            <a:avLst>
              <a:gd name="adj" fmla="val 5882"/>
            </a:avLst>
          </a:prstGeom>
          <a:solidFill>
            <a:srgbClr val="2A2B28"/>
          </a:solidFill>
          <a:ln w="9525">
            <a:solidFill>
              <a:srgbClr val="555650"/>
            </a:solidFill>
            <a:prstDash val="solid"/>
          </a:ln>
        </p:spPr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435FB60-F4B1-4F1B-B729-8EB7872BBD18}"/>
              </a:ext>
            </a:extLst>
          </p:cNvPr>
          <p:cNvSpPr>
            <a:spLocks noGrp="1"/>
          </p:cNvSpPr>
          <p:nvPr/>
        </p:nvSpPr>
        <p:spPr>
          <a:xfrm>
            <a:off x="6153150" y="567690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cxnSp>
        <p:nvCxnSpPr>
          <p:cNvPr id="182" name="Straight Arrow Connector 181"/>
          <p:cNvCxnSpPr/>
          <p:nvPr/>
        </p:nvCxnSpPr>
        <p:spPr>
          <a:xfrm>
            <a:off x="7372350" y="5838825"/>
            <a:ext cx="190500" cy="0"/>
          </a:xfrm>
          <a:prstGeom prst="straightConnector1">
            <a:avLst/>
          </a:prstGeom>
          <a:ln w="9525">
            <a:solidFill>
              <a:srgbClr val="777872"/>
            </a:solidFill>
            <a:prstDash val="dash"/>
          </a:ln>
        </p:spPr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2AEDAAA7-0DF7-4118-B621-2572E380F7E5}"/>
              </a:ext>
            </a:extLst>
          </p:cNvPr>
          <p:cNvSpPr>
            <a:spLocks noGrp="1"/>
          </p:cNvSpPr>
          <p:nvPr/>
        </p:nvSpPr>
        <p:spPr>
          <a:xfrm>
            <a:off x="7581900" y="5676900"/>
            <a:ext cx="1200150" cy="323850"/>
          </a:xfrm>
          <a:prstGeom prst="roundRect">
            <a:avLst>
              <a:gd name="adj" fmla="val 5882"/>
            </a:avLst>
          </a:prstGeom>
          <a:solidFill>
            <a:srgbClr val="2A2B28"/>
          </a:solidFill>
          <a:ln w="9525">
            <a:solidFill>
              <a:srgbClr val="555650"/>
            </a:solidFill>
            <a:prstDash val="solid"/>
          </a:ln>
        </p:spPr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015089-C679-4B59-BB85-B083E1A5B799}"/>
              </a:ext>
            </a:extLst>
          </p:cNvPr>
          <p:cNvSpPr>
            <a:spLocks noGrp="1"/>
          </p:cNvSpPr>
          <p:nvPr/>
        </p:nvSpPr>
        <p:spPr>
          <a:xfrm>
            <a:off x="7581900" y="567690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068F851-DAD9-43DB-81C4-0A8A680EABCB}"/>
              </a:ext>
            </a:extLst>
          </p:cNvPr>
          <p:cNvSpPr>
            <a:spLocks noGrp="1"/>
          </p:cNvSpPr>
          <p:nvPr/>
        </p:nvSpPr>
        <p:spPr>
          <a:xfrm>
            <a:off x="9353550" y="574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>
                <a:solidFill>
                  <a:srgbClr val="A6A7A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A7A1"/>
                </a:solidFill>
                <a:latin typeface="Arial"/>
                <a:ea typeface="Arial"/>
                <a:cs typeface="Arial"/>
              </a:rPr>
              <a:t>No live data path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426F45A-F90B-4016-960F-F5143ED73B2E}"/>
              </a:ext>
            </a:extLst>
          </p:cNvPr>
          <p:cNvSpPr>
            <a:spLocks noGrp="1"/>
          </p:cNvSpPr>
          <p:nvPr/>
        </p:nvSpPr>
        <p:spPr>
          <a:xfrm>
            <a:off x="11315700" y="651510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1">
                <a:solidFill>
                  <a:srgbClr val="8B8C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8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970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BDA56F4-074C-4258-A998-F797366F4EE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E372B-B3E0-479E-B9E9-844439F3BF51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0096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focused Malaysian market, with room to scale.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07D5F-4C57-4FAD-880A-3EBFB3235CEC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TAM / SAM / SOM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4ECE9F-7398-434F-BC54-F83D846EC50A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952750" cy="2952750"/>
          </a:xfrm>
          <a:prstGeom prst="ellipse">
            <a:avLst/>
          </a:prstGeom>
          <a:solidFill>
            <a:srgbClr val="F6DAD5"/>
          </a:solidFill>
          <a:ln w="19050">
            <a:solidFill>
              <a:srgbClr val="A8241C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184E49-517A-40CA-9501-C2D3BC945325}"/>
              </a:ext>
            </a:extLst>
          </p:cNvPr>
          <p:cNvSpPr>
            <a:spLocks noGrp="1"/>
          </p:cNvSpPr>
          <p:nvPr/>
        </p:nvSpPr>
        <p:spPr>
          <a:xfrm>
            <a:off x="1162050" y="2590800"/>
            <a:ext cx="1962150" cy="1962150"/>
          </a:xfrm>
          <a:prstGeom prst="ellipse">
            <a:avLst/>
          </a:prstGeom>
          <a:solidFill>
            <a:srgbClr val="DCECDF"/>
          </a:solidFill>
          <a:ln w="19050">
            <a:solidFill>
              <a:srgbClr val="2F7A57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83A9CE-E932-417E-8282-7AE1FE74EFBB}"/>
              </a:ext>
            </a:extLst>
          </p:cNvPr>
          <p:cNvSpPr>
            <a:spLocks noGrp="1"/>
          </p:cNvSpPr>
          <p:nvPr/>
        </p:nvSpPr>
        <p:spPr>
          <a:xfrm>
            <a:off x="1676400" y="3105150"/>
            <a:ext cx="933450" cy="933450"/>
          </a:xfrm>
          <a:prstGeom prst="ellipse">
            <a:avLst/>
          </a:prstGeom>
          <a:solidFill>
            <a:srgbClr val="F5E9BE"/>
          </a:solidFill>
          <a:ln w="19050">
            <a:solidFill>
              <a:srgbClr val="D5A62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C27C5-AF64-4021-83F2-4C5A3A548575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MALAYSIA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B188DB-F1EC-4360-A88F-8E16AD522FD0}"/>
              </a:ext>
            </a:extLst>
          </p:cNvPr>
          <p:cNvSpPr>
            <a:spLocks noGrp="1"/>
          </p:cNvSpPr>
          <p:nvPr/>
        </p:nvSpPr>
        <p:spPr>
          <a:xfrm>
            <a:off x="1457325" y="27432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3 STATES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C10E22-3FDE-4FE4-8630-D85305ACFF18}"/>
              </a:ext>
            </a:extLst>
          </p:cNvPr>
          <p:cNvSpPr>
            <a:spLocks noGrp="1"/>
          </p:cNvSpPr>
          <p:nvPr/>
        </p:nvSpPr>
        <p:spPr>
          <a:xfrm>
            <a:off x="1771650" y="3305175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3-YEAR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AD090B-37AD-4E4B-B2FE-6C4760205FE8}"/>
              </a:ext>
            </a:extLst>
          </p:cNvPr>
          <p:cNvSpPr>
            <a:spLocks noGrp="1"/>
          </p:cNvSpPr>
          <p:nvPr/>
        </p:nvSpPr>
        <p:spPr>
          <a:xfrm>
            <a:off x="3752850" y="2133600"/>
            <a:ext cx="1352550" cy="723900"/>
          </a:xfrm>
          <a:prstGeom prst="roundRect">
            <a:avLst>
              <a:gd name="adj" fmla="val 7895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78914-3F00-4789-89A0-AF77EAB6387A}"/>
              </a:ext>
            </a:extLst>
          </p:cNvPr>
          <p:cNvSpPr>
            <a:spLocks noGrp="1"/>
          </p:cNvSpPr>
          <p:nvPr/>
        </p:nvSpPr>
        <p:spPr>
          <a:xfrm>
            <a:off x="3867150" y="22288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767K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83FFA-D330-48D9-9B25-002223A740E1}"/>
              </a:ext>
            </a:extLst>
          </p:cNvPr>
          <p:cNvSpPr>
            <a:spLocks noGrp="1"/>
          </p:cNvSpPr>
          <p:nvPr/>
        </p:nvSpPr>
        <p:spPr>
          <a:xfrm>
            <a:off x="3867150" y="259080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100BD4-B74F-4ED4-B8EA-DE8BC70F63FE}"/>
              </a:ext>
            </a:extLst>
          </p:cNvPr>
          <p:cNvSpPr>
            <a:spLocks noGrp="1"/>
          </p:cNvSpPr>
          <p:nvPr/>
        </p:nvSpPr>
        <p:spPr>
          <a:xfrm>
            <a:off x="3752850" y="3105150"/>
            <a:ext cx="1352550" cy="723900"/>
          </a:xfrm>
          <a:prstGeom prst="roundRect">
            <a:avLst>
              <a:gd name="adj" fmla="val 7895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BD33E-DC4D-4ED6-8FF5-B332BEBC8EF0}"/>
              </a:ext>
            </a:extLst>
          </p:cNvPr>
          <p:cNvSpPr>
            <a:spLocks noGrp="1"/>
          </p:cNvSpPr>
          <p:nvPr/>
        </p:nvSpPr>
        <p:spPr>
          <a:xfrm>
            <a:off x="3867150" y="32004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~377K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9003A2-1FE4-4CD6-80D0-A35938E50632}"/>
              </a:ext>
            </a:extLst>
          </p:cNvPr>
          <p:cNvSpPr>
            <a:spLocks noGrp="1"/>
          </p:cNvSpPr>
          <p:nvPr/>
        </p:nvSpPr>
        <p:spPr>
          <a:xfrm>
            <a:off x="3867150" y="356235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1A3486-9F3B-416C-B862-10DC72C6977C}"/>
              </a:ext>
            </a:extLst>
          </p:cNvPr>
          <p:cNvSpPr>
            <a:spLocks noGrp="1"/>
          </p:cNvSpPr>
          <p:nvPr/>
        </p:nvSpPr>
        <p:spPr>
          <a:xfrm>
            <a:off x="3752850" y="4076700"/>
            <a:ext cx="1352550" cy="723900"/>
          </a:xfrm>
          <a:prstGeom prst="roundRect">
            <a:avLst>
              <a:gd name="adj" fmla="val 7895"/>
            </a:avLst>
          </a:prstGeom>
          <a:solidFill>
            <a:srgbClr val="F5E9BE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E39F5C-18D6-4CC2-BF23-932F7DA8C8D0}"/>
              </a:ext>
            </a:extLst>
          </p:cNvPr>
          <p:cNvSpPr>
            <a:spLocks noGrp="1"/>
          </p:cNvSpPr>
          <p:nvPr/>
        </p:nvSpPr>
        <p:spPr>
          <a:xfrm>
            <a:off x="3867150" y="41719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3.8K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5F4067-082A-4143-BEE1-73193D4C3BA8}"/>
              </a:ext>
            </a:extLst>
          </p:cNvPr>
          <p:cNvSpPr>
            <a:spLocks noGrp="1"/>
          </p:cNvSpPr>
          <p:nvPr/>
        </p:nvSpPr>
        <p:spPr>
          <a:xfrm>
            <a:off x="3867150" y="453390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3162300" y="2381250"/>
            <a:ext cx="590550" cy="0"/>
          </a:xfrm>
          <a:prstGeom prst="straightConnector1">
            <a:avLst/>
          </a:prstGeom>
          <a:ln w="13335">
            <a:solidFill>
              <a:srgbClr val="A8241C"/>
            </a:solidFill>
            <a:prstDash val="solid"/>
          </a:ln>
        </p:spPr>
      </p:cxnSp>
      <p:cxnSp>
        <p:nvCxnSpPr>
          <p:cNvPr id="81" name="Straight Arrow Connector 80"/>
          <p:cNvCxnSpPr/>
          <p:nvPr/>
        </p:nvCxnSpPr>
        <p:spPr>
          <a:xfrm>
            <a:off x="2733675" y="3467100"/>
            <a:ext cx="1019175" cy="0"/>
          </a:xfrm>
          <a:prstGeom prst="straightConnector1">
            <a:avLst/>
          </a:prstGeom>
          <a:ln w="13335">
            <a:solidFill>
              <a:srgbClr val="2F7A57"/>
            </a:solidFill>
            <a:prstDash val="solid"/>
          </a:ln>
        </p:spPr>
      </p:cxnSp>
      <p:cxnSp>
        <p:nvCxnSpPr>
          <p:cNvPr id="82" name="Straight Arrow Connector 81"/>
          <p:cNvCxnSpPr/>
          <p:nvPr/>
        </p:nvCxnSpPr>
        <p:spPr>
          <a:xfrm>
            <a:off x="2533650" y="4410075"/>
            <a:ext cx="1219200" cy="0"/>
          </a:xfrm>
          <a:prstGeom prst="straightConnector1">
            <a:avLst/>
          </a:prstGeom>
          <a:ln w="13335">
            <a:solidFill>
              <a:srgbClr val="D5A62E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76C0EF9-BC15-4A4E-B47F-5DFFE34C428B}"/>
              </a:ext>
            </a:extLst>
          </p:cNvPr>
          <p:cNvSpPr>
            <a:spLocks noGrp="1"/>
          </p:cNvSpPr>
          <p:nvPr/>
        </p:nvSpPr>
        <p:spPr>
          <a:xfrm>
            <a:off x="666750" y="5410200"/>
            <a:ext cx="3467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SAM is a planning estimate using establishment concentration as a proxy.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8E8D5F-57A4-4DE6-B58D-A909255460CE}"/>
              </a:ext>
            </a:extLst>
          </p:cNvPr>
          <p:cNvSpPr>
            <a:spLocks noGrp="1"/>
          </p:cNvSpPr>
          <p:nvPr/>
        </p:nvSpPr>
        <p:spPr>
          <a:xfrm>
            <a:off x="5410200" y="1533525"/>
            <a:ext cx="510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PREDICTED SME SOFTWARE GROWTH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B86F78-167B-4F5E-8091-5E1176F7D54E}"/>
              </a:ext>
            </a:extLst>
          </p:cNvPr>
          <p:cNvSpPr>
            <a:spLocks noGrp="1"/>
          </p:cNvSpPr>
          <p:nvPr/>
        </p:nvSpPr>
        <p:spPr>
          <a:xfrm>
            <a:off x="5429250" y="19145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8.2%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C9BF58-9E2A-4FA2-9ECE-23B52ED10EF4}"/>
              </a:ext>
            </a:extLst>
          </p:cNvPr>
          <p:cNvSpPr>
            <a:spLocks noGrp="1"/>
          </p:cNvSpPr>
          <p:nvPr/>
        </p:nvSpPr>
        <p:spPr>
          <a:xfrm>
            <a:off x="7124700" y="216217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CAGR through 2030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7A8320-A8E1-40A0-904F-066125EFE0BA}"/>
              </a:ext>
            </a:extLst>
          </p:cNvPr>
          <p:cNvSpPr>
            <a:spLocks noGrp="1"/>
          </p:cNvSpPr>
          <p:nvPr/>
        </p:nvSpPr>
        <p:spPr>
          <a:xfrm>
            <a:off x="5429250" y="26479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Market index (2025 = 100)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5619750" y="5238750"/>
            <a:ext cx="5562600" cy="0"/>
          </a:xfrm>
          <a:prstGeom prst="straightConnector1">
            <a:avLst/>
          </a:prstGeom>
          <a:ln w="11430">
            <a:solidFill>
              <a:srgbClr val="C9C0B5"/>
            </a:solidFill>
            <a:prstDash val="solid"/>
          </a:ln>
        </p:spPr>
      </p:cxnSp>
      <p:cxnSp>
        <p:nvCxnSpPr>
          <p:cNvPr id="89" name="Straight Arrow Connector 88"/>
          <p:cNvCxnSpPr/>
          <p:nvPr/>
        </p:nvCxnSpPr>
        <p:spPr>
          <a:xfrm>
            <a:off x="5619750" y="3286125"/>
            <a:ext cx="0" cy="1952625"/>
          </a:xfrm>
          <a:prstGeom prst="straightConnector1">
            <a:avLst/>
          </a:prstGeom>
          <a:ln w="11430">
            <a:solidFill>
              <a:srgbClr val="C9C0B5"/>
            </a:solidFill>
            <a:prstDash val="solid"/>
          </a:ln>
        </p:spPr>
      </p:cxnSp>
      <p:cxnSp>
        <p:nvCxnSpPr>
          <p:cNvPr id="90" name="Straight Arrow Connector 89"/>
          <p:cNvCxnSpPr/>
          <p:nvPr/>
        </p:nvCxnSpPr>
        <p:spPr>
          <a:xfrm>
            <a:off x="5619750" y="3930491"/>
            <a:ext cx="5562600" cy="0"/>
          </a:xfrm>
          <a:prstGeom prst="straightConnector1">
            <a:avLst/>
          </a:prstGeom>
          <a:ln w="9525">
            <a:solidFill>
              <a:srgbClr val="E5DED3"/>
            </a:solidFill>
            <a:prstDash val="dash"/>
          </a:ln>
        </p:spPr>
      </p:cxnSp>
      <p:cxnSp>
        <p:nvCxnSpPr>
          <p:cNvPr id="91" name="Straight Arrow Connector 90"/>
          <p:cNvCxnSpPr/>
          <p:nvPr/>
        </p:nvCxnSpPr>
        <p:spPr>
          <a:xfrm>
            <a:off x="5619750" y="4574858"/>
            <a:ext cx="5562600" cy="0"/>
          </a:xfrm>
          <a:prstGeom prst="straightConnector1">
            <a:avLst/>
          </a:prstGeom>
          <a:ln w="9525">
            <a:solidFill>
              <a:srgbClr val="E5DED3"/>
            </a:solidFill>
            <a:prstDash val="dash"/>
          </a:ln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2495F01-2684-443C-A289-B2232D05DC21}"/>
              </a:ext>
            </a:extLst>
          </p:cNvPr>
          <p:cNvSpPr>
            <a:spLocks noGrp="1"/>
          </p:cNvSpPr>
          <p:nvPr/>
        </p:nvSpPr>
        <p:spPr>
          <a:xfrm>
            <a:off x="5553075" y="4994564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7ED938-9E47-4323-AA80-274DD98C4F5D}"/>
              </a:ext>
            </a:extLst>
          </p:cNvPr>
          <p:cNvSpPr>
            <a:spLocks noGrp="1"/>
          </p:cNvSpPr>
          <p:nvPr/>
        </p:nvSpPr>
        <p:spPr>
          <a:xfrm>
            <a:off x="5391150" y="4737389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DF26D9-33F1-4D09-9DDA-3A2FB7DF5278}"/>
              </a:ext>
            </a:extLst>
          </p:cNvPr>
          <p:cNvSpPr>
            <a:spLocks noGrp="1"/>
          </p:cNvSpPr>
          <p:nvPr/>
        </p:nvSpPr>
        <p:spPr>
          <a:xfrm>
            <a:off x="533400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CA076F-DC7B-45D0-84B9-0E4070B07A17}"/>
              </a:ext>
            </a:extLst>
          </p:cNvPr>
          <p:cNvSpPr>
            <a:spLocks noGrp="1"/>
          </p:cNvSpPr>
          <p:nvPr/>
        </p:nvSpPr>
        <p:spPr>
          <a:xfrm>
            <a:off x="6665595" y="4710545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BCD7C8-9EC2-4013-BDE7-34BEAE03CD6A}"/>
              </a:ext>
            </a:extLst>
          </p:cNvPr>
          <p:cNvSpPr>
            <a:spLocks noGrp="1"/>
          </p:cNvSpPr>
          <p:nvPr/>
        </p:nvSpPr>
        <p:spPr>
          <a:xfrm>
            <a:off x="6503670" y="445337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3551B7-4EB9-4252-811E-F033B5452146}"/>
              </a:ext>
            </a:extLst>
          </p:cNvPr>
          <p:cNvSpPr>
            <a:spLocks noGrp="1"/>
          </p:cNvSpPr>
          <p:nvPr/>
        </p:nvSpPr>
        <p:spPr>
          <a:xfrm>
            <a:off x="644652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77D7DC-5B26-4A63-B96E-3630F0AD35E9}"/>
              </a:ext>
            </a:extLst>
          </p:cNvPr>
          <p:cNvSpPr>
            <a:spLocks noGrp="1"/>
          </p:cNvSpPr>
          <p:nvPr/>
        </p:nvSpPr>
        <p:spPr>
          <a:xfrm>
            <a:off x="7778115" y="4391025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A40B8E-6FB7-4D94-ADF1-F609E83E12CF}"/>
              </a:ext>
            </a:extLst>
          </p:cNvPr>
          <p:cNvSpPr>
            <a:spLocks noGrp="1"/>
          </p:cNvSpPr>
          <p:nvPr/>
        </p:nvSpPr>
        <p:spPr>
          <a:xfrm>
            <a:off x="7616190" y="4133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8A657C-2E0F-43A5-890F-350D5640570A}"/>
              </a:ext>
            </a:extLst>
          </p:cNvPr>
          <p:cNvSpPr>
            <a:spLocks noGrp="1"/>
          </p:cNvSpPr>
          <p:nvPr/>
        </p:nvSpPr>
        <p:spPr>
          <a:xfrm>
            <a:off x="755904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D9E0C00-70A4-4DB8-887F-48F6831CE287}"/>
              </a:ext>
            </a:extLst>
          </p:cNvPr>
          <p:cNvSpPr>
            <a:spLocks noGrp="1"/>
          </p:cNvSpPr>
          <p:nvPr/>
        </p:nvSpPr>
        <p:spPr>
          <a:xfrm>
            <a:off x="8890635" y="4071505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F8FD40-DEA3-4B19-9DED-AF87D74E4B24}"/>
              </a:ext>
            </a:extLst>
          </p:cNvPr>
          <p:cNvSpPr>
            <a:spLocks noGrp="1"/>
          </p:cNvSpPr>
          <p:nvPr/>
        </p:nvSpPr>
        <p:spPr>
          <a:xfrm>
            <a:off x="8728710" y="381433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A9223A-37F9-4C5F-B2FA-352A16739493}"/>
              </a:ext>
            </a:extLst>
          </p:cNvPr>
          <p:cNvSpPr>
            <a:spLocks noGrp="1"/>
          </p:cNvSpPr>
          <p:nvPr/>
        </p:nvSpPr>
        <p:spPr>
          <a:xfrm>
            <a:off x="867156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EB48908-E9B8-4BFB-A06B-DC32092DF5C5}"/>
              </a:ext>
            </a:extLst>
          </p:cNvPr>
          <p:cNvSpPr>
            <a:spLocks noGrp="1"/>
          </p:cNvSpPr>
          <p:nvPr/>
        </p:nvSpPr>
        <p:spPr>
          <a:xfrm>
            <a:off x="10003155" y="3680980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14069B-4230-4522-9334-EBB078549F08}"/>
              </a:ext>
            </a:extLst>
          </p:cNvPr>
          <p:cNvSpPr>
            <a:spLocks noGrp="1"/>
          </p:cNvSpPr>
          <p:nvPr/>
        </p:nvSpPr>
        <p:spPr>
          <a:xfrm>
            <a:off x="9841230" y="3423805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8D0EC87-251D-49CE-8DA9-D96BCDDF5181}"/>
              </a:ext>
            </a:extLst>
          </p:cNvPr>
          <p:cNvSpPr>
            <a:spLocks noGrp="1"/>
          </p:cNvSpPr>
          <p:nvPr/>
        </p:nvSpPr>
        <p:spPr>
          <a:xfrm>
            <a:off x="978408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2029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18A3F44-DAB1-471C-B5C7-EF7AA50232D6}"/>
              </a:ext>
            </a:extLst>
          </p:cNvPr>
          <p:cNvSpPr>
            <a:spLocks noGrp="1"/>
          </p:cNvSpPr>
          <p:nvPr/>
        </p:nvSpPr>
        <p:spPr>
          <a:xfrm>
            <a:off x="11115675" y="3290455"/>
            <a:ext cx="133350" cy="133350"/>
          </a:xfrm>
          <a:prstGeom prst="ellipse">
            <a:avLst/>
          </a:prstGeom>
          <a:solidFill>
            <a:srgbClr val="A824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32FE24-9FF1-4562-AE6D-ED99D6DE9A5B}"/>
              </a:ext>
            </a:extLst>
          </p:cNvPr>
          <p:cNvSpPr>
            <a:spLocks noGrp="1"/>
          </p:cNvSpPr>
          <p:nvPr/>
        </p:nvSpPr>
        <p:spPr>
          <a:xfrm>
            <a:off x="10953750" y="303328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BCD781-8127-487C-9D10-24E0BBDD9F6E}"/>
              </a:ext>
            </a:extLst>
          </p:cNvPr>
          <p:cNvSpPr>
            <a:spLocks noGrp="1"/>
          </p:cNvSpPr>
          <p:nvPr/>
        </p:nvSpPr>
        <p:spPr>
          <a:xfrm>
            <a:off x="10896600" y="53625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2030</a:t>
            </a:r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5619750" y="5061239"/>
            <a:ext cx="1112520" cy="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1" name="Straight Arrow Connector 110"/>
          <p:cNvCxnSpPr/>
          <p:nvPr/>
        </p:nvCxnSpPr>
        <p:spPr>
          <a:xfrm>
            <a:off x="6732270" y="4777220"/>
            <a:ext cx="0" cy="284018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2" name="Straight Arrow Connector 111"/>
          <p:cNvCxnSpPr/>
          <p:nvPr/>
        </p:nvCxnSpPr>
        <p:spPr>
          <a:xfrm>
            <a:off x="6732270" y="4777220"/>
            <a:ext cx="1112520" cy="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3" name="Straight Arrow Connector 112"/>
          <p:cNvCxnSpPr/>
          <p:nvPr/>
        </p:nvCxnSpPr>
        <p:spPr>
          <a:xfrm>
            <a:off x="7844790" y="4457700"/>
            <a:ext cx="0" cy="31952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4" name="Straight Arrow Connector 113"/>
          <p:cNvCxnSpPr/>
          <p:nvPr/>
        </p:nvCxnSpPr>
        <p:spPr>
          <a:xfrm>
            <a:off x="7844790" y="4457700"/>
            <a:ext cx="1112520" cy="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5" name="Straight Arrow Connector 114"/>
          <p:cNvCxnSpPr/>
          <p:nvPr/>
        </p:nvCxnSpPr>
        <p:spPr>
          <a:xfrm>
            <a:off x="8957310" y="4138180"/>
            <a:ext cx="0" cy="31952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6" name="Straight Arrow Connector 115"/>
          <p:cNvCxnSpPr/>
          <p:nvPr/>
        </p:nvCxnSpPr>
        <p:spPr>
          <a:xfrm>
            <a:off x="8957310" y="4138180"/>
            <a:ext cx="1112520" cy="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7" name="Straight Arrow Connector 116"/>
          <p:cNvCxnSpPr/>
          <p:nvPr/>
        </p:nvCxnSpPr>
        <p:spPr>
          <a:xfrm>
            <a:off x="10069830" y="3747655"/>
            <a:ext cx="0" cy="390525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8" name="Straight Arrow Connector 117"/>
          <p:cNvCxnSpPr/>
          <p:nvPr/>
        </p:nvCxnSpPr>
        <p:spPr>
          <a:xfrm>
            <a:off x="10069830" y="3747655"/>
            <a:ext cx="1112520" cy="0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cxnSp>
        <p:nvCxnSpPr>
          <p:cNvPr id="119" name="Straight Arrow Connector 118"/>
          <p:cNvCxnSpPr/>
          <p:nvPr/>
        </p:nvCxnSpPr>
        <p:spPr>
          <a:xfrm>
            <a:off x="11182350" y="3357130"/>
            <a:ext cx="0" cy="390525"/>
          </a:xfrm>
          <a:prstGeom prst="straightConnector1">
            <a:avLst/>
          </a:prstGeom>
          <a:ln w="38100">
            <a:solidFill>
              <a:srgbClr val="A8241C"/>
            </a:solidFill>
            <a:prstDash val="solid"/>
          </a:ln>
        </p:spPr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07C4601D-217D-4498-9F45-5182FEFD44DD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57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Sources: DOSM Economic Census 2023; APEC / SME Corp Malaysia MSME composition; ResearchAndMarkets SEA SME Software Forecast to 2030.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4A841E-DA05-4E38-8125-5C2F3E84F22F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C179A6D-D4AD-4D2D-A42A-37D3C18F53C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837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34ECEB51-C2E9-449E-9089-D827F2422F5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GO-TO-MARKET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F24324-D8ED-403A-9EBD-D91C5A9A2B6C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980"/>
          </a:bodyPr>
          <a:lstStyle/>
          <a:p>
            <a:pPr algn="l">
              <a:defRPr sz="25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Start with a concentrated merchant wedge, prove weekly habit, then scale through trusted partners.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3886200" y="2695575"/>
            <a:ext cx="514350" cy="0"/>
          </a:xfrm>
          <a:prstGeom prst="straightConnector1">
            <a:avLst/>
          </a:prstGeom>
          <a:ln w="19050">
            <a:solidFill>
              <a:srgbClr val="251B17"/>
            </a:solidFill>
            <a:prstDash val="solid"/>
          </a:ln>
        </p:spPr>
      </p:cxnSp>
      <p:cxnSp>
        <p:nvCxnSpPr>
          <p:cNvPr id="85" name="Straight Arrow Connector 84"/>
          <p:cNvCxnSpPr/>
          <p:nvPr/>
        </p:nvCxnSpPr>
        <p:spPr>
          <a:xfrm>
            <a:off x="7734300" y="2695575"/>
            <a:ext cx="514350" cy="0"/>
          </a:xfrm>
          <a:prstGeom prst="straightConnector1">
            <a:avLst/>
          </a:prstGeom>
          <a:ln w="19050">
            <a:solidFill>
              <a:srgbClr val="251B17"/>
            </a:solidFill>
            <a:prstDash val="solid"/>
          </a:ln>
        </p:spPr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71301D-F365-43D4-B40C-38828E1C2F6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3333750" cy="2343150"/>
          </a:xfrm>
          <a:prstGeom prst="roundRect">
            <a:avLst>
              <a:gd name="adj" fmla="val 3252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1F8EEC-93A4-474D-8CDD-B219770387C0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0EB54-B5EA-46BD-B1A7-7A59CB320049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8D582D-CD9B-41E6-9BFD-B3E5221607CF}"/>
              </a:ext>
            </a:extLst>
          </p:cNvPr>
          <p:cNvSpPr>
            <a:spLocks noGrp="1"/>
          </p:cNvSpPr>
          <p:nvPr/>
        </p:nvSpPr>
        <p:spPr>
          <a:xfrm>
            <a:off x="3219450" y="17145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DC146C-CB8C-4DCD-84AF-CB95997B7585}"/>
              </a:ext>
            </a:extLst>
          </p:cNvPr>
          <p:cNvSpPr>
            <a:spLocks noGrp="1"/>
          </p:cNvSpPr>
          <p:nvPr/>
        </p:nvSpPr>
        <p:spPr>
          <a:xfrm>
            <a:off x="3324225" y="1809750"/>
            <a:ext cx="95250" cy="952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1E1917-3A97-4BEE-BB6F-B1C4978676B1}"/>
              </a:ext>
            </a:extLst>
          </p:cNvPr>
          <p:cNvSpPr>
            <a:spLocks noGrp="1"/>
          </p:cNvSpPr>
          <p:nvPr/>
        </p:nvSpPr>
        <p:spPr>
          <a:xfrm>
            <a:off x="3476625" y="1809750"/>
            <a:ext cx="95250" cy="952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8F4A1E-983C-4CB0-AAC5-AEDBAF4201C7}"/>
              </a:ext>
            </a:extLst>
          </p:cNvPr>
          <p:cNvSpPr>
            <a:spLocks noGrp="1"/>
          </p:cNvSpPr>
          <p:nvPr/>
        </p:nvSpPr>
        <p:spPr>
          <a:xfrm>
            <a:off x="3400425" y="1952625"/>
            <a:ext cx="95250" cy="952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3D34C-3D77-456E-99AF-B9D398BC73ED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DE68D-4F53-47B0-87C9-2AB45BBE17A0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914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Ideal first customer: a product-based merchant in a dense Klang Valley cluster.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76C9BB-08AC-42F4-A02B-59609FE10A73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652BD-851F-418C-B9CB-DD46F65A294F}"/>
              </a:ext>
            </a:extLst>
          </p:cNvPr>
          <p:cNvSpPr>
            <a:spLocks noGrp="1"/>
          </p:cNvSpPr>
          <p:nvPr/>
        </p:nvSpPr>
        <p:spPr>
          <a:xfrm>
            <a:off x="742950" y="3286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 malam + stalls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41512E-BF15-4F6E-9689-C0CED08BA6DB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A3AF6C-BB7F-474B-8554-1EBAC7ED8485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Guided setup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A23C27-7C29-422E-B39D-ECF9A8ACCAF8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F8E747-BA3B-46D8-9A53-4B8C472DD6BA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First verified margin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F74EB4-CF7D-47EE-A6DD-15DA707313CB}"/>
              </a:ext>
            </a:extLst>
          </p:cNvPr>
          <p:cNvSpPr>
            <a:spLocks noGrp="1"/>
          </p:cNvSpPr>
          <p:nvPr/>
        </p:nvSpPr>
        <p:spPr>
          <a:xfrm>
            <a:off x="4400550" y="1562100"/>
            <a:ext cx="3333750" cy="2343150"/>
          </a:xfrm>
          <a:prstGeom prst="roundRect">
            <a:avLst>
              <a:gd name="adj" fmla="val 3252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457619-CB91-4223-B45E-DF975ABF21BB}"/>
              </a:ext>
            </a:extLst>
          </p:cNvPr>
          <p:cNvSpPr>
            <a:spLocks noGrp="1"/>
          </p:cNvSpPr>
          <p:nvPr/>
        </p:nvSpPr>
        <p:spPr>
          <a:xfrm>
            <a:off x="4591050" y="1743075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6F8DBB-DBF2-4352-9EF0-C858AF921AD9}"/>
              </a:ext>
            </a:extLst>
          </p:cNvPr>
          <p:cNvSpPr>
            <a:spLocks noGrp="1"/>
          </p:cNvSpPr>
          <p:nvPr/>
        </p:nvSpPr>
        <p:spPr>
          <a:xfrm>
            <a:off x="4591050" y="17526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225B2-250F-4750-BBAD-7FFBF3CF0B4F}"/>
              </a:ext>
            </a:extLst>
          </p:cNvPr>
          <p:cNvSpPr>
            <a:spLocks noGrp="1"/>
          </p:cNvSpPr>
          <p:nvPr/>
        </p:nvSpPr>
        <p:spPr>
          <a:xfrm>
            <a:off x="7067550" y="17145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47FD6D-71DD-4D77-82CF-70F6E58DAD9B}"/>
              </a:ext>
            </a:extLst>
          </p:cNvPr>
          <p:cNvSpPr>
            <a:spLocks noGrp="1"/>
          </p:cNvSpPr>
          <p:nvPr/>
        </p:nvSpPr>
        <p:spPr>
          <a:xfrm>
            <a:off x="7162800" y="1809750"/>
            <a:ext cx="95250" cy="95250"/>
          </a:xfrm>
          <a:prstGeom prst="ellipse">
            <a:avLst/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0915B5E-808D-4241-B791-9F3A4BF123FB}"/>
              </a:ext>
            </a:extLst>
          </p:cNvPr>
          <p:cNvSpPr>
            <a:spLocks noGrp="1"/>
          </p:cNvSpPr>
          <p:nvPr/>
        </p:nvSpPr>
        <p:spPr>
          <a:xfrm>
            <a:off x="7353300" y="1809750"/>
            <a:ext cx="95250" cy="95250"/>
          </a:xfrm>
          <a:prstGeom prst="ellipse">
            <a:avLst/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cxnSp>
        <p:nvCxnSpPr>
          <p:cNvPr id="107" name="Straight Arrow Connector 106"/>
          <p:cNvCxnSpPr/>
          <p:nvPr/>
        </p:nvCxnSpPr>
        <p:spPr>
          <a:xfrm>
            <a:off x="7248525" y="1914525"/>
            <a:ext cx="114300" cy="0"/>
          </a:xfrm>
          <a:prstGeom prst="straightConnector1">
            <a:avLst/>
          </a:prstGeom>
          <a:ln w="28575">
            <a:solidFill>
              <a:srgbClr val="356AC3"/>
            </a:solidFill>
            <a:prstDash val="solid"/>
          </a:ln>
        </p:spPr>
      </p:cxnSp>
      <p:cxnSp>
        <p:nvCxnSpPr>
          <p:cNvPr id="108" name="Straight Arrow Connector 107"/>
          <p:cNvCxnSpPr/>
          <p:nvPr/>
        </p:nvCxnSpPr>
        <p:spPr>
          <a:xfrm>
            <a:off x="7296150" y="1866900"/>
            <a:ext cx="0" cy="171450"/>
          </a:xfrm>
          <a:prstGeom prst="straightConnector1">
            <a:avLst/>
          </a:prstGeom>
          <a:ln w="19050">
            <a:solidFill>
              <a:srgbClr val="356AC3"/>
            </a:solidFill>
            <a:prstDash val="soli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F3C32ED-C687-4233-9B31-011BE136D9C4}"/>
              </a:ext>
            </a:extLst>
          </p:cNvPr>
          <p:cNvSpPr>
            <a:spLocks noGrp="1"/>
          </p:cNvSpPr>
          <p:nvPr/>
        </p:nvSpPr>
        <p:spPr>
          <a:xfrm>
            <a:off x="4591050" y="227647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2788E4-6D1F-4D55-AEC8-6D0AC7CDC900}"/>
              </a:ext>
            </a:extLst>
          </p:cNvPr>
          <p:cNvSpPr>
            <a:spLocks noGrp="1"/>
          </p:cNvSpPr>
          <p:nvPr/>
        </p:nvSpPr>
        <p:spPr>
          <a:xfrm>
            <a:off x="4591050" y="2628900"/>
            <a:ext cx="2914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Turn a weekly margin habit into cohorts delivered by institutions merchants already trust.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795A2B2-7B67-4177-8140-6B86BBC22D9C}"/>
              </a:ext>
            </a:extLst>
          </p:cNvPr>
          <p:cNvSpPr>
            <a:spLocks noGrp="1"/>
          </p:cNvSpPr>
          <p:nvPr/>
        </p:nvSpPr>
        <p:spPr>
          <a:xfrm>
            <a:off x="4591050" y="3276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F488F-D3DA-4267-A0F3-133F9F9D631F}"/>
              </a:ext>
            </a:extLst>
          </p:cNvPr>
          <p:cNvSpPr>
            <a:spLocks noGrp="1"/>
          </p:cNvSpPr>
          <p:nvPr/>
        </p:nvSpPr>
        <p:spPr>
          <a:xfrm>
            <a:off x="4591050" y="3286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Organisers + councils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C54F79B-ED11-4599-8C48-B7C6EB0E73A0}"/>
              </a:ext>
            </a:extLst>
          </p:cNvPr>
          <p:cNvSpPr>
            <a:spLocks noGrp="1"/>
          </p:cNvSpPr>
          <p:nvPr/>
        </p:nvSpPr>
        <p:spPr>
          <a:xfrm>
            <a:off x="4591050" y="34671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D959DE-9FD0-427D-B51C-0C05DE771E9F}"/>
              </a:ext>
            </a:extLst>
          </p:cNvPr>
          <p:cNvSpPr>
            <a:spLocks noGrp="1"/>
          </p:cNvSpPr>
          <p:nvPr/>
        </p:nvSpPr>
        <p:spPr>
          <a:xfrm>
            <a:off x="4591050" y="34766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Associations + wholesalers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9A9515-2580-4B24-A135-68FDBAD20357}"/>
              </a:ext>
            </a:extLst>
          </p:cNvPr>
          <p:cNvSpPr>
            <a:spLocks noGrp="1"/>
          </p:cNvSpPr>
          <p:nvPr/>
        </p:nvSpPr>
        <p:spPr>
          <a:xfrm>
            <a:off x="4591050" y="3657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5B8BA6-0DB0-4733-8E87-F00D26B538B5}"/>
              </a:ext>
            </a:extLst>
          </p:cNvPr>
          <p:cNvSpPr>
            <a:spLocks noGrp="1"/>
          </p:cNvSpPr>
          <p:nvPr/>
        </p:nvSpPr>
        <p:spPr>
          <a:xfrm>
            <a:off x="4591050" y="3667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Banks + referrals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6DE72D-C1A6-4237-9C7C-B9B538CCDFB9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3333750" cy="2343150"/>
          </a:xfrm>
          <a:prstGeom prst="roundRect">
            <a:avLst>
              <a:gd name="adj" fmla="val 3252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61E7DA-08F9-48FE-8705-8937994868EF}"/>
              </a:ext>
            </a:extLst>
          </p:cNvPr>
          <p:cNvSpPr>
            <a:spLocks noGrp="1"/>
          </p:cNvSpPr>
          <p:nvPr/>
        </p:nvSpPr>
        <p:spPr>
          <a:xfrm>
            <a:off x="8439150" y="1743075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86D727-24CA-44AB-B244-546D9AB9E9EB}"/>
              </a:ext>
            </a:extLst>
          </p:cNvPr>
          <p:cNvSpPr>
            <a:spLocks noGrp="1"/>
          </p:cNvSpPr>
          <p:nvPr/>
        </p:nvSpPr>
        <p:spPr>
          <a:xfrm>
            <a:off x="8439150" y="17526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D35E096-9DF9-4C91-8117-CFE7C5F08B50}"/>
              </a:ext>
            </a:extLst>
          </p:cNvPr>
          <p:cNvSpPr>
            <a:spLocks noGrp="1"/>
          </p:cNvSpPr>
          <p:nvPr/>
        </p:nvSpPr>
        <p:spPr>
          <a:xfrm>
            <a:off x="10915650" y="17145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F7A57"/>
            </a:solidFill>
            <a:prstDash val="solid"/>
          </a:ln>
        </p:spPr>
      </p:sp>
      <p:cxnSp>
        <p:nvCxnSpPr>
          <p:cNvPr id="121" name="Straight Arrow Connector 120"/>
          <p:cNvCxnSpPr/>
          <p:nvPr/>
        </p:nvCxnSpPr>
        <p:spPr>
          <a:xfrm>
            <a:off x="11020425" y="1876425"/>
            <a:ext cx="0" cy="133350"/>
          </a:xfrm>
          <a:prstGeom prst="straightConnector1">
            <a:avLst/>
          </a:prstGeom>
          <a:ln w="47625">
            <a:solidFill>
              <a:srgbClr val="2F7A57"/>
            </a:solidFill>
            <a:prstDash val="solid"/>
          </a:ln>
        </p:spPr>
      </p:cxnSp>
      <p:cxnSp>
        <p:nvCxnSpPr>
          <p:cNvPr id="122" name="Straight Arrow Connector 121"/>
          <p:cNvCxnSpPr/>
          <p:nvPr/>
        </p:nvCxnSpPr>
        <p:spPr>
          <a:xfrm>
            <a:off x="11144250" y="1781175"/>
            <a:ext cx="0" cy="228600"/>
          </a:xfrm>
          <a:prstGeom prst="straightConnector1">
            <a:avLst/>
          </a:prstGeom>
          <a:ln w="47625">
            <a:solidFill>
              <a:srgbClr val="2F7A57"/>
            </a:solidFill>
            <a:prstDash val="solid"/>
          </a:ln>
        </p:spPr>
      </p:cxnSp>
      <p:cxnSp>
        <p:nvCxnSpPr>
          <p:cNvPr id="123" name="Straight Arrow Connector 122"/>
          <p:cNvCxnSpPr/>
          <p:nvPr/>
        </p:nvCxnSpPr>
        <p:spPr>
          <a:xfrm>
            <a:off x="11268075" y="1685925"/>
            <a:ext cx="0" cy="323850"/>
          </a:xfrm>
          <a:prstGeom prst="straightConnector1">
            <a:avLst/>
          </a:prstGeom>
          <a:ln w="47625">
            <a:solidFill>
              <a:srgbClr val="2F7A57"/>
            </a:solidFill>
            <a:prstDash val="solid"/>
          </a:ln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C28203B-AD16-42A9-9D16-E400AD487D98}"/>
              </a:ext>
            </a:extLst>
          </p:cNvPr>
          <p:cNvSpPr>
            <a:spLocks noGrp="1"/>
          </p:cNvSpPr>
          <p:nvPr/>
        </p:nvSpPr>
        <p:spPr>
          <a:xfrm>
            <a:off x="8439150" y="227647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B088CE-EE62-46E2-B7DF-93A25FF3E45D}"/>
              </a:ext>
            </a:extLst>
          </p:cNvPr>
          <p:cNvSpPr>
            <a:spLocks noGrp="1"/>
          </p:cNvSpPr>
          <p:nvPr/>
        </p:nvSpPr>
        <p:spPr>
          <a:xfrm>
            <a:off x="8439150" y="2628900"/>
            <a:ext cx="2914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Reuse the operating habit across sectors, markets, and sponsored partner programmes.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73FC0F4-34EE-49F9-854F-5D23E18CD80B}"/>
              </a:ext>
            </a:extLst>
          </p:cNvPr>
          <p:cNvSpPr>
            <a:spLocks noGrp="1"/>
          </p:cNvSpPr>
          <p:nvPr/>
        </p:nvSpPr>
        <p:spPr>
          <a:xfrm>
            <a:off x="8439150" y="3276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D293AE-FE9D-461F-AEE6-9640154D5082}"/>
              </a:ext>
            </a:extLst>
          </p:cNvPr>
          <p:cNvSpPr>
            <a:spLocks noGrp="1"/>
          </p:cNvSpPr>
          <p:nvPr/>
        </p:nvSpPr>
        <p:spPr>
          <a:xfrm>
            <a:off x="8439150" y="3286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Sector templates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7A7F8E4-9446-47D9-9874-4EA652ACA389}"/>
              </a:ext>
            </a:extLst>
          </p:cNvPr>
          <p:cNvSpPr>
            <a:spLocks noGrp="1"/>
          </p:cNvSpPr>
          <p:nvPr/>
        </p:nvSpPr>
        <p:spPr>
          <a:xfrm>
            <a:off x="8439150" y="34671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892E49-9B7C-4457-AC9F-65F75D1D6B51}"/>
              </a:ext>
            </a:extLst>
          </p:cNvPr>
          <p:cNvSpPr>
            <a:spLocks noGrp="1"/>
          </p:cNvSpPr>
          <p:nvPr/>
        </p:nvSpPr>
        <p:spPr>
          <a:xfrm>
            <a:off x="8439150" y="34766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Merchant referrals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527EC4B-D535-49FC-9735-5E0053DEEDC2}"/>
              </a:ext>
            </a:extLst>
          </p:cNvPr>
          <p:cNvSpPr>
            <a:spLocks noGrp="1"/>
          </p:cNvSpPr>
          <p:nvPr/>
        </p:nvSpPr>
        <p:spPr>
          <a:xfrm>
            <a:off x="8439150" y="3657600"/>
            <a:ext cx="2914650" cy="1619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7DDD8E-98CA-4790-BC2D-2E1E5BFDF8FB}"/>
              </a:ext>
            </a:extLst>
          </p:cNvPr>
          <p:cNvSpPr>
            <a:spLocks noGrp="1"/>
          </p:cNvSpPr>
          <p:nvPr/>
        </p:nvSpPr>
        <p:spPr>
          <a:xfrm>
            <a:off x="8439150" y="3667125"/>
            <a:ext cx="2914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Partner cohorts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3FC199-47B5-4479-9883-4C4CD937DC97}"/>
              </a:ext>
            </a:extLst>
          </p:cNvPr>
          <p:cNvSpPr>
            <a:spLocks noGrp="1"/>
          </p:cNvSpPr>
          <p:nvPr/>
        </p:nvSpPr>
        <p:spPr>
          <a:xfrm>
            <a:off x="552450" y="4391025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OPERATING LOOP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09B9416-6A53-4860-9174-06C7AA229384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14287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98867B-AE61-402E-8844-62F8EB21BE3D}"/>
              </a:ext>
            </a:extLst>
          </p:cNvPr>
          <p:cNvSpPr>
            <a:spLocks noGrp="1"/>
          </p:cNvSpPr>
          <p:nvPr/>
        </p:nvSpPr>
        <p:spPr>
          <a:xfrm>
            <a:off x="628650" y="4810125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 MARKET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>
            <a:off x="1981200" y="5057775"/>
            <a:ext cx="228600" cy="0"/>
          </a:xfrm>
          <a:prstGeom prst="straightConnector1">
            <a:avLst/>
          </a:prstGeom>
          <a:ln w="12383">
            <a:solidFill>
              <a:srgbClr val="6E665F"/>
            </a:solidFill>
            <a:prstDash val="solid"/>
          </a:ln>
        </p:spPr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8566243-FD1D-4A85-8169-1E6AB2976218}"/>
              </a:ext>
            </a:extLst>
          </p:cNvPr>
          <p:cNvSpPr>
            <a:spLocks noGrp="1"/>
          </p:cNvSpPr>
          <p:nvPr/>
        </p:nvSpPr>
        <p:spPr>
          <a:xfrm>
            <a:off x="2209800" y="4695825"/>
            <a:ext cx="16002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66047F-911A-452D-A85D-66D7721F3063}"/>
              </a:ext>
            </a:extLst>
          </p:cNvPr>
          <p:cNvSpPr>
            <a:spLocks noGrp="1"/>
          </p:cNvSpPr>
          <p:nvPr/>
        </p:nvSpPr>
        <p:spPr>
          <a:xfrm>
            <a:off x="2286000" y="4695825"/>
            <a:ext cx="1447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20 MERCHANTS</a:t>
            </a: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3810000" y="5000625"/>
            <a:ext cx="228600" cy="0"/>
          </a:xfrm>
          <a:prstGeom prst="straightConnector1">
            <a:avLst/>
          </a:prstGeom>
          <a:ln w="12383">
            <a:solidFill>
              <a:srgbClr val="6E665F"/>
            </a:solidFill>
            <a:prstDash val="solid"/>
          </a:ln>
        </p:spPr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2B9DEFE-C605-4F4E-8397-16913B6505C1}"/>
              </a:ext>
            </a:extLst>
          </p:cNvPr>
          <p:cNvSpPr>
            <a:spLocks noGrp="1"/>
          </p:cNvSpPr>
          <p:nvPr/>
        </p:nvSpPr>
        <p:spPr>
          <a:xfrm>
            <a:off x="4038600" y="4581525"/>
            <a:ext cx="16002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F2D422-146C-4874-8D7A-F63064AAB8C8}"/>
              </a:ext>
            </a:extLst>
          </p:cNvPr>
          <p:cNvSpPr>
            <a:spLocks noGrp="1"/>
          </p:cNvSpPr>
          <p:nvPr/>
        </p:nvSpPr>
        <p:spPr>
          <a:xfrm>
            <a:off x="4114800" y="4581525"/>
            <a:ext cx="1447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WEEKLY HABIT</a:t>
            </a:r>
          </a:p>
        </p:txBody>
      </p:sp>
      <p:cxnSp>
        <p:nvCxnSpPr>
          <p:cNvPr id="144" name="Straight Arrow Connector 143"/>
          <p:cNvCxnSpPr/>
          <p:nvPr/>
        </p:nvCxnSpPr>
        <p:spPr>
          <a:xfrm>
            <a:off x="5638800" y="4943475"/>
            <a:ext cx="228600" cy="0"/>
          </a:xfrm>
          <a:prstGeom prst="straightConnector1">
            <a:avLst/>
          </a:prstGeom>
          <a:ln w="12383">
            <a:solidFill>
              <a:srgbClr val="6E665F"/>
            </a:solidFill>
            <a:prstDash val="solid"/>
          </a:ln>
        </p:spPr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339401B-3488-4075-AFA4-A46507BCBF00}"/>
              </a:ext>
            </a:extLst>
          </p:cNvPr>
          <p:cNvSpPr>
            <a:spLocks noGrp="1"/>
          </p:cNvSpPr>
          <p:nvPr/>
        </p:nvSpPr>
        <p:spPr>
          <a:xfrm>
            <a:off x="5867400" y="4467225"/>
            <a:ext cx="1600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1BF206-8ED9-4BE1-B0B6-4338023B94A3}"/>
              </a:ext>
            </a:extLst>
          </p:cNvPr>
          <p:cNvSpPr>
            <a:spLocks noGrp="1"/>
          </p:cNvSpPr>
          <p:nvPr/>
        </p:nvSpPr>
        <p:spPr>
          <a:xfrm>
            <a:off x="5943600" y="4467225"/>
            <a:ext cx="1447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REFERRALS</a:t>
            </a:r>
          </a:p>
        </p:txBody>
      </p:sp>
      <p:cxnSp>
        <p:nvCxnSpPr>
          <p:cNvPr id="147" name="Straight Arrow Connector 146"/>
          <p:cNvCxnSpPr/>
          <p:nvPr/>
        </p:nvCxnSpPr>
        <p:spPr>
          <a:xfrm>
            <a:off x="7467600" y="4886325"/>
            <a:ext cx="228600" cy="0"/>
          </a:xfrm>
          <a:prstGeom prst="straightConnector1">
            <a:avLst/>
          </a:prstGeom>
          <a:ln w="12383">
            <a:solidFill>
              <a:srgbClr val="6E665F"/>
            </a:solidFill>
            <a:prstDash val="solid"/>
          </a:ln>
        </p:spPr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92C2501-A106-466F-B03E-45B17636FA81}"/>
              </a:ext>
            </a:extLst>
          </p:cNvPr>
          <p:cNvSpPr>
            <a:spLocks noGrp="1"/>
          </p:cNvSpPr>
          <p:nvPr/>
        </p:nvSpPr>
        <p:spPr>
          <a:xfrm>
            <a:off x="7696200" y="4352925"/>
            <a:ext cx="2000250" cy="952500"/>
          </a:xfrm>
          <a:prstGeom prst="roundRect">
            <a:avLst>
              <a:gd name="adj" fmla="val 6000"/>
            </a:avLst>
          </a:prstGeom>
          <a:solidFill>
            <a:srgbClr val="251B17"/>
          </a:solidFill>
          <a:ln w="14288">
            <a:solidFill>
              <a:srgbClr val="251B17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5D4C95-27F3-4271-9F62-ED99D5772FA9}"/>
              </a:ext>
            </a:extLst>
          </p:cNvPr>
          <p:cNvSpPr>
            <a:spLocks noGrp="1"/>
          </p:cNvSpPr>
          <p:nvPr/>
        </p:nvSpPr>
        <p:spPr>
          <a:xfrm>
            <a:off x="7772400" y="4352925"/>
            <a:ext cx="1847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 COHORTS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A5D1C21-CA81-468C-9C4A-C1B7C039973F}"/>
              </a:ext>
            </a:extLst>
          </p:cNvPr>
          <p:cNvSpPr>
            <a:spLocks noGrp="1"/>
          </p:cNvSpPr>
          <p:nvPr/>
        </p:nvSpPr>
        <p:spPr>
          <a:xfrm>
            <a:off x="552450" y="5600700"/>
            <a:ext cx="11049000" cy="571500"/>
          </a:xfrm>
          <a:prstGeom prst="roundRect">
            <a:avLst>
              <a:gd name="adj" fmla="val 10000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0F04CA8-8AD1-449C-8807-A36430EE58FE}"/>
              </a:ext>
            </a:extLst>
          </p:cNvPr>
          <p:cNvSpPr>
            <a:spLocks noGrp="1"/>
          </p:cNvSpPr>
          <p:nvPr/>
        </p:nvSpPr>
        <p:spPr>
          <a:xfrm>
            <a:off x="723900" y="5743575"/>
            <a:ext cx="742950" cy="247650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950B8B0-7B5F-477F-9546-DAA966E6F5A3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FE7E688-2A9E-4407-AEBA-A39D0475D536}"/>
              </a:ext>
            </a:extLst>
          </p:cNvPr>
          <p:cNvSpPr>
            <a:spLocks noGrp="1"/>
          </p:cNvSpPr>
          <p:nvPr/>
        </p:nvSpPr>
        <p:spPr>
          <a:xfrm>
            <a:off x="1657350" y="5695950"/>
            <a:ext cx="2190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ACTIVATION RATE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3AB58E3-D391-4BBD-BDD2-E48296C5CA86}"/>
              </a:ext>
            </a:extLst>
          </p:cNvPr>
          <p:cNvSpPr>
            <a:spLocks noGrp="1"/>
          </p:cNvSpPr>
          <p:nvPr/>
        </p:nvSpPr>
        <p:spPr>
          <a:xfrm>
            <a:off x="1657350" y="58864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 → first verified margin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BFB2CCA-9043-4818-ACF4-03BDFE00B01A}"/>
              </a:ext>
            </a:extLst>
          </p:cNvPr>
          <p:cNvSpPr>
            <a:spLocks noGrp="1"/>
          </p:cNvSpPr>
          <p:nvPr/>
        </p:nvSpPr>
        <p:spPr>
          <a:xfrm>
            <a:off x="4095750" y="5695950"/>
            <a:ext cx="2190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WEEKLY RETAINED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0E7F07D-30A3-4E85-A784-8A3C42E96A9E}"/>
              </a:ext>
            </a:extLst>
          </p:cNvPr>
          <p:cNvSpPr>
            <a:spLocks noGrp="1"/>
          </p:cNvSpPr>
          <p:nvPr/>
        </p:nvSpPr>
        <p:spPr>
          <a:xfrm>
            <a:off x="4095750" y="58864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merchants returning each week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A4AFA0B-2F1E-4593-94A2-D87DA637448D}"/>
              </a:ext>
            </a:extLst>
          </p:cNvPr>
          <p:cNvSpPr>
            <a:spLocks noGrp="1"/>
          </p:cNvSpPr>
          <p:nvPr/>
        </p:nvSpPr>
        <p:spPr>
          <a:xfrm>
            <a:off x="6534150" y="5695950"/>
            <a:ext cx="2190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VERIFIED ENTRIES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A5C41D7-B2AA-4A39-97AD-BD9FD99CC258}"/>
              </a:ext>
            </a:extLst>
          </p:cNvPr>
          <p:cNvSpPr>
            <a:spLocks noGrp="1"/>
          </p:cNvSpPr>
          <p:nvPr/>
        </p:nvSpPr>
        <p:spPr>
          <a:xfrm>
            <a:off x="6534150" y="58864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merchant per week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ED9715-87A2-4815-99A8-99EF46D8B680}"/>
              </a:ext>
            </a:extLst>
          </p:cNvPr>
          <p:cNvSpPr>
            <a:spLocks noGrp="1"/>
          </p:cNvSpPr>
          <p:nvPr/>
        </p:nvSpPr>
        <p:spPr>
          <a:xfrm>
            <a:off x="8972550" y="5695950"/>
            <a:ext cx="2190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REFERRAL RATE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478743F-DC3C-4AC5-B8D5-7FDBA1C7D8F8}"/>
              </a:ext>
            </a:extLst>
          </p:cNvPr>
          <p:cNvSpPr>
            <a:spLocks noGrp="1"/>
          </p:cNvSpPr>
          <p:nvPr/>
        </p:nvSpPr>
        <p:spPr>
          <a:xfrm>
            <a:off x="8972550" y="58864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merchants from trust loops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0E9F215-F487-4A77-9788-9043EF9D7923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FD56DA-04DF-43C3-BDDF-5A58DADCF6A2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541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ECEF1568-8BD8-4F81-AF02-5DBAF7320E8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OPTIONAL SLIDE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95C0D1-D6F8-4523-8DAA-7C492338F47F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simple model merchants can understand.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AADD15-07F0-41FA-8D3D-9CF6A2E03BDB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3333750" cy="3638550"/>
          </a:xfrm>
          <a:prstGeom prst="roundRect">
            <a:avLst>
              <a:gd name="adj" fmla="val 2286"/>
            </a:avLst>
          </a:prstGeom>
          <a:solidFill>
            <a:srgbClr val="ECE8E0"/>
          </a:solidFill>
          <a:ln w="14288">
            <a:solidFill>
              <a:srgbClr val="6E665F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F70E50-8C1E-4827-BB87-9F9337FF942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104900" cy="295275"/>
          </a:xfrm>
          <a:prstGeom prst="roundRect">
            <a:avLst>
              <a:gd name="adj" fmla="val 50000"/>
            </a:avLst>
          </a:prstGeom>
          <a:solidFill>
            <a:srgbClr val="6E665F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4525D-AA7D-4643-B408-6A9CEC19817D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E3284-C86D-4FA6-9007-37E15442F4CE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C9DFB-E5EC-49E8-A986-7280CDACAC53}"/>
              </a:ext>
            </a:extLst>
          </p:cNvPr>
          <p:cNvSpPr>
            <a:spLocks noGrp="1"/>
          </p:cNvSpPr>
          <p:nvPr/>
        </p:nvSpPr>
        <p:spPr>
          <a:xfrm>
            <a:off x="2581275" y="2686050"/>
            <a:ext cx="100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AB49F0-47D5-4D49-BB2C-D18912ED54FF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71450" cy="171450"/>
          </a:xfrm>
          <a:prstGeom prst="ellipse">
            <a:avLst/>
          </a:prstGeom>
          <a:solidFill>
            <a:srgbClr val="6E665F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844BF-1C01-4E2E-BB06-959461A4FEC3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455AA2-6062-4A78-A4A1-B06E128B8975}"/>
              </a:ext>
            </a:extLst>
          </p:cNvPr>
          <p:cNvSpPr>
            <a:spLocks noGrp="1"/>
          </p:cNvSpPr>
          <p:nvPr/>
        </p:nvSpPr>
        <p:spPr>
          <a:xfrm>
            <a:off x="1104900" y="33242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Manual capture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2A9192-BA98-4F23-B34E-5BC47D8128C1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171450" cy="171450"/>
          </a:xfrm>
          <a:prstGeom prst="ellipse">
            <a:avLst/>
          </a:prstGeom>
          <a:solidFill>
            <a:srgbClr val="6E665F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5CD75-6411-42AD-BB85-2228ACB4D27F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F19B3F-E240-4AB9-8F0E-57CD167FEEAD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Daily gross margin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049C3F-9F00-4A6B-9D2A-EAF7DC49EC44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171450" cy="171450"/>
          </a:xfrm>
          <a:prstGeom prst="ellipse">
            <a:avLst/>
          </a:prstGeom>
          <a:solidFill>
            <a:srgbClr val="6E665F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A6BF4B-5EE4-4C60-8582-1574507A813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BE3D62-CE09-4937-B6E7-DD83905BF232}"/>
              </a:ext>
            </a:extLst>
          </p:cNvPr>
          <p:cNvSpPr>
            <a:spLocks noGrp="1"/>
          </p:cNvSpPr>
          <p:nvPr/>
        </p:nvSpPr>
        <p:spPr>
          <a:xfrm>
            <a:off x="1104900" y="43910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7-day history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4A367B-D0B0-4DC5-9736-37896970B75C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333750" cy="3638550"/>
          </a:xfrm>
          <a:prstGeom prst="roundRect">
            <a:avLst>
              <a:gd name="adj" fmla="val 2286"/>
            </a:avLst>
          </a:prstGeom>
          <a:solidFill>
            <a:srgbClr val="F6DAD5"/>
          </a:solidFill>
          <a:ln w="23813">
            <a:solidFill>
              <a:srgbClr val="A8241C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8C81F4-3C5F-4465-B3DC-A024613CE1F7}"/>
              </a:ext>
            </a:extLst>
          </p:cNvPr>
          <p:cNvSpPr>
            <a:spLocks noGrp="1"/>
          </p:cNvSpPr>
          <p:nvPr/>
        </p:nvSpPr>
        <p:spPr>
          <a:xfrm>
            <a:off x="4610100" y="1857375"/>
            <a:ext cx="1104900" cy="295275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C16B2D-6A49-44FB-A291-466334C303CC}"/>
              </a:ext>
            </a:extLst>
          </p:cNvPr>
          <p:cNvSpPr>
            <a:spLocks noGrp="1"/>
          </p:cNvSpPr>
          <p:nvPr/>
        </p:nvSpPr>
        <p:spPr>
          <a:xfrm>
            <a:off x="4610100" y="186690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EE7471-F700-41E6-B59A-FD53035FDDC5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RM29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13A95-704A-4C12-9931-EA7C69598D0A}"/>
              </a:ext>
            </a:extLst>
          </p:cNvPr>
          <p:cNvSpPr>
            <a:spLocks noGrp="1"/>
          </p:cNvSpPr>
          <p:nvPr/>
        </p:nvSpPr>
        <p:spPr>
          <a:xfrm>
            <a:off x="6410325" y="2686050"/>
            <a:ext cx="100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85F571-AB77-46DD-B3CD-732433DC57E3}"/>
              </a:ext>
            </a:extLst>
          </p:cNvPr>
          <p:cNvSpPr>
            <a:spLocks noGrp="1"/>
          </p:cNvSpPr>
          <p:nvPr/>
        </p:nvSpPr>
        <p:spPr>
          <a:xfrm>
            <a:off x="4648200" y="3352800"/>
            <a:ext cx="171450" cy="1714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958858-EA68-4DBA-8B50-52D56EB18331}"/>
              </a:ext>
            </a:extLst>
          </p:cNvPr>
          <p:cNvSpPr>
            <a:spLocks noGrp="1"/>
          </p:cNvSpPr>
          <p:nvPr/>
        </p:nvSpPr>
        <p:spPr>
          <a:xfrm>
            <a:off x="4648200" y="33528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254FA7-24ED-43F8-A1FA-3CEC1FA5AB0B}"/>
              </a:ext>
            </a:extLst>
          </p:cNvPr>
          <p:cNvSpPr>
            <a:spLocks noGrp="1"/>
          </p:cNvSpPr>
          <p:nvPr/>
        </p:nvSpPr>
        <p:spPr>
          <a:xfrm>
            <a:off x="4933950" y="33242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+ photo capture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9A53088-95FB-4DB8-B8B6-E34DC1229359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171450" cy="1714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B2597F-C456-4635-9DCF-E914BB412D42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308657-0764-4A30-921F-5CA5B11AB8C2}"/>
              </a:ext>
            </a:extLst>
          </p:cNvPr>
          <p:cNvSpPr>
            <a:spLocks noGrp="1"/>
          </p:cNvSpPr>
          <p:nvPr/>
        </p:nvSpPr>
        <p:spPr>
          <a:xfrm>
            <a:off x="4933950" y="38576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Scenarios + trends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F2E2C7-7BFC-4C6B-A545-F30A53447762}"/>
              </a:ext>
            </a:extLst>
          </p:cNvPr>
          <p:cNvSpPr>
            <a:spLocks noGrp="1"/>
          </p:cNvSpPr>
          <p:nvPr/>
        </p:nvSpPr>
        <p:spPr>
          <a:xfrm>
            <a:off x="4648200" y="4419600"/>
            <a:ext cx="171450" cy="171450"/>
          </a:xfrm>
          <a:prstGeom prst="ellipse">
            <a:avLst/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FC4C83-CFCA-4270-83AC-100A305EDCAC}"/>
              </a:ext>
            </a:extLst>
          </p:cNvPr>
          <p:cNvSpPr>
            <a:spLocks noGrp="1"/>
          </p:cNvSpPr>
          <p:nvPr/>
        </p:nvSpPr>
        <p:spPr>
          <a:xfrm>
            <a:off x="4648200" y="44196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AF922B-00B9-4DF6-BC52-E3895A9D203A}"/>
              </a:ext>
            </a:extLst>
          </p:cNvPr>
          <p:cNvSpPr>
            <a:spLocks noGrp="1"/>
          </p:cNvSpPr>
          <p:nvPr/>
        </p:nvSpPr>
        <p:spPr>
          <a:xfrm>
            <a:off x="4933950" y="43910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+ exports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F7A794-458D-46BB-ABC6-2558EB0FF2CC}"/>
              </a:ext>
            </a:extLst>
          </p:cNvPr>
          <p:cNvSpPr>
            <a:spLocks noGrp="1"/>
          </p:cNvSpPr>
          <p:nvPr/>
        </p:nvSpPr>
        <p:spPr>
          <a:xfrm>
            <a:off x="8210550" y="1619250"/>
            <a:ext cx="3333750" cy="3638550"/>
          </a:xfrm>
          <a:prstGeom prst="roundRect">
            <a:avLst>
              <a:gd name="adj" fmla="val 2286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5307496-1055-4325-B3F4-8E96C48DB8C4}"/>
              </a:ext>
            </a:extLst>
          </p:cNvPr>
          <p:cNvSpPr>
            <a:spLocks noGrp="1"/>
          </p:cNvSpPr>
          <p:nvPr/>
        </p:nvSpPr>
        <p:spPr>
          <a:xfrm>
            <a:off x="8439150" y="1857375"/>
            <a:ext cx="1104900" cy="295275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00FBBF-9075-4DB9-BD3A-08C1E981F587}"/>
              </a:ext>
            </a:extLst>
          </p:cNvPr>
          <p:cNvSpPr>
            <a:spLocks noGrp="1"/>
          </p:cNvSpPr>
          <p:nvPr/>
        </p:nvSpPr>
        <p:spPr>
          <a:xfrm>
            <a:off x="8439150" y="186690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5979B-11EE-4D7F-965B-0F97D9AD8EF3}"/>
              </a:ext>
            </a:extLst>
          </p:cNvPr>
          <p:cNvSpPr>
            <a:spLocks noGrp="1"/>
          </p:cNvSpPr>
          <p:nvPr/>
        </p:nvSpPr>
        <p:spPr>
          <a:xfrm>
            <a:off x="8439150" y="24003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5FF783-8628-415C-A720-E9752870FAB1}"/>
              </a:ext>
            </a:extLst>
          </p:cNvPr>
          <p:cNvSpPr>
            <a:spLocks noGrp="1"/>
          </p:cNvSpPr>
          <p:nvPr/>
        </p:nvSpPr>
        <p:spPr>
          <a:xfrm>
            <a:off x="10239375" y="2686050"/>
            <a:ext cx="100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EDF3C00-77FB-40F2-8ED2-0B12AFB67FB5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171450" cy="171450"/>
          </a:xfrm>
          <a:prstGeom prst="ellipse">
            <a:avLst/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B0D1A9-D39F-49A2-A7C5-F0804CF0C22F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F351BC-9995-4953-8E7F-D9A9080A5D58}"/>
              </a:ext>
            </a:extLst>
          </p:cNvPr>
          <p:cNvSpPr>
            <a:spLocks noGrp="1"/>
          </p:cNvSpPr>
          <p:nvPr/>
        </p:nvSpPr>
        <p:spPr>
          <a:xfrm>
            <a:off x="8763000" y="33242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Sponsored cohorts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653779-4806-426C-9C09-80A05A9787AA}"/>
              </a:ext>
            </a:extLst>
          </p:cNvPr>
          <p:cNvSpPr>
            <a:spLocks noGrp="1"/>
          </p:cNvSpPr>
          <p:nvPr/>
        </p:nvSpPr>
        <p:spPr>
          <a:xfrm>
            <a:off x="8477250" y="3886200"/>
            <a:ext cx="171450" cy="171450"/>
          </a:xfrm>
          <a:prstGeom prst="ellipse">
            <a:avLst/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5DA4F-A994-4575-8EFD-975CB293771F}"/>
              </a:ext>
            </a:extLst>
          </p:cNvPr>
          <p:cNvSpPr>
            <a:spLocks noGrp="1"/>
          </p:cNvSpPr>
          <p:nvPr/>
        </p:nvSpPr>
        <p:spPr>
          <a:xfrm>
            <a:off x="8477250" y="38862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A2DE92-EBB0-4A14-8A1F-AB2B98A24EC3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Programme reporting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E7F99E-6BCC-4D86-8CF1-AED97C79A102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171450" cy="171450"/>
          </a:xfrm>
          <a:prstGeom prst="ellipse">
            <a:avLst/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2D433D-7527-46C6-9B38-D9D80726CAA0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81C248-FCF4-4CE5-951B-82CD6CE8B1EF}"/>
              </a:ext>
            </a:extLst>
          </p:cNvPr>
          <p:cNvSpPr>
            <a:spLocks noGrp="1"/>
          </p:cNvSpPr>
          <p:nvPr/>
        </p:nvSpPr>
        <p:spPr>
          <a:xfrm>
            <a:off x="8763000" y="4391025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Co-branded onboarding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9C4938D-8E9A-4656-9B41-246AA4CD0989}"/>
              </a:ext>
            </a:extLst>
          </p:cNvPr>
          <p:cNvSpPr>
            <a:spLocks noGrp="1"/>
          </p:cNvSpPr>
          <p:nvPr/>
        </p:nvSpPr>
        <p:spPr>
          <a:xfrm>
            <a:off x="552450" y="5543550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34500B-849F-4A11-BF97-FD00B085B068}"/>
              </a:ext>
            </a:extLst>
          </p:cNvPr>
          <p:cNvSpPr>
            <a:spLocks noGrp="1"/>
          </p:cNvSpPr>
          <p:nvPr/>
        </p:nvSpPr>
        <p:spPr>
          <a:xfrm>
            <a:off x="552450" y="55530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TRANSACTION FEE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4F8E2C0-EFCD-47A8-8E5F-83018667EDA8}"/>
              </a:ext>
            </a:extLst>
          </p:cNvPr>
          <p:cNvSpPr>
            <a:spLocks noGrp="1"/>
          </p:cNvSpPr>
          <p:nvPr/>
        </p:nvSpPr>
        <p:spPr>
          <a:xfrm>
            <a:off x="2657475" y="5543550"/>
            <a:ext cx="2324100" cy="304800"/>
          </a:xfrm>
          <a:prstGeom prst="roundRect">
            <a:avLst>
              <a:gd name="adj" fmla="val 50000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538706-9E67-4749-AB57-B08244C0C74A}"/>
              </a:ext>
            </a:extLst>
          </p:cNvPr>
          <p:cNvSpPr>
            <a:spLocks noGrp="1"/>
          </p:cNvSpPr>
          <p:nvPr/>
        </p:nvSpPr>
        <p:spPr>
          <a:xfrm>
            <a:off x="2657475" y="5553075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SALE OF MERCHANT DATA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089EAC-C5EA-4CD0-AAEB-2992447F9E05}"/>
              </a:ext>
            </a:extLst>
          </p:cNvPr>
          <p:cNvSpPr>
            <a:spLocks noGrp="1"/>
          </p:cNvSpPr>
          <p:nvPr/>
        </p:nvSpPr>
        <p:spPr>
          <a:xfrm>
            <a:off x="5257800" y="5572125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Later: opt-in supplier, financing, and insurance referrals.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D61A50-1E21-45FD-B9BC-0BED0EC0CF32}"/>
              </a:ext>
            </a:extLst>
          </p:cNvPr>
          <p:cNvSpPr>
            <a:spLocks noGrp="1"/>
          </p:cNvSpPr>
          <p:nvPr/>
        </p:nvSpPr>
        <p:spPr>
          <a:xfrm>
            <a:off x="552450" y="6153150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Pricing benchmark: Bukku Seed RM35/month; StoreHub Starter from RM122/month.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926D05-7159-4E0D-981B-5684340E480A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81525A-170A-4D59-B13B-76139047531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037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5535692-79E7-41DC-91A6-BEF665332C5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4FB8FB-0846-42D4-8A54-F244B19EFA0A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076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73"/>
          </a:bodyPr>
          <a:lstStyle/>
          <a:p>
            <a:pPr algn="l">
              <a:defRPr sz="29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is this different from Touch 'n Go or financial calculators?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ADC66-1619-4AC2-8E44-E76D27CA1B7C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19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They track transactions. PasarAI explains margin.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3FB632-9F50-47E1-88DB-8FA5C39089E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124450" cy="3314700"/>
          </a:xfrm>
          <a:prstGeom prst="roundRect">
            <a:avLst>
              <a:gd name="adj" fmla="val 2299"/>
            </a:avLst>
          </a:prstGeom>
          <a:solidFill>
            <a:srgbClr val="ECE8E0"/>
          </a:solidFill>
          <a:ln w="14288">
            <a:solidFill>
              <a:srgbClr val="6E665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C35CE9-2BF6-4ECD-8E10-0D059E573889}"/>
              </a:ext>
            </a:extLst>
          </p:cNvPr>
          <p:cNvSpPr>
            <a:spLocks noGrp="1"/>
          </p:cNvSpPr>
          <p:nvPr/>
        </p:nvSpPr>
        <p:spPr>
          <a:xfrm>
            <a:off x="781050" y="2371725"/>
            <a:ext cx="2095500" cy="295275"/>
          </a:xfrm>
          <a:prstGeom prst="roundRect">
            <a:avLst>
              <a:gd name="adj" fmla="val 50000"/>
            </a:avLst>
          </a:prstGeom>
          <a:solidFill>
            <a:srgbClr val="6E665F"/>
          </a:solidFill>
          <a:ln w="9525">
            <a:solidFill>
              <a:srgbClr val="6E66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70D445-DA1B-4D0B-A98F-89C11D810173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/ FINANCE APPS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6F3977-B16B-47F5-8AF6-BDFBCB383336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came in?"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0B1522-D40F-40F1-85AB-3379E0ED2E77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35D323-AB3B-494F-A9BC-B6580A8EC03D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C553F4-CB02-48CE-B816-6AD67B0942F1}"/>
              </a:ext>
            </a:extLst>
          </p:cNvPr>
          <p:cNvSpPr>
            <a:spLocks noGrp="1"/>
          </p:cNvSpPr>
          <p:nvPr/>
        </p:nvSpPr>
        <p:spPr>
          <a:xfrm>
            <a:off x="800100" y="41243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250E7-8BB8-4618-8C7B-16CA6A0CEAE5}"/>
              </a:ext>
            </a:extLst>
          </p:cNvPr>
          <p:cNvSpPr>
            <a:spLocks noGrp="1"/>
          </p:cNvSpPr>
          <p:nvPr/>
        </p:nvSpPr>
        <p:spPr>
          <a:xfrm>
            <a:off x="1219200" y="4086225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Spend summaries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A3BAFE-F62D-424D-A8D3-50B6F2D18F49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AD9BA-5129-474F-B4CE-4DD502177503}"/>
              </a:ext>
            </a:extLst>
          </p:cNvPr>
          <p:cNvSpPr>
            <a:spLocks noGrp="1"/>
          </p:cNvSpPr>
          <p:nvPr/>
        </p:nvSpPr>
        <p:spPr>
          <a:xfrm>
            <a:off x="1219200" y="44958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Static calculators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3D8ED-2F3A-49E6-BBAF-61789871777F}"/>
              </a:ext>
            </a:extLst>
          </p:cNvPr>
          <p:cNvSpPr>
            <a:spLocks noGrp="1"/>
          </p:cNvSpPr>
          <p:nvPr/>
        </p:nvSpPr>
        <p:spPr>
          <a:xfrm>
            <a:off x="800100" y="49434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F1592-DDAA-482B-BCC9-B6E909CF5202}"/>
              </a:ext>
            </a:extLst>
          </p:cNvPr>
          <p:cNvSpPr>
            <a:spLocks noGrp="1"/>
          </p:cNvSpPr>
          <p:nvPr/>
        </p:nvSpPr>
        <p:spPr>
          <a:xfrm>
            <a:off x="1219200" y="4905375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Usually tied to app or payment data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205E87-F43E-49A6-B768-20B87AFA0B64}"/>
              </a:ext>
            </a:extLst>
          </p:cNvPr>
          <p:cNvSpPr>
            <a:spLocks noGrp="1"/>
          </p:cNvSpPr>
          <p:nvPr/>
        </p:nvSpPr>
        <p:spPr>
          <a:xfrm>
            <a:off x="5943600" y="2152650"/>
            <a:ext cx="5676900" cy="3314700"/>
          </a:xfrm>
          <a:prstGeom prst="roundRect">
            <a:avLst>
              <a:gd name="adj" fmla="val 2299"/>
            </a:avLst>
          </a:prstGeom>
          <a:solidFill>
            <a:srgbClr val="F6DAD5"/>
          </a:solidFill>
          <a:ln w="19050">
            <a:solidFill>
              <a:srgbClr val="A8241C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BA8C24-369C-4FA1-AB03-15B3412D584B}"/>
              </a:ext>
            </a:extLst>
          </p:cNvPr>
          <p:cNvSpPr>
            <a:spLocks noGrp="1"/>
          </p:cNvSpPr>
          <p:nvPr/>
        </p:nvSpPr>
        <p:spPr>
          <a:xfrm>
            <a:off x="6172200" y="2371725"/>
            <a:ext cx="1104900" cy="295275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E9A62B-2EE0-4933-9E3B-FDD98207983C}"/>
              </a:ext>
            </a:extLst>
          </p:cNvPr>
          <p:cNvSpPr>
            <a:spLocks noGrp="1"/>
          </p:cNvSpPr>
          <p:nvPr/>
        </p:nvSpPr>
        <p:spPr>
          <a:xfrm>
            <a:off x="6172200" y="238125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855F50-FEC6-4734-BF6A-0F635363CB6E}"/>
              </a:ext>
            </a:extLst>
          </p:cNvPr>
          <p:cNvSpPr>
            <a:spLocks noGrp="1"/>
          </p:cNvSpPr>
          <p:nvPr/>
        </p:nvSpPr>
        <p:spPr>
          <a:xfrm>
            <a:off x="6172200" y="2971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did I actually make?"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2EC7C6-5A2A-400E-8319-B38C2BE82EA1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F0685C-8CB6-4267-B547-ED92A7975CDB}"/>
              </a:ext>
            </a:extLst>
          </p:cNvPr>
          <p:cNvSpPr>
            <a:spLocks noGrp="1"/>
          </p:cNvSpPr>
          <p:nvPr/>
        </p:nvSpPr>
        <p:spPr>
          <a:xfrm>
            <a:off x="6610350" y="36766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digital + voice + receipts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7EAD8-302C-42B0-BE0F-8BD2A37586D6}"/>
              </a:ext>
            </a:extLst>
          </p:cNvPr>
          <p:cNvSpPr>
            <a:spLocks noGrp="1"/>
          </p:cNvSpPr>
          <p:nvPr/>
        </p:nvSpPr>
        <p:spPr>
          <a:xfrm>
            <a:off x="6191250" y="412432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FF439A-3CAD-4EEF-9C50-BD91D538B8A2}"/>
              </a:ext>
            </a:extLst>
          </p:cNvPr>
          <p:cNvSpPr>
            <a:spLocks noGrp="1"/>
          </p:cNvSpPr>
          <p:nvPr/>
        </p:nvSpPr>
        <p:spPr>
          <a:xfrm>
            <a:off x="6610350" y="40862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Evidence-backed cost of sales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5D683D-887A-4F9D-B396-D7D5752863C3}"/>
              </a:ext>
            </a:extLst>
          </p:cNvPr>
          <p:cNvSpPr>
            <a:spLocks noGrp="1"/>
          </p:cNvSpPr>
          <p:nvPr/>
        </p:nvSpPr>
        <p:spPr>
          <a:xfrm>
            <a:off x="6191250" y="453390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D29E2D-1409-4A1E-A24B-AF65A82C00A5}"/>
              </a:ext>
            </a:extLst>
          </p:cNvPr>
          <p:cNvSpPr>
            <a:spLocks noGrp="1"/>
          </p:cNvSpPr>
          <p:nvPr/>
        </p:nvSpPr>
        <p:spPr>
          <a:xfrm>
            <a:off x="6610350" y="44958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Verified margin and scenarios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449A2-90EA-4380-988B-E69150C46107}"/>
              </a:ext>
            </a:extLst>
          </p:cNvPr>
          <p:cNvSpPr>
            <a:spLocks noGrp="1"/>
          </p:cNvSpPr>
          <p:nvPr/>
        </p:nvSpPr>
        <p:spPr>
          <a:xfrm>
            <a:off x="6191250" y="49434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0D60E9-890B-4ABA-A5E1-635CF43B5171}"/>
              </a:ext>
            </a:extLst>
          </p:cNvPr>
          <p:cNvSpPr>
            <a:spLocks noGrp="1"/>
          </p:cNvSpPr>
          <p:nvPr/>
        </p:nvSpPr>
        <p:spPr>
          <a:xfrm>
            <a:off x="6610350" y="49053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Payment-agnostic operating layer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CAE853-212D-4009-9AA2-8DE0977C0BA5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1752600" cy="295275"/>
          </a:xfrm>
          <a:prstGeom prst="roundRect">
            <a:avLst>
              <a:gd name="adj" fmla="val 50000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88B626-C133-4262-AD7D-77F6B9458DB1}"/>
              </a:ext>
            </a:extLst>
          </p:cNvPr>
          <p:cNvSpPr>
            <a:spLocks noGrp="1"/>
          </p:cNvSpPr>
          <p:nvPr/>
        </p:nvSpPr>
        <p:spPr>
          <a:xfrm>
            <a:off x="552450" y="5800725"/>
            <a:ext cx="1752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ANOTHER WALLET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22D49C-A72F-42E3-A471-92732D963C98}"/>
              </a:ext>
            </a:extLst>
          </p:cNvPr>
          <p:cNvSpPr>
            <a:spLocks noGrp="1"/>
          </p:cNvSpPr>
          <p:nvPr/>
        </p:nvSpPr>
        <p:spPr>
          <a:xfrm>
            <a:off x="2505075" y="5781675"/>
            <a:ext cx="842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daily operating decision layer that can sit above any payment method.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6BD8A4-8E00-456C-B533-EE5434124CFC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998C22-36B7-493F-B8AA-C18646A540F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1021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2C03387-286B-4752-883E-6E42EFF008D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8DC3EF-1103-4F01-A8DB-AD460AC388AE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952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judge questions we are ready for.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590E59-4441-49EC-8E83-8B602FCE3EE2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5219700" cy="1657350"/>
          </a:xfrm>
          <a:prstGeom prst="roundRect">
            <a:avLst>
              <a:gd name="adj" fmla="val 4598"/>
            </a:avLst>
          </a:prstGeom>
          <a:solidFill>
            <a:srgbClr val="DDE8F7"/>
          </a:solidFill>
          <a:ln w="14288">
            <a:solidFill>
              <a:srgbClr val="356AC3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2EEFFF-066F-4C5F-8315-39AF8F9197BB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" cy="276225"/>
          </a:xfrm>
          <a:prstGeom prst="roundRect">
            <a:avLst>
              <a:gd name="adj" fmla="val 50000"/>
            </a:avLst>
          </a:prstGeom>
          <a:solidFill>
            <a:srgbClr val="356AC3"/>
          </a:solidFill>
          <a:ln w="9525">
            <a:solidFill>
              <a:srgbClr val="356AC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0CA5C-A53F-4997-BCC7-1F2EB9508CBD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18359-FDF4-4B1F-AF9E-1E1868C5C528}"/>
              </a:ext>
            </a:extLst>
          </p:cNvPr>
          <p:cNvSpPr>
            <a:spLocks noGrp="1"/>
          </p:cNvSpPr>
          <p:nvPr/>
        </p:nvSpPr>
        <p:spPr>
          <a:xfrm>
            <a:off x="1390650" y="18478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accurate is the AI?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8C6E3-8A23-482D-80FE-2F74F8867C75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AI interprets. A deterministic engine calculates. Ambiguity requires confirmation.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26E60E-5DC5-4B9E-922C-A59FB235A9DC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219700" cy="1657350"/>
          </a:xfrm>
          <a:prstGeom prst="roundRect">
            <a:avLst>
              <a:gd name="adj" fmla="val 4598"/>
            </a:avLst>
          </a:prstGeom>
          <a:solidFill>
            <a:srgbClr val="F5E9BE"/>
          </a:solidFill>
          <a:ln w="14288">
            <a:solidFill>
              <a:srgbClr val="D5A62E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837A7C-2AC3-4C67-A289-3A61CA9DE9E6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495300" cy="276225"/>
          </a:xfrm>
          <a:prstGeom prst="roundRect">
            <a:avLst>
              <a:gd name="adj" fmla="val 50000"/>
            </a:avLst>
          </a:prstGeom>
          <a:solidFill>
            <a:srgbClr val="D5A62E"/>
          </a:solidFill>
          <a:ln w="9525">
            <a:solidFill>
              <a:srgbClr val="D5A62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133F5-837B-471F-8FDE-D596CD3D2549}"/>
              </a:ext>
            </a:extLst>
          </p:cNvPr>
          <p:cNvSpPr>
            <a:spLocks noGrp="1"/>
          </p:cNvSpPr>
          <p:nvPr/>
        </p:nvSpPr>
        <p:spPr>
          <a:xfrm>
            <a:off x="6305550" y="1876425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5FA774-1551-4ABD-B7D8-46C053C88EC8}"/>
              </a:ext>
            </a:extLst>
          </p:cNvPr>
          <p:cNvSpPr>
            <a:spLocks noGrp="1"/>
          </p:cNvSpPr>
          <p:nvPr/>
        </p:nvSpPr>
        <p:spPr>
          <a:xfrm>
            <a:off x="6934200" y="18478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Is gross margin the same as profit?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ADCDDD-A839-4BAB-84CF-56D62B66AA8C}"/>
              </a:ext>
            </a:extLst>
          </p:cNvPr>
          <p:cNvSpPr>
            <a:spLocks noGrp="1"/>
          </p:cNvSpPr>
          <p:nvPr/>
        </p:nvSpPr>
        <p:spPr>
          <a:xfrm>
            <a:off x="6324600" y="24003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No. PasarAI labels gross margin clearly; overheads stay excluded unless configured.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423A28-A2E6-4277-8638-D0C5CE4C5369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5219700" cy="1657350"/>
          </a:xfrm>
          <a:prstGeom prst="roundRect">
            <a:avLst>
              <a:gd name="adj" fmla="val 4598"/>
            </a:avLst>
          </a:prstGeom>
          <a:solidFill>
            <a:srgbClr val="DCECDF"/>
          </a:solidFill>
          <a:ln w="14288">
            <a:solidFill>
              <a:srgbClr val="2F7A57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09B048-AF5E-4425-9F77-D6F26DFA3EC5}"/>
              </a:ext>
            </a:extLst>
          </p:cNvPr>
          <p:cNvSpPr>
            <a:spLocks noGrp="1"/>
          </p:cNvSpPr>
          <p:nvPr/>
        </p:nvSpPr>
        <p:spPr>
          <a:xfrm>
            <a:off x="762000" y="3819525"/>
            <a:ext cx="495300" cy="276225"/>
          </a:xfrm>
          <a:prstGeom prst="roundRect">
            <a:avLst>
              <a:gd name="adj" fmla="val 50000"/>
            </a:avLst>
          </a:prstGeom>
          <a:solidFill>
            <a:srgbClr val="2F7A57"/>
          </a:solidFill>
          <a:ln w="9525">
            <a:solidFill>
              <a:srgbClr val="2F7A5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EE44B-0C0E-4A0B-BECE-ABBC001CE107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0BF47D-7688-4A88-86AC-5DE94A746844}"/>
              </a:ext>
            </a:extLst>
          </p:cNvPr>
          <p:cNvSpPr>
            <a:spLocks noGrp="1"/>
          </p:cNvSpPr>
          <p:nvPr/>
        </p:nvSpPr>
        <p:spPr>
          <a:xfrm>
            <a:off x="1390650" y="38004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merchants trust the forecast?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E8646D-2F42-4076-90E3-46220A66E1AB}"/>
              </a:ext>
            </a:extLst>
          </p:cNvPr>
          <p:cNvSpPr>
            <a:spLocks noGrp="1"/>
          </p:cNvSpPr>
          <p:nvPr/>
        </p:nvSpPr>
        <p:spPr>
          <a:xfrm>
            <a:off x="781050" y="4352925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appear only when data sufficiency and accuracy gates pass.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6CA094-5969-470D-967F-61AB506B9BB2}"/>
              </a:ext>
            </a:extLst>
          </p:cNvPr>
          <p:cNvSpPr>
            <a:spLocks noGrp="1"/>
          </p:cNvSpPr>
          <p:nvPr/>
        </p:nvSpPr>
        <p:spPr>
          <a:xfrm>
            <a:off x="6096000" y="3629025"/>
            <a:ext cx="5219700" cy="1657350"/>
          </a:xfrm>
          <a:prstGeom prst="roundRect">
            <a:avLst>
              <a:gd name="adj" fmla="val 4598"/>
            </a:avLst>
          </a:prstGeom>
          <a:solidFill>
            <a:srgbClr val="F6DAD5"/>
          </a:solidFill>
          <a:ln w="14288">
            <a:solidFill>
              <a:srgbClr val="A8241C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6F1BD9-169D-442D-B29E-DCEA205F5CB2}"/>
              </a:ext>
            </a:extLst>
          </p:cNvPr>
          <p:cNvSpPr>
            <a:spLocks noGrp="1"/>
          </p:cNvSpPr>
          <p:nvPr/>
        </p:nvSpPr>
        <p:spPr>
          <a:xfrm>
            <a:off x="6305550" y="3819525"/>
            <a:ext cx="495300" cy="276225"/>
          </a:xfrm>
          <a:prstGeom prst="roundRect">
            <a:avLst>
              <a:gd name="adj" fmla="val 50000"/>
            </a:avLst>
          </a:prstGeom>
          <a:solidFill>
            <a:srgbClr val="A8241C"/>
          </a:solidFill>
          <a:ln w="9525">
            <a:solidFill>
              <a:srgbClr val="A8241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29E1BE-4039-48A4-BEA3-8028DE13D973}"/>
              </a:ext>
            </a:extLst>
          </p:cNvPr>
          <p:cNvSpPr>
            <a:spLocks noGrp="1"/>
          </p:cNvSpPr>
          <p:nvPr/>
        </p:nvSpPr>
        <p:spPr>
          <a:xfrm>
            <a:off x="6305550" y="382905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B3D381-49C8-4829-A104-1179C4830D7E}"/>
              </a:ext>
            </a:extLst>
          </p:cNvPr>
          <p:cNvSpPr>
            <a:spLocks noGrp="1"/>
          </p:cNvSpPr>
          <p:nvPr/>
        </p:nvSpPr>
        <p:spPr>
          <a:xfrm>
            <a:off x="6934200" y="38004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this scale beyond Telegram?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214A28-9BF8-4500-9D63-30D457E6FC3F}"/>
              </a:ext>
            </a:extLst>
          </p:cNvPr>
          <p:cNvSpPr>
            <a:spLocks noGrp="1"/>
          </p:cNvSpPr>
          <p:nvPr/>
        </p:nvSpPr>
        <p:spPr>
          <a:xfrm>
            <a:off x="6324600" y="4352925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Yes. Channel adapters share the same contracts, evidence, and finance engine.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784DB6-6F5C-40F8-AF9A-58FD8387C0BC}"/>
              </a:ext>
            </a:extLst>
          </p:cNvPr>
          <p:cNvSpPr>
            <a:spLocks noGrp="1"/>
          </p:cNvSpPr>
          <p:nvPr/>
        </p:nvSpPr>
        <p:spPr>
          <a:xfrm>
            <a:off x="552450" y="5724525"/>
            <a:ext cx="10763250" cy="514350"/>
          </a:xfrm>
          <a:prstGeom prst="roundRect">
            <a:avLst>
              <a:gd name="adj" fmla="val 11111"/>
            </a:avLst>
          </a:prstGeom>
          <a:solidFill>
            <a:srgbClr val="251B17"/>
          </a:solidFill>
          <a:ln w="9525">
            <a:solidFill>
              <a:srgbClr val="251B1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F5F90A-2FB2-4DE6-B048-083A69A94EDD}"/>
              </a:ext>
            </a:extLst>
          </p:cNvPr>
          <p:cNvSpPr>
            <a:spLocks noGrp="1"/>
          </p:cNvSpPr>
          <p:nvPr/>
        </p:nvSpPr>
        <p:spPr>
          <a:xfrm>
            <a:off x="762000" y="5724525"/>
            <a:ext cx="76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MOAT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D6B62E-7FDA-473C-90D7-747852080F8F}"/>
              </a:ext>
            </a:extLst>
          </p:cNvPr>
          <p:cNvSpPr>
            <a:spLocks noGrp="1"/>
          </p:cNvSpPr>
          <p:nvPr/>
        </p:nvSpPr>
        <p:spPr>
          <a:xfrm>
            <a:off x="1495425" y="5724525"/>
            <a:ext cx="9563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Localized merchant ontology + evidence-linked history + multilingual confirmation data + partner distribution.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33130A-7ACF-48C0-A029-309D3B346398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9EE3E4-CDC3-49AC-A0A7-C28D2ABE1BD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091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1624</Words>
  <Application>Microsoft Office PowerPoint</Application>
  <DocSecurity>0</DocSecurity>
  <PresentationFormat>Widescreen</PresentationFormat>
  <Paragraphs>367</Paragraphs>
  <Slides>10</Slides>
  <Notes>10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Bede Lau</cp:lastModifiedBy>
  <cp:revision>1</cp:revision>
  <dcterms:created xsi:type="dcterms:W3CDTF">2026-07-17T20:29:04Z</dcterms:created>
  <dcterms:modified xsi:type="dcterms:W3CDTF">2026-07-18T02:45:41Z</dcterms:modified>
</cp:coreProperties>
</file>
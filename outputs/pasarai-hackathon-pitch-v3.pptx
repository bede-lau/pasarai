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ddce76665c4e24" /><Relationship Type="http://schemas.openxmlformats.org/officeDocument/2006/relationships/extended-properties" Target="/docProps/app.xml" Id="Ra353e86ddbb74bec" /><Relationship Type="http://schemas.openxmlformats.org/officeDocument/2006/relationships/officeDocument" Target="/ppt/presentation.xml" Id="Rff414ed4a817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551febb7294fe3"/>
  </p:sldMasterIdLst>
  <p:notesMasterIdLst>
    <p:notesMasterId xmlns:r="http://schemas.openxmlformats.org/officeDocument/2006/relationships" r:id="R45835b50717c4dd4"/>
  </p:notesMasterIdLst>
  <p:sldIdLst>
    <p:sldId xmlns:r="http://schemas.openxmlformats.org/officeDocument/2006/relationships" id="256" r:id="R82a4574667ef480d"/>
    <p:sldId xmlns:r="http://schemas.openxmlformats.org/officeDocument/2006/relationships" id="257" r:id="R567dc62909fe44e6"/>
    <p:sldId xmlns:r="http://schemas.openxmlformats.org/officeDocument/2006/relationships" id="258" r:id="R99a85ef397214626"/>
    <p:sldId xmlns:r="http://schemas.openxmlformats.org/officeDocument/2006/relationships" id="259" r:id="Rdddb278c6ad94918"/>
    <p:sldId xmlns:r="http://schemas.openxmlformats.org/officeDocument/2006/relationships" id="260" r:id="R2bd8a9668cb14dbb"/>
    <p:sldId xmlns:r="http://schemas.openxmlformats.org/officeDocument/2006/relationships" id="261" r:id="R0a4cd21926ae435b"/>
    <p:sldId xmlns:r="http://schemas.openxmlformats.org/officeDocument/2006/relationships" id="262" r:id="R120cfec455fe4432"/>
    <p:sldId xmlns:r="http://schemas.openxmlformats.org/officeDocument/2006/relationships" id="263" r:id="Rcdfad14aa4c34c64"/>
    <p:sldId xmlns:r="http://schemas.openxmlformats.org/officeDocument/2006/relationships" id="264" r:id="R4249805afa74467a"/>
    <p:sldId xmlns:r="http://schemas.openxmlformats.org/officeDocument/2006/relationships" id="265" r:id="R7090d8df0d8045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e3a7e02f8e491a" /><Relationship Type="http://schemas.openxmlformats.org/officeDocument/2006/relationships/slideMaster" Target="/ppt/slideMasters/slideMaster1.xml" Id="Ra7551febb7294fe3" /><Relationship Type="http://schemas.openxmlformats.org/officeDocument/2006/relationships/notesMaster" Target="/ppt/notesMasters/notesMaster1.xml" Id="R45835b50717c4dd4" /><Relationship Type="http://schemas.openxmlformats.org/officeDocument/2006/relationships/presProps" Target="/ppt/presProps.xml" Id="Ra57c637b38cd4cf1" /><Relationship Type="http://schemas.openxmlformats.org/officeDocument/2006/relationships/tableStyles" Target="/ppt/tableStyles.xml" Id="R732493f3e544408e" /><Relationship Type="http://schemas.openxmlformats.org/officeDocument/2006/relationships/slide" Target="/ppt/slides/slide1.xml" Id="R82a4574667ef480d" /><Relationship Type="http://schemas.openxmlformats.org/officeDocument/2006/relationships/slide" Target="/ppt/slides/slide2.xml" Id="R567dc62909fe44e6" /><Relationship Type="http://schemas.openxmlformats.org/officeDocument/2006/relationships/slide" Target="/ppt/slides/slide3.xml" Id="R99a85ef397214626" /><Relationship Type="http://schemas.openxmlformats.org/officeDocument/2006/relationships/slide" Target="/ppt/slides/slide4.xml" Id="Rdddb278c6ad94918" /><Relationship Type="http://schemas.openxmlformats.org/officeDocument/2006/relationships/slide" Target="/ppt/slides/slide5.xml" Id="R2bd8a9668cb14dbb" /><Relationship Type="http://schemas.openxmlformats.org/officeDocument/2006/relationships/slide" Target="/ppt/slides/slide6.xml" Id="R0a4cd21926ae435b" /><Relationship Type="http://schemas.openxmlformats.org/officeDocument/2006/relationships/slide" Target="/ppt/slides/slide7.xml" Id="R120cfec455fe4432" /><Relationship Type="http://schemas.openxmlformats.org/officeDocument/2006/relationships/slide" Target="/ppt/slides/slide8.xml" Id="Rcdfad14aa4c34c64" /><Relationship Type="http://schemas.openxmlformats.org/officeDocument/2006/relationships/slide" Target="/ppt/slides/slide9.xml" Id="R4249805afa74467a" /><Relationship Type="http://schemas.openxmlformats.org/officeDocument/2006/relationships/slide" Target="/ppt/slides/slide10.xml" Id="R7090d8df0d80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808b76703d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300555aa324ad9" /><Relationship Type="http://schemas.openxmlformats.org/officeDocument/2006/relationships/notesMaster" Target="/ppt/notesMasters/notesMaster1.xml" Id="R7c4c653a8e6b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d92da36c64161" /><Relationship Type="http://schemas.openxmlformats.org/officeDocument/2006/relationships/notesMaster" Target="/ppt/notesMasters/notesMaster1.xml" Id="Raecb53d852094d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ce90ca80d54b9e" /><Relationship Type="http://schemas.openxmlformats.org/officeDocument/2006/relationships/notesMaster" Target="/ppt/notesMasters/notesMaster1.xml" Id="Rae20293afea3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d1ef09f354af6" /><Relationship Type="http://schemas.openxmlformats.org/officeDocument/2006/relationships/notesMaster" Target="/ppt/notesMasters/notesMaster1.xml" Id="Raac590f7b8ae41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6d56e81484825" /><Relationship Type="http://schemas.openxmlformats.org/officeDocument/2006/relationships/notesMaster" Target="/ppt/notesMasters/notesMaster1.xml" Id="R5b8f35c000c347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06d9077a24cb4" /><Relationship Type="http://schemas.openxmlformats.org/officeDocument/2006/relationships/notesMaster" Target="/ppt/notesMasters/notesMaster1.xml" Id="R245ddbd66cd0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67164e61214158" /><Relationship Type="http://schemas.openxmlformats.org/officeDocument/2006/relationships/notesMaster" Target="/ppt/notesMasters/notesMaster1.xml" Id="Rc8bac47c2ed948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894af5428e460f" /><Relationship Type="http://schemas.openxmlformats.org/officeDocument/2006/relationships/notesMaster" Target="/ppt/notesMasters/notesMaster1.xml" Id="Rabb5398c1f2d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29c731e9024d31" /><Relationship Type="http://schemas.openxmlformats.org/officeDocument/2006/relationships/notesMaster" Target="/ppt/notesMasters/notesMaster1.xml" Id="Reb871f9e973e46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589db468284cab" /><Relationship Type="http://schemas.openxmlformats.org/officeDocument/2006/relationships/notesMaster" Target="/ppt/notesMasters/notesMaster1.xml" Id="R80b9c221d76846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</a:t>
            </a:r>
          </a:p>
          <a:p xmlns:a="http://schemas.openxmlformats.org/drawingml/2006/main">
            <a:r>
              <a:t>PasarAI is a zero-UI financial copilot for Malaysian micro-vendors.</a:t>
            </a:r>
          </a:p>
          <a:p xmlns:a="http://schemas.openxmlformats.org/drawingml/2006/main">
            <a:r>
              <a:t>Merchants speak or send receipts in the channels they already use, then get verified daily margin clarity.</a:t>
            </a:r>
          </a:p>
          <a:p xmlns:a="http://schemas.openxmlformats.org/drawingml/2006/main">
            <a:r>
              <a:t>The dashboard on this slide is the working product, not a design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framing:</a:t>
            </a:r>
          </a:p>
          <a:p xmlns:a="http://schemas.openxmlformats.org/drawingml/2006/main">
            <a:r>
              <a:t>Micro-vendors often have the sales number but not the daily cost-of-sales picture.</a:t>
            </a:r>
          </a:p>
          <a:p xmlns:a="http://schemas.openxmlformats.org/drawingml/2006/main">
            <a:r>
              <a:t>Inputs arrive as cash, QR transactions, photos, voice notes, and changing supplier prices.</a:t>
            </a:r>
          </a:p>
          <a:p xmlns:a="http://schemas.openxmlformats.org/drawingml/2006/main">
            <a:r>
              <a:t>The result is delayed or guessed pricing decisions, especially when ingredient or material costs move.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framing:</a:t>
            </a:r>
          </a:p>
          <a:p xmlns:a="http://schemas.openxmlformats.org/drawingml/2006/main">
            <a:r>
              <a:t>This is a deck-native view of the operating experience, not a webpage screenshot.</a:t>
            </a:r>
          </a:p>
          <a:p xmlns:a="http://schemas.openxmlformats.org/drawingml/2006/main">
            <a:r>
              <a:t>Natural merchant inputs remain connected to receipt evidence, visible confirmation, and deterministic arithmetic.</a:t>
            </a:r>
          </a:p>
          <a:p xmlns:a="http://schemas.openxmlformats.org/drawingml/2006/main">
            <a:r>
              <a:t>The verified 35.60% margin is the central daily decision, with cost drivers and recommended actions around it.</a:t>
            </a:r>
          </a:p>
          <a:p xmlns:a="http://schemas.openxmlformats.org/drawingml/2006/main">
            <a:r>
              <a:t>The merchant gets one answer without forms or spreadsheet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narration:</a:t>
            </a:r>
          </a:p>
          <a:p xmlns:a="http://schemas.openxmlformats.org/drawingml/2006/main">
            <a:r>
              <a:t>Each stage uses a distinct crop from the working PasarAI product.</a:t>
            </a:r>
          </a:p>
          <a:p xmlns:a="http://schemas.openxmlformats.org/drawingml/2006/main">
            <a:r>
              <a:t>Capture accepts natural merchant input; Structure exposes extracted facts; Confirm keeps uncertainty visible.</a:t>
            </a:r>
          </a:p>
          <a:p xmlns:a="http://schemas.openxmlformats.org/drawingml/2006/main">
            <a:r>
              <a:t>Calculate applies deterministic business logic, and Act lets the merchant test an explainable next move.</a:t>
            </a:r>
          </a:p>
          <a:p xmlns:a="http://schemas.openxmlformats.org/drawingml/2006/main">
            <a:r>
              <a:t>The trust rail is the product contract: natural input, visible ambiguity, approval, math, then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PasarAI turns a merchant’s Telegram message, voice note, receipt photo, or authenticated web upload into a verified financial event. The API stores raw evidence first, then uses ElevenLabs Scribe for speech and Qwen/DashScope for multilingual interpretation or receipt extraction. Contract validation and a merchant review gate keep ambiguous or low-confidence input uncommitted. After explicit confirmation, the shared service performs decimal-safe calculations and appends events, evidence links, corrections, and versioned cost snapshots to Lakebase. The Next.js BFF keeps bearer credentials server-side and serves traceable margin, cost-driver, evidence, and read-only scenario results. Google Sheets sync uses encrypted OAuth tokens and a durable Lakebase queue with fenced retries. Separately, a manually triggered JDBC snapshot and Lakeflow Bronze-Silver-Gold pipeline publish gated forecasts back to Lakebase.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Assumptions / unresolved: provider adapters are implemented but live credentials and production provider responses were not verified; durable evidence requires the documented production mount; Google and Databricks paths require deployment setup; ElevenLabs Advisor is intentionally omitted because no current web widget is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narration:</a:t>
            </a:r>
          </a:p>
          <a:p xmlns:a="http://schemas.openxmlformats.org/drawingml/2006/main">
            <a:r>
              <a:t>We are not claiming every microenterprise on day one.</a:t>
            </a:r>
          </a:p>
          <a:p xmlns:a="http://schemas.openxmlformats.org/drawingml/2006/main">
            <a:r>
              <a:t>The beachhead is product-based micro-vendors in the three densest commercial markets.</a:t>
            </a:r>
          </a:p>
          <a:p xmlns:a="http://schemas.openxmlformats.org/drawingml/2006/main">
            <a:r>
              <a:t>SAM is explicitly a planning estimate and should be refined with sector-level DOSM counts.</a:t>
            </a:r>
          </a:p>
          <a:p xmlns:a="http://schemas.openxmlformats.org/drawingml/2006/main">
            <a:r>
              <a:t>The SOM target is 3,800 active merchants in three years, approximately one percent of the planning-estimate SAM.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narration:</a:t>
            </a:r>
          </a:p>
          <a:p xmlns:a="http://schemas.openxmlformats.org/drawingml/2006/main">
            <a:r>
              <a:t>The first wedge is a product-based merchant in a dense Klang Valley cluster, with guided setup and a first verified margin.</a:t>
            </a:r>
          </a:p>
          <a:p xmlns:a="http://schemas.openxmlformats.org/drawingml/2006/main">
            <a:r>
              <a:t>The 14-Day Margin Challenge bridges beachhead proof into weekly habit and partner-ready evidence.</a:t>
            </a:r>
          </a:p>
          <a:p xmlns:a="http://schemas.openxmlformats.org/drawingml/2006/main">
            <a:r>
              <a:t>Distribution comes through organisers, councils, associations, wholesalers, banks, and merchant referrals.</a:t>
            </a:r>
          </a:p>
          <a:p xmlns:a="http://schemas.openxmlformats.org/drawingml/2006/main">
            <a:r>
              <a:t>The operating loop is one market, twenty merchants, weekly habit, referrals, then repeatable partner cohorts.</a:t>
            </a:r>
          </a:p>
          <a:p xmlns:a="http://schemas.openxmlformats.org/drawingml/2006/main">
            <a:r>
              <a:t>The KPI rail is explicitly a target set, not current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Business-model narration:</a:t>
            </a:r>
          </a:p>
          <a:p xmlns:a="http://schemas.openxmlformats.org/drawingml/2006/main">
            <a:r>
              <a:t>This slide is optional because pricing still needs direct pilot validation.</a:t>
            </a:r>
          </a:p>
          <a:p xmlns:a="http://schemas.openxmlformats.org/drawingml/2006/main">
            <a:r>
              <a:t>RM29 per month is intentionally below entry accounting and POS benchmarks.</a:t>
            </a:r>
          </a:p>
          <a:p xmlns:a="http://schemas.openxmlformats.org/drawingml/2006/main">
            <a:r>
              <a:t>Partner-sponsored cohorts can fund distribution while keeping the merchant entry price low.</a:t>
            </a:r>
          </a:p>
          <a:p xmlns:a="http://schemas.openxmlformats.org/drawingml/2006/main">
            <a:r>
              <a:t>PasarAI should not take a transaction fee or sell merchant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answer:</a:t>
            </a:r>
          </a:p>
          <a:p xmlns:a="http://schemas.openxmlformats.org/drawingml/2006/main">
            <a:r>
              <a:t>Touch 'n Go and similar apps are valuable for payments, transaction visibility, and merchant tools.</a:t>
            </a:r>
          </a:p>
          <a:p xmlns:a="http://schemas.openxmlformats.org/drawingml/2006/main">
            <a:r>
              <a:t>PasarAI is payment-agnostic and focuses on a different question: after today's changing input costs, what did the merchant actually make?</a:t>
            </a:r>
          </a:p>
          <a:p xmlns:a="http://schemas.openxmlformats.org/drawingml/2006/main">
            <a:r>
              <a:t>It combines cash and digital activity with voice notes and receipts, then produces an evidence-backed gross-margin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answers:</a:t>
            </a:r>
          </a:p>
          <a:p xmlns:a="http://schemas.openxmlformats.org/drawingml/2006/main">
            <a:r>
              <a:t>Privacy: use merchant-scoped authentication, encrypted integration tokens, append-only audit history, and production PDPA controls.</a:t>
            </a:r>
          </a:p>
          <a:p xmlns:a="http://schemas.openxmlformats.org/drawingml/2006/main">
            <a:r>
              <a:t>Outage handling: evidence is retained and uncertain interpretations stay in review rather than silently writing financial facts.</a:t>
            </a:r>
          </a:p>
          <a:p xmlns:a="http://schemas.openxmlformats.org/drawingml/2006/main">
            <a:r>
              <a:t>Non-food use: the architecture is reusable for any product or component-based micro-business; the current demo is strongest for food vendors.</a:t>
            </a:r>
          </a:p>
          <a:p xmlns:a="http://schemas.openxmlformats.org/drawingml/2006/main">
            <a:r>
              <a:t>Moat: the compound dataset is not generic chat. It is localized, evidence-linked merchant operations data with confirmations and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c8b5a253744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2fdf574ac4499" /><Relationship Type="http://schemas.openxmlformats.org/officeDocument/2006/relationships/slideLayout" Target="/ppt/slideLayouts/slideLayout1.xml" Id="Rcb91c54495d742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1c54495d742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f8d64e6b44c23" /><Relationship Type="http://schemas.openxmlformats.org/officeDocument/2006/relationships/image" Target="/ppt/media/image.jpeg" Id="Re6ab8e4ece374390" /><Relationship Type="http://schemas.openxmlformats.org/officeDocument/2006/relationships/notesSlide" Target="/ppt/notesSlides/notesSlide1.xml" Id="Re397c960f20d4d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9c77772f4e3c" /><Relationship Type="http://schemas.openxmlformats.org/officeDocument/2006/relationships/image" Target="/ppt/media/image2.jpeg" Id="Rc7d8b35912374fb6" /><Relationship Type="http://schemas.openxmlformats.org/officeDocument/2006/relationships/notesSlide" Target="/ppt/notesSlides/notesSlide2.xml" Id="Ra164d15ab115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e4d6dd99f4c74" /><Relationship Type="http://schemas.openxmlformats.org/officeDocument/2006/relationships/notesSlide" Target="/ppt/notesSlides/notesSlide3.xml" Id="R3744e5d43fd1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e78e623b34dfb" /><Relationship Type="http://schemas.openxmlformats.org/officeDocument/2006/relationships/image" Target="/ppt/media/image.png" Id="Rffa56442e13d4e02" /><Relationship Type="http://schemas.openxmlformats.org/officeDocument/2006/relationships/image" Target="/ppt/media/image2.png" Id="Ra8ba6ac2036a4254" /><Relationship Type="http://schemas.openxmlformats.org/officeDocument/2006/relationships/image" Target="/ppt/media/image3.png" Id="Rfb83f8d7586a444c" /><Relationship Type="http://schemas.openxmlformats.org/officeDocument/2006/relationships/notesSlide" Target="/ppt/notesSlides/notesSlide4.xml" Id="R99903c53ffec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9c5417d149b5" /><Relationship Type="http://schemas.openxmlformats.org/officeDocument/2006/relationships/image" Target="/ppt/media/image4.png" Id="Ree6a18af944b4912" /><Relationship Type="http://schemas.openxmlformats.org/officeDocument/2006/relationships/image" Target="/ppt/media/image.svg" Id="R4ab996cdb9e04e7e" /><Relationship Type="http://schemas.openxmlformats.org/officeDocument/2006/relationships/image" Target="/ppt/media/image5.png" Id="Re6716158de904104" /><Relationship Type="http://schemas.openxmlformats.org/officeDocument/2006/relationships/image" Target="/ppt/media/image2.svg" Id="R25f3051011a2488d" /><Relationship Type="http://schemas.openxmlformats.org/officeDocument/2006/relationships/image" Target="/ppt/media/image6.png" Id="R57d8f89015854db5" /><Relationship Type="http://schemas.openxmlformats.org/officeDocument/2006/relationships/image" Target="/ppt/media/image3.svg" Id="Rc5333c1163e241de" /><Relationship Type="http://schemas.openxmlformats.org/officeDocument/2006/relationships/image" Target="/ppt/media/image7.png" Id="R8f6bd27d64454de9" /><Relationship Type="http://schemas.openxmlformats.org/officeDocument/2006/relationships/image" Target="/ppt/media/image4.svg" Id="R69ce1e630212458c" /><Relationship Type="http://schemas.openxmlformats.org/officeDocument/2006/relationships/image" Target="/ppt/media/image8.png" Id="R96783fea936c42d3" /><Relationship Type="http://schemas.openxmlformats.org/officeDocument/2006/relationships/image" Target="/ppt/media/image5.svg" Id="R1091e1dca2d74bed" /><Relationship Type="http://schemas.openxmlformats.org/officeDocument/2006/relationships/image" Target="/ppt/media/image9.png" Id="Rbb32acbfed8149f9" /><Relationship Type="http://schemas.openxmlformats.org/officeDocument/2006/relationships/image" Target="/ppt/media/image6.svg" Id="R2a38d8b281864d28" /><Relationship Type="http://schemas.openxmlformats.org/officeDocument/2006/relationships/image" Target="/ppt/media/image10.png" Id="R766c2336b6e746ed" /><Relationship Type="http://schemas.openxmlformats.org/officeDocument/2006/relationships/image" Target="/ppt/media/image7.svg" Id="Rc580bbe8ae5e412e" /><Relationship Type="http://schemas.openxmlformats.org/officeDocument/2006/relationships/image" Target="/ppt/media/image11.png" Id="R66b936b47fdb4ff4" /><Relationship Type="http://schemas.openxmlformats.org/officeDocument/2006/relationships/image" Target="/ppt/media/image8.svg" Id="R64bf928ff4e44f6c" /><Relationship Type="http://schemas.openxmlformats.org/officeDocument/2006/relationships/image" Target="/ppt/media/image12.png" Id="Rfd29c745ac0a434c" /><Relationship Type="http://schemas.openxmlformats.org/officeDocument/2006/relationships/image" Target="/ppt/media/image9.svg" Id="Ra70fc6cac8c24161" /><Relationship Type="http://schemas.openxmlformats.org/officeDocument/2006/relationships/image" Target="/ppt/media/image13.png" Id="Rd71d6e77be684611" /><Relationship Type="http://schemas.openxmlformats.org/officeDocument/2006/relationships/image" Target="/ppt/media/image10.svg" Id="R0070f098f1a44311" /><Relationship Type="http://schemas.openxmlformats.org/officeDocument/2006/relationships/image" Target="/ppt/media/image14.png" Id="Rf687ca39fbde42a9" /><Relationship Type="http://schemas.openxmlformats.org/officeDocument/2006/relationships/image" Target="/ppt/media/image11.svg" Id="R83d209977ef745b0" /><Relationship Type="http://schemas.openxmlformats.org/officeDocument/2006/relationships/notesSlide" Target="/ppt/notesSlides/notesSlide5.xml" Id="Rce865d8d8f2c4a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8a5b08e6644ef" /><Relationship Type="http://schemas.openxmlformats.org/officeDocument/2006/relationships/notesSlide" Target="/ppt/notesSlides/notesSlide6.xml" Id="R42fc903cc5b2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290ebdae14b21" /><Relationship Type="http://schemas.openxmlformats.org/officeDocument/2006/relationships/notesSlide" Target="/ppt/notesSlides/notesSlide7.xml" Id="R42220940fdc94f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ffafaa3514bbf" /><Relationship Type="http://schemas.openxmlformats.org/officeDocument/2006/relationships/notesSlide" Target="/ppt/notesSlides/notesSlide8.xml" Id="R5feed75ec6c5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83a430db14554" /><Relationship Type="http://schemas.openxmlformats.org/officeDocument/2006/relationships/notesSlide" Target="/ppt/notesSlides/notesSlide9.xml" Id="R38121cf2e1b444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297c3bf940ab" /><Relationship Type="http://schemas.openxmlformats.org/officeDocument/2006/relationships/notesSlide" Target="/ppt/notesSlides/notesSlide10.xml" Id="R705f04122e8a45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7151E-F5B0-4A26-AA22-53CBE56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4675F-1783-4843-8A90-95EFA26F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FF114-4E63-44E9-ACD4-CFB1B70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BA188-F8CC-4738-9D36-FF240CC0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1857C-5CA8-4C89-A216-BFF01AC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MALAYSIA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BFB09-FBF4-4976-9F0B-A23B4358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4C356-3F33-422B-A949-815F774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324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Zero-UI financial copilot for Malaysia's micro-vendors.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81919-456C-4D90-AD24-CD58827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Starting with product-based traders.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C22C3-CBD6-415D-9A64-27CBEF2D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57200"/>
            <a:ext cx="635317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b8e4ece374390"/>
          <a:stretch xmlns:a="http://schemas.openxmlformats.org/drawingml/2006/main"/>
        </p:blipFill>
        <p:spPr>
          <a:xfrm xmlns:a="http://schemas.openxmlformats.org/drawingml/2006/main">
            <a:off x="5438775" y="1164226"/>
            <a:ext cx="6086475" cy="3805649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D7DF0-887C-4DB7-ABC2-8069236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04850"/>
            <a:ext cx="1571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0D109-87A0-44EF-A320-A2DA62D2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143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8C166-664A-41B7-AE7D-86C2A008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C4269-4A72-4520-AF3C-5685D326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 MALAM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02E27-E9F4-4966-A356-3FFF4EED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578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60EC7-C5E0-4FFF-80F2-8D10C5E6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67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FOOD STALLS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20175-004D-413F-B188-7B62247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578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5BB5D-1367-4168-BBE1-6B17A3D6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674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TAILORS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04013-C1F4-42CF-8C61-4756214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57875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80881-E415-4D08-9B69-E57FC5E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674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HOME BAKERS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99A12-CC1D-41C8-9050-2531BD9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29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Hackathon demo deck</a:t>
            </a:r>
          </a:p>
        </p:txBody>
      </p:sp>
    </p:spTree>
    <p:extLst>
      <p:ext uri="{BB962C8B-B14F-4D97-AF65-F5344CB8AC3E}">
        <p14:creationId xmlns:p14="http://schemas.microsoft.com/office/powerpoint/2010/main" val="362587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9F1FE9-153E-4BC7-ABAC-69CC8D6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5B271-ACB6-4EFB-A717-3DBA135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Revenue is visible. Real margin isn't.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EC289-CF7D-4D0F-B6DA-50D33F0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C95E7-FF4F-4D52-905D-D2A0110F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AE47C-5ABC-4F55-BB5D-D42D18FD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215C-7D13-4B26-A2C6-EA0D5EA9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192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QR sales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87E8E-251E-4CAC-A0F3-0993C5F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6AB45-618A-4C77-874A-65325D48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EE3F3-FE5D-42F6-9EC6-0A0B640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ECD69-2B8B-49D3-A3C2-2A4B6398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0032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Receipt photos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D4E91-B838-4508-8E0A-EE45FC7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9938B-BD7B-4C0D-80D8-09CEE623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8F7B9-A0B1-46F4-BD9D-7A65BC6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946DE-04E1-4AE4-8967-479FB206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8137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FD02-04D8-4A6F-8ACB-127047C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9C270-86A5-4738-8C23-7D01CA1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3CB45-ED1D-4436-9E53-45D82FA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FA539-7475-4580-BE29-FC43FD8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62425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Changing input prices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1821F-0553-48EA-922F-49027F51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1B17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F6C7C-0361-4C20-9F4D-2879003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33625"/>
            <a:ext cx="1581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99320-6C0E-45FE-B796-C10F4A9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7662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REAL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cxnSp>
        <p:nvCxnSpPr>
          <p:cNvPr id="62" name=""/>
          <p:cNvCxnSpPr>
            <a:stCxn xmlns:a="http://schemas.openxmlformats.org/drawingml/2006/main" id="3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3162300" y="2009775"/>
            <a:ext cx="8001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7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3162300" y="2790825"/>
            <a:ext cx="8001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162300" y="3171825"/>
            <a:ext cx="8001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162300" y="3171825"/>
            <a:ext cx="8001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1ADFB-8BA8-492D-A78A-C9559F2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95450"/>
            <a:ext cx="2743200" cy="35242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C0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8EACA-70F2-428F-A39E-130E8DC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33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merchants know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7FB19-F6C5-4401-9CB7-1B254E5E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RM200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69207-DBA1-4E6F-9F70-9CEA083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sales today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6467475" y="3476625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0B5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672C8-4B72-4CD5-B46A-0397BAB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What they cannot see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8C395-D4E7-4414-9F78-5152046A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RM 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7EE93-C5EA-4630-83E5-944A15A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gross profit after today's costs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EB194-18F8-411A-A8A6-7C23A309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62100"/>
            <a:ext cx="2324100" cy="39814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675F55"/>
          </a:solidFill>
          <a:ln xmlns:a="http://schemas.openxmlformats.org/drawingml/2006/main" w="14288">
            <a:solidFill>
              <a:srgbClr val="251B1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8b35912374fb6"/>
          <a:srcRect xmlns:a="http://schemas.openxmlformats.org/drawingml/2006/main" l="10608" t="0" r="10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0225" y="1685925"/>
            <a:ext cx="2076450" cy="3733800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147B65-20AD-4A14-8E33-4D97541F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57850"/>
            <a:ext cx="2657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E42185-C30C-497A-9253-AD97A39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667375"/>
            <a:ext cx="2657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RECEIPT. MANY COST CHANGES.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1B3843-EB23-4CC0-9364-7D4CF60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Most micro-vendors know what they sold, not what they actually made.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C29281-8A9F-4379-9983-3FFDC7B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E5465D-B8A3-4114-90CE-7CD54563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4253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1C7CDF-595B-4579-8ED1-CE4D3EE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498BC-8226-425B-9259-DA2A075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47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Turning Voice Notes into Real-Time Margins.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10F19-4424-4049-B10C-908FAEA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turns everyday merchant inputs into verified margin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7293B-4C9D-4431-AA70-FA062609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2000250" cy="44386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EF7A0-8229-4C2D-9302-9FD5842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MARGIN CONTROL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C3BD2-D8FD-481B-B951-BBC40B51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95FF5-09A4-4909-AFBA-3C2F922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0769C-B3B4-4449-8600-B9E4CD0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1C014-65C8-440F-B563-2F9EEB7D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98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Natural input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876300" y="29337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8635D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263A2-81B4-42FA-99D5-67A120F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F089-B8B8-4CDD-AEA0-FE19FA8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102FE-A096-462B-81E5-0BE39DA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ED07D-C42F-4C8A-AB05-749A9A4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62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Visible evidence</a:t>
            </a:r>
          </a:p>
        </p:txBody>
      </p:sp>
      <p:cxnSp>
        <p:nvCxnSpPr>
          <p:cNvPr id="118" name=""/>
          <p:cNvCxnSpPr/>
          <p:nvPr/>
        </p:nvCxnSpPr>
        <p:spPr>
          <a:xfrm xmlns:a="http://schemas.openxmlformats.org/drawingml/2006/main">
            <a:off x="8763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8635D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A5FAA-7CA7-48D7-94BE-3C12890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D06FC-77E2-4525-B2ED-2BAC3724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D2BD7-E20C-498C-9247-22227FC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A88CC-EA22-4705-9E1C-7B139E7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C2B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9C2BA"/>
                </a:solidFill>
                <a:latin typeface="Arial"/>
                <a:ea typeface="Arial"/>
                <a:cs typeface="Arial"/>
              </a:rPr>
              <a:t>Margin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948BA-F2A4-42BE-BB43-C909137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Evidence-linked</a:t>
            </a:r>
          </a:p>
          <a:p xmlns:a="http://schemas.openxmlformats.org/drawingml/2006/main"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and merchant-approved</a:t>
            </a:r>
          </a:p>
        </p:txBody>
      </p:sp>
      <p:cxnSp>
        <p:nvCxnSpPr>
          <p:cNvPr id="124" name=""/>
          <p:cNvCxnSpPr/>
          <p:nvPr/>
        </p:nvCxnSpPr>
        <p:spPr>
          <a:xfrm xmlns:a="http://schemas.openxmlformats.org/drawingml/2006/main">
            <a:off x="3048000" y="2686050"/>
            <a:ext cx="2419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25" name=""/>
          <p:cNvCxnSpPr/>
          <p:nvPr/>
        </p:nvCxnSpPr>
        <p:spPr>
          <a:xfrm xmlns:a="http://schemas.openxmlformats.org/drawingml/2006/main">
            <a:off x="5467350" y="2686050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26" name=""/>
          <p:cNvCxnSpPr/>
          <p:nvPr/>
        </p:nvCxnSpPr>
        <p:spPr>
          <a:xfrm xmlns:a="http://schemas.openxmlformats.org/drawingml/2006/main">
            <a:off x="5143500" y="42100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27" name=""/>
          <p:cNvCxnSpPr/>
          <p:nvPr/>
        </p:nvCxnSpPr>
        <p:spPr>
          <a:xfrm xmlns:a="http://schemas.openxmlformats.org/drawingml/2006/main">
            <a:off x="8572500" y="26860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28" name=""/>
          <p:cNvCxnSpPr/>
          <p:nvPr/>
        </p:nvCxnSpPr>
        <p:spPr>
          <a:xfrm xmlns:a="http://schemas.openxmlformats.org/drawingml/2006/main">
            <a:off x="9372600" y="26860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29" name=""/>
          <p:cNvCxnSpPr/>
          <p:nvPr/>
        </p:nvCxnSpPr>
        <p:spPr>
          <a:xfrm xmlns:a="http://schemas.openxmlformats.org/drawingml/2006/main">
            <a:off x="8572500" y="44577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cxnSp>
        <p:nvCxnSpPr>
          <p:cNvPr id="130" name=""/>
          <p:cNvCxnSpPr/>
          <p:nvPr/>
        </p:nvCxnSpPr>
        <p:spPr>
          <a:xfrm xmlns:a="http://schemas.openxmlformats.org/drawingml/2006/main">
            <a:off x="7162800" y="48196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0B5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F0FFB-03D2-4C23-B242-A0FB249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43050"/>
            <a:ext cx="3448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D9589-2908-4BC8-B07B-10E7F2E2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85925"/>
            <a:ext cx="95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C58555-6078-4172-AB2C-D364CC4F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95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NOTE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858A2-2897-4AE7-9A69-255C43B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002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"Eggs up RM2 per tray today."</a:t>
            </a:r>
          </a:p>
        </p:txBody>
      </p:sp>
      <p:cxnSp>
        <p:nvCxnSpPr>
          <p:cNvPr id="135" name=""/>
          <p:cNvCxnSpPr/>
          <p:nvPr/>
        </p:nvCxnSpPr>
        <p:spPr>
          <a:xfrm xmlns:a="http://schemas.openxmlformats.org/drawingml/2006/main">
            <a:off x="3162300" y="23812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36" name=""/>
          <p:cNvCxnSpPr/>
          <p:nvPr/>
        </p:nvCxnSpPr>
        <p:spPr>
          <a:xfrm xmlns:a="http://schemas.openxmlformats.org/drawingml/2006/main">
            <a:off x="3333750" y="23288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37" name=""/>
          <p:cNvCxnSpPr/>
          <p:nvPr/>
        </p:nvCxnSpPr>
        <p:spPr>
          <a:xfrm xmlns:a="http://schemas.openxmlformats.org/drawingml/2006/main">
            <a:off x="3505200" y="2405063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38" name=""/>
          <p:cNvCxnSpPr/>
          <p:nvPr/>
        </p:nvCxnSpPr>
        <p:spPr>
          <a:xfrm xmlns:a="http://schemas.openxmlformats.org/drawingml/2006/main">
            <a:off x="3676650" y="2300288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39" name=""/>
          <p:cNvCxnSpPr/>
          <p:nvPr/>
        </p:nvCxnSpPr>
        <p:spPr>
          <a:xfrm xmlns:a="http://schemas.openxmlformats.org/drawingml/2006/main">
            <a:off x="3848100" y="2357438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0" name=""/>
          <p:cNvCxnSpPr/>
          <p:nvPr/>
        </p:nvCxnSpPr>
        <p:spPr>
          <a:xfrm xmlns:a="http://schemas.openxmlformats.org/drawingml/2006/main">
            <a:off x="4019550" y="2271713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1" name=""/>
          <p:cNvCxnSpPr/>
          <p:nvPr/>
        </p:nvCxnSpPr>
        <p:spPr>
          <a:xfrm xmlns:a="http://schemas.openxmlformats.org/drawingml/2006/main">
            <a:off x="4191000" y="2386013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2" name=""/>
          <p:cNvCxnSpPr/>
          <p:nvPr/>
        </p:nvCxnSpPr>
        <p:spPr>
          <a:xfrm xmlns:a="http://schemas.openxmlformats.org/drawingml/2006/main">
            <a:off x="4362450" y="2309813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3" name=""/>
          <p:cNvCxnSpPr/>
          <p:nvPr/>
        </p:nvCxnSpPr>
        <p:spPr>
          <a:xfrm xmlns:a="http://schemas.openxmlformats.org/drawingml/2006/main">
            <a:off x="4533900" y="23622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4" name=""/>
          <p:cNvCxnSpPr/>
          <p:nvPr/>
        </p:nvCxnSpPr>
        <p:spPr>
          <a:xfrm xmlns:a="http://schemas.openxmlformats.org/drawingml/2006/main">
            <a:off x="4705350" y="2286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5" name=""/>
          <p:cNvCxnSpPr/>
          <p:nvPr/>
        </p:nvCxnSpPr>
        <p:spPr>
          <a:xfrm xmlns:a="http://schemas.openxmlformats.org/drawingml/2006/main">
            <a:off x="4876800" y="2395538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6" name=""/>
          <p:cNvCxnSpPr/>
          <p:nvPr/>
        </p:nvCxnSpPr>
        <p:spPr>
          <a:xfrm xmlns:a="http://schemas.openxmlformats.org/drawingml/2006/main">
            <a:off x="5048250" y="2338388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7" name=""/>
          <p:cNvCxnSpPr/>
          <p:nvPr/>
        </p:nvCxnSpPr>
        <p:spPr>
          <a:xfrm xmlns:a="http://schemas.openxmlformats.org/drawingml/2006/main">
            <a:off x="5219700" y="23717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8" name=""/>
          <p:cNvCxnSpPr/>
          <p:nvPr/>
        </p:nvCxnSpPr>
        <p:spPr>
          <a:xfrm xmlns:a="http://schemas.openxmlformats.org/drawingml/2006/main">
            <a:off x="5391150" y="23050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49" name=""/>
          <p:cNvCxnSpPr/>
          <p:nvPr/>
        </p:nvCxnSpPr>
        <p:spPr>
          <a:xfrm xmlns:a="http://schemas.openxmlformats.org/drawingml/2006/main">
            <a:off x="5562600" y="23907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50" name=""/>
          <p:cNvCxnSpPr/>
          <p:nvPr/>
        </p:nvCxnSpPr>
        <p:spPr>
          <a:xfrm xmlns:a="http://schemas.openxmlformats.org/drawingml/2006/main">
            <a:off x="5734050" y="2347913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EE8D65-E3FE-41D4-9980-EC126954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23431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3EA7EE-4DBC-4821-92C1-4F6261BB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RECEIPT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DD9AB9-4FC2-4A56-9BE1-7C1BD209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05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4 ingredients detected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6B47C5-922F-4FA9-968A-08661742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67125"/>
            <a:ext cx="5905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0222B2-3529-4194-8B02-56270672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7665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EB9FC1-D4A3-45CA-AFDA-67D9031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67125"/>
            <a:ext cx="6286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CDE984-1D2E-4146-85BE-D14060A7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FLOUR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011509-9721-44A2-B851-D988BAA1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67125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F003C8-9E5F-4F33-B688-F0D33BFF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766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OIL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D3C210-C529-4128-9AE9-C955D2DB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00500"/>
            <a:ext cx="6286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EEB950-9178-45F3-8FC3-CDC9670C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00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SUGAR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AF36C7-1E2B-433E-9344-6F2BDB97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11430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A18764-42F5-4365-B4F6-3FBBD65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100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5E89BC-CAF9-4596-9973-18A6196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Evidence #08  ·  14:32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3DFA73-82FF-438A-8EFF-960950E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27622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1B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0B0DD3-1DE2-4A7B-B993-46E7C0C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8763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E541B6-568B-43CA-8780-17BA10A4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6227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9CC87C-A354-49CA-B725-3C38CCD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35.60%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87C1DC-7410-494D-B203-DA05C73E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TODAY'S GROSS MARGIN</a:t>
            </a:r>
          </a:p>
        </p:txBody>
      </p:sp>
      <p:cxnSp>
        <p:nvCxnSpPr>
          <p:cNvPr id="170" name=""/>
          <p:cNvCxnSpPr/>
          <p:nvPr/>
        </p:nvCxnSpPr>
        <p:spPr>
          <a:xfrm xmlns:a="http://schemas.openxmlformats.org/drawingml/2006/main">
            <a:off x="6000750" y="4391025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5DED3"/>
            </a:solidFill>
            <a:prstDash val="solid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004C72-7160-4231-8C74-DFAF14D9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RM71.20 gross profit  ·  RM200 sales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3DAF6E-E09E-43CB-8B1F-F548ADF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276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784982-D1BC-47C6-A905-B196C575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1466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313182-BA5E-4CDB-AA65-6C6E864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049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CONFIRMATION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A78139-D6EA-4B3F-A225-2BCE1E79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4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Tray size: 30 eggs?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517078-7F91-44EB-A660-0628206B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28825"/>
            <a:ext cx="876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887461-2D2C-495C-96EF-47E98F0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383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B5E554-3BC7-473F-AF4E-1808FD45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7622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0B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34D4E61-1A3B-4124-880B-F852E06B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COST DRIVERS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0293C2-3AB7-4DE5-B4DF-E075FAF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452329-97F6-4F99-BB34-E3CFFCF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24250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+RM0.18 / pack</a:t>
            </a:r>
          </a:p>
        </p:txBody>
      </p:sp>
      <p:cxnSp>
        <p:nvCxnSpPr>
          <p:cNvPr id="182" name=""/>
          <p:cNvCxnSpPr/>
          <p:nvPr/>
        </p:nvCxnSpPr>
        <p:spPr>
          <a:xfrm xmlns:a="http://schemas.openxmlformats.org/drawingml/2006/main">
            <a:off x="9029700" y="3762375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5DED3"/>
            </a:solidFill>
            <a:prstDash val="solid"/>
          </a:ln>
        </p:spPr>
      </p:cxnSp>
      <p:cxnSp>
        <p:nvCxnSpPr>
          <p:cNvPr id="183" name=""/>
          <p:cNvCxnSpPr/>
          <p:nvPr/>
        </p:nvCxnSpPr>
        <p:spPr>
          <a:xfrm xmlns:a="http://schemas.openxmlformats.org/drawingml/2006/main">
            <a:off x="9029700" y="3762375"/>
            <a:ext cx="1632204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A8241C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6728E3A-EE90-4F3E-8819-A2F14B80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287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Oil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B09967-B0D8-4BBF-A005-82FD05D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52875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+RM0.06 / pack</a:t>
            </a:r>
          </a:p>
        </p:txBody>
      </p:sp>
      <p:cxnSp>
        <p:nvCxnSpPr>
          <p:cNvPr id="186" name=""/>
          <p:cNvCxnSpPr/>
          <p:nvPr/>
        </p:nvCxnSpPr>
        <p:spPr>
          <a:xfrm xmlns:a="http://schemas.openxmlformats.org/drawingml/2006/main">
            <a:off x="9029700" y="4191000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5DED3"/>
            </a:solidFill>
            <a:prstDash val="solid"/>
          </a:ln>
        </p:spPr>
      </p:cxnSp>
      <p:cxnSp>
        <p:nvCxnSpPr>
          <p:cNvPr id="187" name=""/>
          <p:cNvCxnSpPr/>
          <p:nvPr/>
        </p:nvCxnSpPr>
        <p:spPr>
          <a:xfrm xmlns:a="http://schemas.openxmlformats.org/drawingml/2006/main">
            <a:off x="9029700" y="4191000"/>
            <a:ext cx="861441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D5A62E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EB8526-9489-4732-B1B6-9013700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81500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E03469-42FC-4543-B667-B60CDA5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81500"/>
            <a:ext cx="1657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cxnSp>
        <p:nvCxnSpPr>
          <p:cNvPr id="190" name=""/>
          <p:cNvCxnSpPr/>
          <p:nvPr/>
        </p:nvCxnSpPr>
        <p:spPr>
          <a:xfrm xmlns:a="http://schemas.openxmlformats.org/drawingml/2006/main">
            <a:off x="9029700" y="4619625"/>
            <a:ext cx="2266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5DED3"/>
            </a:solidFill>
            <a:prstDash val="solid"/>
          </a:ln>
        </p:spPr>
      </p:cxnSp>
      <p:cxnSp>
        <p:nvCxnSpPr>
          <p:cNvPr id="191" name=""/>
          <p:cNvCxnSpPr/>
          <p:nvPr/>
        </p:nvCxnSpPr>
        <p:spPr>
          <a:xfrm xmlns:a="http://schemas.openxmlformats.org/drawingml/2006/main">
            <a:off x="9029700" y="4619625"/>
            <a:ext cx="408051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2F7A57"/>
            </a:solidFill>
            <a:prstDash val="solid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D82EBE-CEA9-4885-B7A4-48C1ACF3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B46B0C-A403-436E-88DD-9850625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24475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C8F148-8169-4EC3-9CA9-9B04D73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Hold price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1EA782-E4A8-4BAD-8B3F-A2B24ACB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24475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2CF7FD5-915D-45CE-8270-8FD88E3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34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Reduce oil waste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007CE4-0070-4280-AAAA-17084B2C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24475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BCF2AD-74D4-4AEF-AD6B-E4320000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Test RM0.50 increase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A35E78-7C38-47F8-9B60-21B8464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2447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50D26D0-3C62-4FA8-94F7-1A21D80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34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6AC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56AC3"/>
                </a:solidFill>
                <a:latin typeface="Arial"/>
                <a:ea typeface="Arial"/>
                <a:cs typeface="Arial"/>
              </a:rPr>
              <a:t>Simulate volume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3E1FE7-E4BD-4065-8259-4D6D561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762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A571296-6C96-479F-B4E7-EEBD6EA5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0175"/>
            <a:ext cx="2495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14:34 MYT  ·  8 evidence items  ·  94% confidence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061EFFF-25DB-43B6-9103-D712FF5D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29250"/>
            <a:ext cx="2495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Deterministic calculation v1.3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A98A96-2309-4B67-BAF4-5BCC9EF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 forms. No spreadsheet setup. One verified daily answer.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87AC66-4BC7-4DCE-8338-B308CA7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C6E682-9608-4322-B932-7DE12F62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7058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429EB4-81F6-4BD6-A07C-FB398E8D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91793-6B01-4F7A-ABB9-28FDF8C2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Five visible handoffs from input to action.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838200" y="1790700"/>
            <a:ext cx="10420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802F4-6C72-4EBA-BC48-8CC48BB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28575">
            <a:solidFill>
              <a:srgbClr val="FBFA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0E76C-B5A6-4ACC-A863-A07865F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00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5D0E0-2DDA-4EFA-8D1A-F6272D0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04B2B-E6E3-4F5C-B779-0721EE4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74D1D-256A-4B59-A3A8-A22FC46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431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56442e13d4e02"/>
          <a:stretch xmlns:a="http://schemas.openxmlformats.org/drawingml/2006/main"/>
        </p:blipFill>
        <p:spPr>
          <a:xfrm xmlns:a="http://schemas.openxmlformats.org/drawingml/2006/main">
            <a:off x="676275" y="3101031"/>
            <a:ext cx="1828800" cy="617838"/>
          </a:xfrm>
          <a:prstGeom xmlns:a="http://schemas.openxmlformats.org/drawingml/2006/main" prst="roundRect">
            <a:avLst>
              <a:gd name="adj" fmla="val 114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EECBF-D238-48CF-B7E5-7B01360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00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Voice, receipt, or purchase enters naturally.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C8844-EA25-400F-B6D5-697EB3E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28575">
            <a:solidFill>
              <a:srgbClr val="FB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51D7-D344-4264-96BD-3CC5AB0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600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3782C-F415-470F-927B-B033F1B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76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601E1-F83A-41F9-ACF4-A3F023D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FA1D6-BE6E-41BF-99FE-41985479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24125"/>
            <a:ext cx="19431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91892-B147-472F-8200-ECBEB4E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479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EXTRACTED PURCHASE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E70A7-C010-417E-9D40-57295310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76550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DD2B9-EFF5-4FE1-8510-2E552785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095375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0F685-40B1-44AB-ADBA-0BA18AF8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76550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Eggs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CDD5F-7FD5-4DAF-9A15-C0928492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52775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56938-A9DB-4C45-9C0A-5B1ACF5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33725"/>
            <a:ext cx="1095375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DC5D3-C81F-422C-95CC-F13DE58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52775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 tray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00F17-1728-4B66-8AF0-B7B9F998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29000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25E85-FF96-4BB5-B5D7-C988292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1095375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B7A6E-7785-44AC-91A0-572BD02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29000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30 eggs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A7F9E-DB1A-449D-A2DB-1D447BF9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05225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D1D3E-E92D-4163-B351-8E3C042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1095375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E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D1EF2-64AD-4E81-8D20-2862F4B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05225"/>
            <a:ext cx="962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RM15.00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0D573-922B-46DC-BB5B-DFD4C874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19550"/>
            <a:ext cx="990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72% confidence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3971925" y="40957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E5DED3"/>
            </a:solidFill>
            <a:prstDash val="solid"/>
          </a:ln>
        </p:spPr>
      </p:cxnSp>
      <p:cxnSp>
        <p:nvCxnSpPr>
          <p:cNvPr id="104" name=""/>
          <p:cNvCxnSpPr/>
          <p:nvPr/>
        </p:nvCxnSpPr>
        <p:spPr>
          <a:xfrm xmlns:a="http://schemas.openxmlformats.org/drawingml/2006/main">
            <a:off x="3971925" y="40957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5A62E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7F685B-AC99-429B-B4AE-277CAB59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00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Items, units, and prices become visible facts.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39E8FC-A1B4-44BF-A4AD-2E32C0FC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2E"/>
          </a:solidFill>
          <a:ln xmlns:a="http://schemas.openxmlformats.org/drawingml/2006/main" w="28575">
            <a:solidFill>
              <a:srgbClr val="FBFA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91441-0336-4004-8955-B3175987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600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AC66F-EA81-49B7-9A15-95DD4E4F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76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2B05B2-4C7E-4B45-8318-5D1A3A3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C5ADE-1110-4670-8C47-FAC1CA7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24125"/>
            <a:ext cx="19431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EA09C0-19FA-479A-A753-851AC48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57475"/>
            <a:ext cx="1352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2926C0-86AD-46C0-BE3F-54915A0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670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CONFIRMATION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A68DB-5D36-43D1-823F-070B4F76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00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What does one tray mean?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91DE49-FF35-4D4A-AF50-364394D7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90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Choose the unit before margin is updated.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E597C4-6727-44A7-9CD3-0A65C2A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108880-B138-4E8C-B45A-A69C8A21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909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 eggs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8F238C-0EFA-4FE7-B035-6555FFCB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81425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433DBA-E61E-4E33-A000-24E1482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909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647948-8C9A-4A31-B898-148713A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00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Ambiguity waits for merchant approval.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46890-937B-4614-B28D-2126FF66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28575">
            <a:solidFill>
              <a:srgbClr val="FBFA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DF0C72-A9B1-474A-8EFC-885DE5AA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00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091940-BD1D-4021-8D77-3A676FC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76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F2145A-787B-47DC-8DA5-DAAE2E8E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462C6C-00AD-42B6-B63B-42D97AF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24125"/>
            <a:ext cx="19431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a6ac2036a4254"/>
          <a:srcRect xmlns:a="http://schemas.openxmlformats.org/drawingml/2006/main" l="0" t="14021" r="0" b="14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9975" y="2581275"/>
            <a:ext cx="1828800" cy="1657350"/>
          </a:xfrm>
          <a:prstGeom xmlns:a="http://schemas.openxmlformats.org/drawingml/2006/main" prst="roundRect">
            <a:avLst>
              <a:gd name="adj" fmla="val 1149"/>
            </a:avLst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38A302-7E45-4D21-98D2-31466009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00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Deterministic math updates unit economics.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227152-D6DA-4516-992B-02F6652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28575">
            <a:solidFill>
              <a:srgbClr val="FBFAF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87E075-15CF-4C12-AF4C-DE5B07DD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600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64F4C4-997D-4655-B23A-37A5FBA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76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846D4A-ECC8-491F-B1DA-03E2BB6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8F95EF-7DE6-4CE1-836F-F5E36F3C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24125"/>
            <a:ext cx="19431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3f8d7586a444c"/>
          <a:srcRect xmlns:a="http://schemas.openxmlformats.org/drawingml/2006/main" l="6650" t="0" r="6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875" y="2581275"/>
            <a:ext cx="1828800" cy="1657350"/>
          </a:xfrm>
          <a:prstGeom xmlns:a="http://schemas.openxmlformats.org/drawingml/2006/main" prst="roundRect">
            <a:avLst>
              <a:gd name="adj" fmla="val 1149"/>
            </a:avLst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A40E6A-58B7-41DD-8223-7190B5B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4005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Scenarios turn margin into a next move.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ACC1AF-BDBD-4F72-80AD-F0F35DAB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10680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EA6EBA-007E-440D-A395-AC2A39A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TRUST RAIL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C593BF-0785-4754-9261-6852857F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14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input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534240-69F1-4E35-ABCE-625B15A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76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A8347E-6F1E-476D-88AA-A854E98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ambiguity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AD0E64-991B-4B96-8244-41F4DE80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76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FFD3E4-22C0-408C-993B-B5927FEE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 approval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FAA28D-79FE-4724-9B16-BC96A71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76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3F9798-460D-49D4-8A11-055DB493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14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deterministic math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6CFCE7-562C-4041-9FCD-F29F2C6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76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1D300D-BE31-49BB-8F6D-9229201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14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explainable action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9372A8-5C3D-4C98-9CAC-CF28FC6D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58B6F6-424A-4A68-9CD8-9CD422A3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7329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1E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379090B-1707-4D11-BCA3-AB7826A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508B-D216-4A55-A079-5033975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Every financial write is evidence-backed and merchant-confirmed.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0150F-88BD-48D5-9EEA-C7395F41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286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AI interprets; the merchant approves; deterministic services calculate and append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ACE51-6379-4893-98C3-C12DFF25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47900"/>
            <a:ext cx="20383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FD263-6FB7-4B69-9A46-616D84F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47900"/>
            <a:ext cx="5667375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13335">
            <a:solidFill>
              <a:srgbClr val="55A97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0A00C-2894-4795-8DD8-F5069E9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17335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13335">
            <a:solidFill>
              <a:srgbClr val="D5A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21BAF-359C-420A-A650-90A9088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1920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13335">
            <a:solidFill>
              <a:srgbClr val="79A8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2EA38-6F33-43CF-94C5-D74FA6F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1905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13335">
            <a:solidFill>
              <a:srgbClr val="8CB7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4D89B-A913-4787-9409-24EB61D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10025"/>
            <a:ext cx="43434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9525">
            <a:solidFill>
              <a:srgbClr val="6C8E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1D915-38B3-49EC-A55A-0BBA1420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10025"/>
            <a:ext cx="46101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9525">
            <a:solidFill>
              <a:srgbClr val="D362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6EAFF-6338-4F20-8994-39FC416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0025"/>
            <a:ext cx="24574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222320"/>
          </a:solidFill>
          <a:ln xmlns:a="http://schemas.openxmlformats.org/drawingml/2006/main" w="9525">
            <a:solidFill>
              <a:srgbClr val="5D9F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851F0-7923-4E17-8FDD-B3861FE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3362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MERCHANT &amp; CHANNELS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6367B-7896-4B27-AB1D-BEA9552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33625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5A97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A97D"/>
                </a:solidFill>
                <a:latin typeface="Arial"/>
                <a:ea typeface="Arial"/>
                <a:cs typeface="Arial"/>
              </a:rPr>
              <a:t>PASARAI API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9EBF2-D75F-4BD1-BD48-51C88990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PASARAI DATA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743E7-294E-4FE1-BCCB-EAC30DE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04925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9A8E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9A8E8"/>
                </a:solidFill>
                <a:latin typeface="Arial"/>
                <a:ea typeface="Arial"/>
                <a:cs typeface="Arial"/>
              </a:rPr>
              <a:t>EXTERNAL AI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5F225-4B12-4AA0-A422-F287E819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CB7E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8CB7ED"/>
                </a:solidFill>
                <a:latin typeface="Arial"/>
                <a:ea typeface="Arial"/>
                <a:cs typeface="Arial"/>
              </a:rPr>
              <a:t>PASARAI WEB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C73A0-A677-4B6A-971C-2CFBBC6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CB7ED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8CB7ED"/>
                </a:solidFill>
                <a:latin typeface="Arial"/>
                <a:ea typeface="Arial"/>
                <a:cs typeface="Arial"/>
              </a:rPr>
              <a:t>PASARAI WEB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5B05E-2B3B-4F6B-B7FC-EEB11F45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9575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77A7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E77A70"/>
                </a:solidFill>
                <a:latin typeface="Arial"/>
                <a:ea typeface="Arial"/>
                <a:cs typeface="Arial"/>
              </a:rPr>
              <a:t>DATABRICKS WORKSPACE — TRIGGERED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57097-1A6C-41CA-9C28-2BCE84F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8C58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78C58C"/>
                </a:solidFill>
                <a:latin typeface="Arial"/>
                <a:ea typeface="Arial"/>
                <a:cs typeface="Arial"/>
              </a:rPr>
              <a:t>GOOGLE WORKSPACE</a:t>
            </a:r>
          </a:p>
        </p:txBody>
      </p:sp>
      <p:cxnSp>
        <p:nvCxnSpPr>
          <p:cNvPr id="174" name=""/>
          <p:cNvCxnSpPr/>
          <p:nvPr/>
        </p:nvCxnSpPr>
        <p:spPr>
          <a:xfrm xmlns:a="http://schemas.openxmlformats.org/drawingml/2006/main">
            <a:off x="1133475" y="28765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F6F2"/>
            </a:solidFill>
            <a:prstDash val="solid"/>
          </a:ln>
        </p:spPr>
      </p:cxnSp>
      <p:cxnSp>
        <p:nvCxnSpPr>
          <p:cNvPr id="175" name=""/>
          <p:cNvCxnSpPr/>
          <p:nvPr/>
        </p:nvCxnSpPr>
        <p:spPr>
          <a:xfrm xmlns:a="http://schemas.openxmlformats.org/drawingml/2006/main">
            <a:off x="2171700" y="28765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7F6F2"/>
            </a:solidFill>
            <a:prstDash val="solid"/>
          </a:ln>
        </p:spPr>
      </p:cxnSp>
      <p:cxnSp>
        <p:nvCxnSpPr>
          <p:cNvPr id="176" name=""/>
          <p:cNvCxnSpPr/>
          <p:nvPr/>
        </p:nvCxnSpPr>
        <p:spPr>
          <a:xfrm xmlns:a="http://schemas.openxmlformats.org/drawingml/2006/main">
            <a:off x="6858000" y="28765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D94B42"/>
            </a:solidFill>
            <a:prstDash val="solid"/>
          </a:ln>
        </p:spPr>
      </p:cxnSp>
      <p:cxnSp>
        <p:nvCxnSpPr>
          <p:cNvPr id="177" name=""/>
          <p:cNvCxnSpPr/>
          <p:nvPr/>
        </p:nvCxnSpPr>
        <p:spPr>
          <a:xfrm xmlns:a="http://schemas.openxmlformats.org/drawingml/2006/main">
            <a:off x="8096250" y="2876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97D"/>
            </a:solidFill>
            <a:prstDash val="solid"/>
          </a:ln>
        </p:spPr>
      </p:cxnSp>
      <p:cxnSp>
        <p:nvCxnSpPr>
          <p:cNvPr id="178" name=""/>
          <p:cNvCxnSpPr/>
          <p:nvPr/>
        </p:nvCxnSpPr>
        <p:spPr>
          <a:xfrm xmlns:a="http://schemas.openxmlformats.org/drawingml/2006/main">
            <a:off x="9810750" y="28765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A97D"/>
            </a:solidFill>
            <a:prstDash val="solid"/>
          </a:ln>
        </p:spPr>
      </p:cxnSp>
      <p:cxnSp>
        <p:nvCxnSpPr>
          <p:cNvPr id="179" name=""/>
          <p:cNvCxnSpPr/>
          <p:nvPr/>
        </p:nvCxnSpPr>
        <p:spPr>
          <a:xfrm xmlns:a="http://schemas.openxmlformats.org/drawingml/2006/main">
            <a:off x="3190875" y="20574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A8E8"/>
            </a:solidFill>
            <a:prstDash val="solid"/>
          </a:ln>
        </p:spPr>
      </p:cxnSp>
      <p:cxnSp>
        <p:nvCxnSpPr>
          <p:cNvPr id="180" name=""/>
          <p:cNvCxnSpPr/>
          <p:nvPr/>
        </p:nvCxnSpPr>
        <p:spPr>
          <a:xfrm xmlns:a="http://schemas.openxmlformats.org/drawingml/2006/main">
            <a:off x="3190875" y="20574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A8E8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5657850" y="1952625"/>
            <a:ext cx="6286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A8E8"/>
            </a:solidFill>
            <a:prstDash val="solid"/>
          </a:ln>
        </p:spPr>
      </p:cxnSp>
      <p:cxnSp>
        <p:nvCxnSpPr>
          <p:cNvPr id="182" name=""/>
          <p:cNvCxnSpPr/>
          <p:nvPr/>
        </p:nvCxnSpPr>
        <p:spPr>
          <a:xfrm xmlns:a="http://schemas.openxmlformats.org/drawingml/2006/main">
            <a:off x="3190875" y="3448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A62E"/>
            </a:solidFill>
            <a:prstDash val="solid"/>
          </a:ln>
        </p:spPr>
      </p:cxnSp>
      <p:cxnSp>
        <p:nvCxnSpPr>
          <p:cNvPr id="183" name=""/>
          <p:cNvCxnSpPr/>
          <p:nvPr/>
        </p:nvCxnSpPr>
        <p:spPr>
          <a:xfrm xmlns:a="http://schemas.openxmlformats.org/drawingml/2006/main">
            <a:off x="3190875" y="3771900"/>
            <a:ext cx="63150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A62E"/>
            </a:solidFill>
            <a:prstDash val="solid"/>
          </a:ln>
        </p:spPr>
      </p:cxnSp>
      <p:cxnSp>
        <p:nvCxnSpPr>
          <p:cNvPr id="184" name=""/>
          <p:cNvCxnSpPr/>
          <p:nvPr/>
        </p:nvCxnSpPr>
        <p:spPr>
          <a:xfrm xmlns:a="http://schemas.openxmlformats.org/drawingml/2006/main">
            <a:off x="9505950" y="3448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A62E"/>
            </a:solidFill>
            <a:prstDash val="solid"/>
          </a:ln>
        </p:spPr>
      </p:cxnSp>
      <p:cxnSp>
        <p:nvCxnSpPr>
          <p:cNvPr id="185" name=""/>
          <p:cNvCxnSpPr/>
          <p:nvPr/>
        </p:nvCxnSpPr>
        <p:spPr>
          <a:xfrm xmlns:a="http://schemas.openxmlformats.org/drawingml/2006/main">
            <a:off x="7562850" y="3448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5A62E"/>
            </a:solidFill>
            <a:prstDash val="solid"/>
          </a:ln>
        </p:spPr>
      </p:cxnSp>
      <p:cxnSp>
        <p:nvCxnSpPr>
          <p:cNvPr id="186" name=""/>
          <p:cNvCxnSpPr/>
          <p:nvPr/>
        </p:nvCxnSpPr>
        <p:spPr>
          <a:xfrm xmlns:a="http://schemas.openxmlformats.org/drawingml/2006/main">
            <a:off x="2190750" y="40100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B7ED"/>
            </a:solidFill>
            <a:prstDash val="dash"/>
          </a:ln>
        </p:spPr>
      </p:cxnSp>
      <p:cxnSp>
        <p:nvCxnSpPr>
          <p:cNvPr id="187" name=""/>
          <p:cNvCxnSpPr/>
          <p:nvPr/>
        </p:nvCxnSpPr>
        <p:spPr>
          <a:xfrm xmlns:a="http://schemas.openxmlformats.org/drawingml/2006/main">
            <a:off x="3190875" y="34480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B7ED"/>
            </a:solidFill>
            <a:prstDash val="dash"/>
          </a:ln>
        </p:spPr>
      </p:cxnSp>
      <p:cxnSp>
        <p:nvCxnSpPr>
          <p:cNvPr id="188" name=""/>
          <p:cNvCxnSpPr/>
          <p:nvPr/>
        </p:nvCxnSpPr>
        <p:spPr>
          <a:xfrm xmlns:a="http://schemas.openxmlformats.org/drawingml/2006/main">
            <a:off x="2190750" y="40100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B7ED"/>
            </a:solidFill>
            <a:prstDash val="dash"/>
          </a:ln>
        </p:spPr>
      </p:cxnSp>
      <p:cxnSp>
        <p:nvCxnSpPr>
          <p:cNvPr id="189" name=""/>
          <p:cNvCxnSpPr/>
          <p:nvPr/>
        </p:nvCxnSpPr>
        <p:spPr>
          <a:xfrm xmlns:a="http://schemas.openxmlformats.org/drawingml/2006/main">
            <a:off x="3048000" y="45148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5A97D"/>
            </a:solidFill>
            <a:prstDash val="solid"/>
          </a:ln>
        </p:spPr>
      </p:cxnSp>
      <p:cxnSp>
        <p:nvCxnSpPr>
          <p:cNvPr id="190" name=""/>
          <p:cNvCxnSpPr/>
          <p:nvPr/>
        </p:nvCxnSpPr>
        <p:spPr>
          <a:xfrm xmlns:a="http://schemas.openxmlformats.org/drawingml/2006/main">
            <a:off x="10534650" y="45148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8C58C"/>
            </a:solidFill>
            <a:prstDash val="solid"/>
          </a:ln>
        </p:spPr>
      </p:cxnSp>
      <p:cxnSp>
        <p:nvCxnSpPr>
          <p:cNvPr id="191" name=""/>
          <p:cNvCxnSpPr/>
          <p:nvPr/>
        </p:nvCxnSpPr>
        <p:spPr>
          <a:xfrm xmlns:a="http://schemas.openxmlformats.org/drawingml/2006/main">
            <a:off x="10534650" y="47053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8C58C"/>
            </a:solidFill>
            <a:prstDash val="dash"/>
          </a:ln>
        </p:spPr>
      </p:cxnSp>
      <p:cxnSp>
        <p:nvCxnSpPr>
          <p:cNvPr id="192" name=""/>
          <p:cNvCxnSpPr/>
          <p:nvPr/>
        </p:nvCxnSpPr>
        <p:spPr>
          <a:xfrm xmlns:a="http://schemas.openxmlformats.org/drawingml/2006/main">
            <a:off x="8734425" y="3924300"/>
            <a:ext cx="293370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E77A70"/>
            </a:solidFill>
            <a:prstDash val="dash"/>
          </a:ln>
        </p:spPr>
      </p:cxnSp>
      <p:cxnSp>
        <p:nvCxnSpPr>
          <p:cNvPr id="193" name=""/>
          <p:cNvCxnSpPr/>
          <p:nvPr/>
        </p:nvCxnSpPr>
        <p:spPr>
          <a:xfrm xmlns:a="http://schemas.openxmlformats.org/drawingml/2006/main">
            <a:off x="7296150" y="3924300"/>
            <a:ext cx="1438275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E77A70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F0C72-CC3D-4793-93C9-9F373CA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text • voice • receipt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0F8CFF-0491-4BE9-9D47-CADFCF9A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HTTPS webhook / JSON + secret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10A990-5E18-41A6-B75C-2EACADE3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145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79A8E8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79A8E8"/>
                </a:solidFill>
                <a:latin typeface="Arial"/>
                <a:ea typeface="Arial"/>
                <a:cs typeface="Arial"/>
              </a:rPr>
              <a:t>audio ↔ transcript JSON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58F112-76EF-404E-873C-A7E46139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79A8E8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79A8E8"/>
                </a:solidFill>
                <a:latin typeface="Arial"/>
                <a:ea typeface="Arial"/>
                <a:cs typeface="Arial"/>
              </a:rPr>
              <a:t>text/image ↔ candidate JSON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7B24D-CC79-4EED-9B44-65F8DC56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D94B4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D94B42"/>
                </a:solidFill>
                <a:latin typeface="Arial"/>
                <a:ea typeface="Arial"/>
                <a:cs typeface="Arial"/>
              </a:rPr>
              <a:t>confirm / version + token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8601F8-7932-4A0E-AF20-653F44F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55A97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55A97D"/>
                </a:solidFill>
                <a:latin typeface="Arial"/>
                <a:ea typeface="Arial"/>
                <a:cs typeface="Arial"/>
              </a:rPr>
              <a:t>SQL + JSONB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8F3DBE-5F7B-44A7-88D5-973CEBD6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55A97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55A97D"/>
                </a:solidFill>
                <a:latin typeface="Arial"/>
                <a:ea typeface="Arial"/>
                <a:cs typeface="Arial"/>
              </a:rPr>
              <a:t>verified margin • scenarios • evidence links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811C21-93A6-412F-8246-5075CF17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raw JSON + media — stored before AI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8EB5F2-EBCF-46A6-BAB0-54DF115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5762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CB7ED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8CB7ED"/>
                </a:solidFill>
                <a:latin typeface="Arial"/>
                <a:ea typeface="Arial"/>
                <a:cs typeface="Arial"/>
              </a:rPr>
              <a:t>HTTPS REST / JSON + bearer + idempotency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B5EE4C-66CA-4BE2-AD78-811A168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050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9050">
            <a:solidFill>
              <a:srgbClr val="D5A6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3D515-8D60-48AA-B998-A2650B5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747DB9-B057-4370-B576-064A3AF6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419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639F31-D6C0-46B9-B471-D21B47BE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A0DED8-5EF9-4189-9372-6B9F37B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21E3D0-0398-4F25-9BB5-F2A27F4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86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FOOD STALL</a:t>
            </a:r>
          </a:p>
          <a:p xmlns:a="http://schemas.openxmlformats.org/drawingml/2006/main">
            <a:pPr algn="ctr">
              <a:defRPr sz="75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9B24F1-4C93-493A-8CE1-4997E6A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14600"/>
            <a:ext cx="590550" cy="7810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A8E0"/>
            </a:solidFill>
            <a:prstDash val="solid"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a18af944b4912">
            <a:extLst>
              <a:ext uri="{96DAC541-7B7A-43D3-8B79-37D633B846F1}">
                <asvg:svgBlip xmlns:asvg="http://schemas.microsoft.com/office/drawing/2016/SVG/main" r:embed="R4ab996cdb9e04e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14500" y="26003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46CC98-C391-4296-8D2C-2F655676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9718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TELEGRAM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6DEF39-55C4-4B54-83B3-152B79EC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D7C259-5ED4-4557-BF33-BA39B9A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616412-90B0-4B44-B2E0-78D3EE79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E1C"/>
          </a:solidFill>
          <a:ln xmlns:a="http://schemas.openxmlformats.org/drawingml/2006/main" w="9525">
            <a:solidFill>
              <a:srgbClr val="32A8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515C88-EB5F-4521-99C7-7034B1B2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4288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047D66-1048-4926-AC42-CD151C9D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123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A97D"/>
            </a:solidFill>
            <a:prstDash val="solid"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16158de904104">
            <a:extLst>
              <a:ext uri="{96DAC541-7B7A-43D3-8B79-37D633B846F1}">
                <asvg:svgBlip xmlns:asvg="http://schemas.microsoft.com/office/drawing/2016/SVG/main" r:embed="R25f3051011a248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67000" y="2609850"/>
            <a:ext cx="304800" cy="219075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86128D-8016-48DB-B928-D0BE5EAB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EVIDENCE-FIRST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D58AD4-47FD-42CB-BC08-207CD4A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claim • dedupe • lease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AD89E4-34AA-4F80-8F98-0ADCFA8D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store raw before interpret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2D3E4C-8980-4995-A998-54F70C0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A25EAB-C0DE-4403-960C-B6E5232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0BF5E9-8C17-4B34-ACC9-5F6CF3AF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14600"/>
            <a:ext cx="114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4B4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178015-4A99-4CAC-9B49-BEE204A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384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MERCHANT</a:t>
            </a:r>
          </a:p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REVIEW GATE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5937C80-D8C5-43B2-8546-9F4879F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9525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D9D5"/>
          </a:solidFill>
          <a:ln xmlns:a="http://schemas.openxmlformats.org/drawingml/2006/main" w="9525">
            <a:solidFill>
              <a:srgbClr val="D94B4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F60478-F9FE-438D-A801-9210DC7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861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D94B4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D94B42"/>
                </a:solidFill>
                <a:latin typeface="Arial"/>
                <a:ea typeface="Arial"/>
                <a:cs typeface="Arial"/>
              </a:rPr>
              <a:t>NO WRITE BEFORE CONFIRM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F99336-6C67-44D6-84B4-30E30CD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2"/>
          </a:solidFill>
          <a:ln xmlns:a="http://schemas.openxmlformats.org/drawingml/2006/main" w="9525">
            <a:solidFill>
              <a:srgbClr val="D94B4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8A3561-65A1-4DA8-BBD4-B46C34AF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96B27E-DF26-413C-BF37-651E29B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14600"/>
            <a:ext cx="106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A97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7010D2-986D-4E82-88A5-02F612B7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LEDGER &amp;</a:t>
            </a:r>
          </a:p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MARGIN SERVICE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C51B02-E50F-4ED0-9F02-C631C8B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contract-validates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2B2162-7483-443C-B35D-1BDA5FD9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908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decimal-safe finance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D7C5452-7EED-4B64-BBF6-B2E2A3B8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23A489-29A1-4AE0-A9E4-7AF9B96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225DAE-0E01-4184-A3AD-F9DF64E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895350" cy="9334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2E6B9"/>
          </a:solidFill>
          <a:ln xmlns:a="http://schemas.openxmlformats.org/drawingml/2006/main" w="19050">
            <a:solidFill>
              <a:srgbClr val="D5A62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21AB09C-4B4C-4C22-887B-A828171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590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cxnSp>
        <p:nvCxnSpPr>
          <p:cNvPr id="237" name=""/>
          <p:cNvCxnSpPr/>
          <p:nvPr/>
        </p:nvCxnSpPr>
        <p:spPr>
          <a:xfrm xmlns:a="http://schemas.openxmlformats.org/drawingml/2006/main">
            <a:off x="8448675" y="2743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56AC3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D9C237-55A7-4A2A-B330-C2D0E51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LAKEBASE</a:t>
            </a:r>
          </a:p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8f89015854db5">
            <a:extLst>
              <a:ext uri="{96DAC541-7B7A-43D3-8B79-37D633B846F1}">
                <asvg:svgBlip xmlns:asvg="http://schemas.microsoft.com/office/drawing/2016/SVG/main" r:embed="Rc5333c1163e241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96350" y="2533650"/>
            <a:ext cx="228600" cy="15240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0FD88DF-1B45-40A8-A820-9833CAD2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14600"/>
            <a:ext cx="609600" cy="933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017A48-1CAE-48BB-B6F8-3E00B56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304800" cy="3619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cxnSp>
        <p:nvCxnSpPr>
          <p:cNvPr id="242" name=""/>
          <p:cNvCxnSpPr/>
          <p:nvPr/>
        </p:nvCxnSpPr>
        <p:spPr>
          <a:xfrm xmlns:a="http://schemas.openxmlformats.org/drawingml/2006/main">
            <a:off x="9410700" y="27622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A62E"/>
            </a:solidFill>
            <a:prstDash val="solid"/>
          </a:ln>
        </p:spPr>
      </p:cxnSp>
      <p:cxnSp>
        <p:nvCxnSpPr>
          <p:cNvPr id="243" name=""/>
          <p:cNvCxnSpPr/>
          <p:nvPr/>
        </p:nvCxnSpPr>
        <p:spPr>
          <a:xfrm xmlns:a="http://schemas.openxmlformats.org/drawingml/2006/main">
            <a:off x="9410700" y="28384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A62E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BCD8F3-C75B-4F53-ABD4-909B3FBC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861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60F5376-F7FB-481D-BC84-62E5AFC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DURABLE MOUNT REQUIRED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6DA048-30F2-4849-B5C4-421F8D4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1676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B7ED"/>
            </a:solidFill>
            <a:prstDash val="solid"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bd27d64454de9">
            <a:extLst>
              <a:ext uri="{96DAC541-7B7A-43D3-8B79-37D633B846F1}">
                <asvg:svgBlip xmlns:asvg="http://schemas.microsoft.com/office/drawing/2016/SVG/main" r:embed="R69ce1e63021245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10800" y="2628900"/>
            <a:ext cx="400050" cy="266700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043FBE-F26F-4453-82B6-F7A3356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09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NEXT.JS DASHBOARD + BFF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5FFF32-C1CE-4FCC-B075-05B550F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099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56AC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56AC3"/>
                </a:solidFill>
                <a:latin typeface="Arial"/>
                <a:ea typeface="Arial"/>
                <a:cs typeface="Arial"/>
              </a:rPr>
              <a:t>signed session • bearer server-side</a:t>
            </a:r>
          </a:p>
        </p:txBody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83fea936c42d3">
            <a:extLst>
              <a:ext uri="{96DAC541-7B7A-43D3-8B79-37D633B846F1}">
                <asvg:svgBlip xmlns:asvg="http://schemas.microsoft.com/office/drawing/2016/SVG/main" r:embed="R1091e1dca2d7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489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02C177-C4DB-439B-BF0C-51F50B4D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28975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verified Telegram + web output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5BC956-433F-4A0B-9FD3-C0873EF0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FB02B7-1B1E-4931-927D-AC5277C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4098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A4D080-B4ED-4F3F-95AE-7552088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24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B2CE67-694A-46D2-8E71-B9B7D95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240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AC7E96-2239-4F2D-8870-DD5A4E62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742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A8E8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2acbfed8149f9">
            <a:extLst>
              <a:ext uri="{96DAC541-7B7A-43D3-8B79-37D633B846F1}">
                <asvg:svgBlip xmlns:asvg="http://schemas.microsoft.com/office/drawing/2016/SVG/main" r:embed="R2a38d8b281864d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71950" y="1581150"/>
            <a:ext cx="228600" cy="209550"/>
          </a:xfrm>
          <a:prstGeom xmlns:a="http://schemas.openxmlformats.org/drawingml/2006/main" prst="rect">
            <a:avLst/>
          </a:prstGeom>
        </p:spPr>
      </p:pic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41A5E8-C0D6-4556-AEA4-51FC98CA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SCRIBE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6830282-8502-47B1-8FA8-0311948F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590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5C8DC6-A7FC-4B55-AE98-B1E9306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04950"/>
            <a:ext cx="742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A8E8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c2336b6e746ed">
            <a:extLst>
              <a:ext uri="{96DAC541-7B7A-43D3-8B79-37D633B846F1}">
                <asvg:svgBlip xmlns:asvg="http://schemas.microsoft.com/office/drawing/2016/SVG/main" r:embed="Rc580bbe8ae5e41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91100" y="1581150"/>
            <a:ext cx="228600" cy="209550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C24587-56C4-45BA-9CB4-5883B09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581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DC20BA1-CAB6-4EDE-9F59-8571465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47850"/>
            <a:ext cx="628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text + image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9604A6-55BF-4DED-90EA-64C5397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47875"/>
            <a:ext cx="1600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79A8E8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79A8E8"/>
                </a:solidFill>
                <a:latin typeface="Arial"/>
                <a:ea typeface="Arial"/>
                <a:cs typeface="Arial"/>
              </a:rPr>
              <a:t>ADAPTER IMPLEMENTED / LIVE UNVERIFIED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4D9714-1497-47C3-AF3C-92976BE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76725"/>
            <a:ext cx="2571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B7ED"/>
            </a:solidFill>
            <a:prstDash val="solid"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936b47fdb4ff4">
            <a:extLst>
              <a:ext uri="{96DAC541-7B7A-43D3-8B79-37D633B846F1}">
                <asvg:svgBlip xmlns:asvg="http://schemas.microsoft.com/office/drawing/2016/SVG/main" r:embed="R64bf928ff4e44f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" y="4391025"/>
            <a:ext cx="361950" cy="209550"/>
          </a:xfrm>
          <a:prstGeom xmlns:a="http://schemas.openxmlformats.org/drawingml/2006/main" prst="rect">
            <a:avLst/>
          </a:prstGeom>
        </p:spPr>
      </p:pic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0D085D6-D3A0-4A1C-BCB3-17E400E2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ALTERNATE AUTHENTICATED WEB UPLOAD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2840F84-F815-45CD-B40C-C5FE635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356AC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356AC3"/>
                </a:solidFill>
                <a:latin typeface="Arial"/>
                <a:ea typeface="Arial"/>
                <a:cs typeface="Arial"/>
              </a:rPr>
              <a:t>browser → BFF signed HttpOnly session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843BC0-15FE-4C4A-96A1-F0BD9D4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E1C"/>
          </a:solidFill>
          <a:ln xmlns:a="http://schemas.openxmlformats.org/drawingml/2006/main" w="9525">
            <a:solidFill>
              <a:srgbClr val="8CB7ED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AA49C08-4E92-4932-B7B6-C24347D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95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3A5AEC-4044-490B-B5EF-5BAE997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76725"/>
            <a:ext cx="11049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7A70"/>
            </a:solidFill>
            <a:prstDash val="solid"/>
          </a:ln>
        </p:spPr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9c745ac0a434c">
            <a:extLst>
              <a:ext uri="{96DAC541-7B7A-43D3-8B79-37D633B846F1}">
                <asvg:svgBlip xmlns:asvg="http://schemas.microsoft.com/office/drawing/2016/SVG/main" r:embed="Ra70fc6cac8c241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4400550"/>
            <a:ext cx="304800" cy="20955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0BD10EF-71DA-4DD6-9852-D925E91D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52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LAKEFLOW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7CD0D6-FADE-41A1-BE41-7BBF904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0100"/>
            <a:ext cx="933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Bronze • Silver • Gold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C8B2F6-3A9B-49F1-9768-E0E33CCD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76725"/>
            <a:ext cx="11620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7A7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C4C27F-CD6B-4F94-A073-D103C16A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NOTEBOOK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0DC2965-45F2-46E0-8528-9EB43B23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529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E77A7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E77A70"/>
                </a:solidFill>
                <a:latin typeface="Arial"/>
                <a:ea typeface="Arial"/>
                <a:cs typeface="Arial"/>
              </a:rPr>
              <a:t>DEPLOYABLE / SETUP REQUIRED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4F62996-1B53-4827-A5B0-58D38D1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857750"/>
            <a:ext cx="1809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E77A7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E77A70"/>
                </a:solidFill>
                <a:latin typeface="Arial"/>
                <a:ea typeface="Arial"/>
                <a:cs typeface="Arial"/>
              </a:rPr>
              <a:t>JDBC snapshot / operational rows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23F04FB-1FAB-455A-9997-B7E23AAD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57750"/>
            <a:ext cx="1809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E77A7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E77A70"/>
                </a:solidFill>
                <a:latin typeface="Arial"/>
                <a:ea typeface="Arial"/>
                <a:cs typeface="Arial"/>
              </a:rPr>
              <a:t>JDBC upsert / gated forecasts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D5E620-553D-4D20-89FC-719C1D9A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76725"/>
            <a:ext cx="9715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8C58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7DB8D6-26CC-4540-89AD-69FBE8AB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GOOGLE SYNC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0F2C6B3-12B0-4D0B-AD99-FD048CE7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276725"/>
            <a:ext cx="10287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8C58C"/>
            </a:solidFill>
            <a:prstDash val="solid"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d6e77be684611">
            <a:extLst>
              <a:ext uri="{96DAC541-7B7A-43D3-8B79-37D633B846F1}">
                <asvg:svgBlip xmlns:asvg="http://schemas.microsoft.com/office/drawing/2016/SVG/main" r:embed="R0070f098f1a443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10875" y="4381500"/>
            <a:ext cx="285750" cy="247650"/>
          </a:xfrm>
          <a:prstGeom xmlns:a="http://schemas.openxmlformats.org/drawingml/2006/main" prst="rect">
            <a:avLst/>
          </a:prstGeom>
        </p:spPr>
      </p:pic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8C5D4F5-5CA2-47E7-8F66-8B1E8A2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529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GOOGLE</a:t>
            </a:r>
          </a:p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SHEETS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196D73-E711-490A-B63C-A613D4C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57750"/>
            <a:ext cx="20193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78C58C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78C58C"/>
                </a:solidFill>
                <a:latin typeface="Arial"/>
                <a:ea typeface="Arial"/>
                <a:cs typeface="Arial"/>
              </a:rPr>
              <a:t>Sheets API / metrics + controlled rows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DA0F6C8-D189-4369-BFC9-FB72FEA5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724400"/>
            <a:ext cx="17335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78C58C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78C58C"/>
                </a:solidFill>
                <a:latin typeface="Arial"/>
                <a:ea typeface="Arial"/>
                <a:cs typeface="Arial"/>
              </a:rPr>
              <a:t>Drive webhook → durable Sheets queue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1596CA-069F-4D44-8F6A-D3B14628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1466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50" b="1">
                <a:solidFill>
                  <a:srgbClr val="78C58C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78C58C"/>
                </a:solidFill>
                <a:latin typeface="Arial"/>
                <a:ea typeface="Arial"/>
                <a:cs typeface="Arial"/>
              </a:rPr>
              <a:t>DEPLOYABLE / SETUP REQUIRED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926DC9C-601F-4B66-82B6-A4C90198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E1C"/>
          </a:solidFill>
          <a:ln xmlns:a="http://schemas.openxmlformats.org/drawingml/2006/main" w="9525">
            <a:solidFill>
              <a:srgbClr val="78C58C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E87C6C5-592F-4B84-9A9B-B21EA3EB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386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2F40E91-AD83-495D-9D00-0978A28D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81600"/>
            <a:ext cx="11582400" cy="1133475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51614"/>
          </a:solidFill>
          <a:ln xmlns:a="http://schemas.openxmlformats.org/drawingml/2006/main" w="9525">
            <a:solidFill>
              <a:srgbClr val="55565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AB5C1B9-322E-4BA6-BE62-47AD9CBF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05425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F1D605B-D412-4E9C-B237-F4B776F9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95925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Signed HttpOnly session • same-origin guard • merchant bearer • webhook secrets • AES-256-GCM OAuth tokens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E28A03B-950D-41BC-93DE-21FEE72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05425"/>
            <a:ext cx="228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356AC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356AC3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C4E8952-F831-437D-85F0-5A95A1BE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959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/healthz dependency states • quota/degraded UI • surfaced errors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A1FF36E-6620-450D-B23D-EEED416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305425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BD6DC58-040C-4ABE-9140-F90AC92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49592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Next.js + Node runtimes • Lakebase • durable evidence mount • triggered Databricks • GitHub Actions CI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F37F5F6-8F78-4AF0-89B7-B5CC66AF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05425"/>
            <a:ext cx="3124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111C591-6309-4EC4-BB0D-1CB390FC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495925"/>
            <a:ext cx="312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7F6F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6F2"/>
                </a:solidFill>
                <a:latin typeface="Arial"/>
                <a:ea typeface="Arial"/>
                <a:cs typeface="Arial"/>
              </a:rPr>
              <a:t>Contract validation • idempotency • append-only events • evidence-first writes • Telegram leases • Sheets queue/backoff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8EF68F3-5A10-471E-9C07-0617660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53125"/>
            <a:ext cx="2047875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5"/>
            </a:solidFill>
            <a:prstDash val="solid"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7ca39fbde42a9">
            <a:extLst>
              <a:ext uri="{96DAC541-7B7A-43D3-8B79-37D633B846F1}">
                <asvg:svgBlip xmlns:asvg="http://schemas.microsoft.com/office/drawing/2016/SVG/main" r:embed="R83d209977ef745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29275" y="6000750"/>
            <a:ext cx="152400" cy="133350"/>
          </a:xfrm>
          <a:prstGeom xmlns:a="http://schemas.openxmlformats.org/drawingml/2006/main" prst="rect">
            <a:avLst/>
          </a:prstGeom>
        </p:spPr>
      </p:pic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F7C2683-7AB0-47BB-A4C8-989B4E6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981700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Codex-assisted build — non-runtime</a:t>
            </a:r>
          </a:p>
        </p:txBody>
      </p:sp>
      <p:cxnSp>
        <p:nvCxnSpPr>
          <p:cNvPr id="302" name=""/>
          <p:cNvCxnSpPr/>
          <p:nvPr/>
        </p:nvCxnSpPr>
        <p:spPr>
          <a:xfrm xmlns:a="http://schemas.openxmlformats.org/drawingml/2006/main">
            <a:off x="428625" y="61150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7F6F2"/>
            </a:solidFill>
            <a:prstDash val="solid"/>
          </a:ln>
        </p:spPr>
      </p:cxn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F8B8E0B-3104-4264-920B-7F8CDDC7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solid sync</a:t>
            </a:r>
          </a:p>
        </p:txBody>
      </p:sp>
      <p:cxnSp>
        <p:nvCxnSpPr>
          <p:cNvPr id="304" name=""/>
          <p:cNvCxnSpPr/>
          <p:nvPr/>
        </p:nvCxnSpPr>
        <p:spPr>
          <a:xfrm xmlns:a="http://schemas.openxmlformats.org/drawingml/2006/main">
            <a:off x="1428750" y="61150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7F6F2"/>
            </a:solidFill>
            <a:prstDash val="dash"/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4754949-A177-46C0-A446-7A8F17D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0388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dashed async / manual</a:t>
            </a:r>
          </a:p>
        </p:txBody>
      </p:sp>
      <p:cxnSp>
        <p:nvCxnSpPr>
          <p:cNvPr id="306" name=""/>
          <p:cNvCxnSpPr/>
          <p:nvPr/>
        </p:nvCxnSpPr>
        <p:spPr>
          <a:xfrm xmlns:a="http://schemas.openxmlformats.org/drawingml/2006/main">
            <a:off x="3028950" y="61150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D94B42"/>
            </a:solidFill>
            <a:prstDash val="solid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15C886D-0EBB-4AC4-AA77-9C9430AE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38850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B7B8B2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B7B8B2"/>
                </a:solidFill>
                <a:latin typeface="Arial"/>
                <a:ea typeface="Arial"/>
                <a:cs typeface="Arial"/>
              </a:rPr>
              <a:t>red = human approval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0E173BD-8EE1-4052-B0A7-56E2542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8C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8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9313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DA7D59-2576-4A24-8EC4-42938CE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65D08-F96B-4596-BFB0-A7E29B37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focused Malaysian market, with room to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D591F-67C9-46A1-95A3-1FC6BAB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TAM / SAM / SOM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55793-BE2F-47FA-B9F5-FACA05C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AD5"/>
          </a:solidFill>
          <a:ln xmlns:a="http://schemas.openxmlformats.org/drawingml/2006/main" w="19050">
            <a:solidFill>
              <a:srgbClr val="A824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D2EB0-B9AE-4C73-B129-7EEE5BCE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DF"/>
          </a:solidFill>
          <a:ln xmlns:a="http://schemas.openxmlformats.org/drawingml/2006/main" w="19050">
            <a:solidFill>
              <a:srgbClr val="2F7A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14976-11AD-4057-B3CE-EA054BC8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0515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BE"/>
          </a:solidFill>
          <a:ln xmlns:a="http://schemas.openxmlformats.org/drawingml/2006/main" w="19050">
            <a:solidFill>
              <a:srgbClr val="D5A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E7FE-E3A3-459E-BE91-469FE0A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MALAYSIA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08769-8274-4646-AB9C-F91AEA7A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43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3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5A90F-FFD3-448A-A91A-30DE14E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051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3-YEAR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4428F-1D3F-426D-8E17-22ED8629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F8061-0A90-414E-A877-385AA169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767K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6449A-4783-4872-B1D5-3B948A8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908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2DFE4-9679-479D-8166-B6BA830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8E254-42DE-46E9-A0C2-9712225D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A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A57"/>
                </a:solidFill>
                <a:latin typeface="Arial"/>
                <a:ea typeface="Arial"/>
                <a:cs typeface="Arial"/>
              </a:rPr>
              <a:t>~377K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295E2-F12A-48C8-A2E3-BEA1EE5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A8DED-BE6A-4BDF-BA46-F61F5DF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1352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11AFC-B353-4B16-B11E-25CF7EB0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3.8K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B5B82-1B1E-4876-B3BD-BE212E5E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33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3162300" y="2381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8241C"/>
            </a:solidFill>
            <a:prstDash val="solid"/>
          </a:ln>
        </p:spPr>
      </p:cxnSp>
      <p:cxnSp>
        <p:nvCxnSpPr>
          <p:cNvPr id="81" name=""/>
          <p:cNvCxnSpPr/>
          <p:nvPr/>
        </p:nvCxnSpPr>
        <p:spPr>
          <a:xfrm xmlns:a="http://schemas.openxmlformats.org/drawingml/2006/main">
            <a:off x="2733675" y="346710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F7A57"/>
            </a:solidFill>
            <a:prstDash val="solid"/>
          </a:ln>
        </p:spPr>
      </p:cxnSp>
      <p:cxnSp>
        <p:nvCxnSpPr>
          <p:cNvPr id="82" name=""/>
          <p:cNvCxnSpPr/>
          <p:nvPr/>
        </p:nvCxnSpPr>
        <p:spPr>
          <a:xfrm xmlns:a="http://schemas.openxmlformats.org/drawingml/2006/main">
            <a:off x="2533650" y="44100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D5A62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D2577-37B2-4CF7-B288-36084298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SAM is a planning estimate using establishment concentration as a proxy.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6FC6A-93A2-489F-A11E-84E7F07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33525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PREDICTED SME SOFTWARE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929E9-07C8-443E-932F-7401F82F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8.2%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0E969-D30F-42C1-8805-EEAF56E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62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CAGR through 2030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ED79C-F015-4C3F-AE32-C2AE2258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Market index (2025 = 100)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5619750" y="5238750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9C0B5"/>
            </a:solidFill>
            <a:prstDash val="solid"/>
          </a:ln>
        </p:spPr>
      </p:cxnSp>
      <p:cxnSp>
        <p:nvCxnSpPr>
          <p:cNvPr id="89" name=""/>
          <p:cNvCxnSpPr/>
          <p:nvPr/>
        </p:nvCxnSpPr>
        <p:spPr>
          <a:xfrm xmlns:a="http://schemas.openxmlformats.org/drawingml/2006/main">
            <a:off x="5619750" y="32861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9C0B5"/>
            </a:solidFill>
            <a:prstDash val="solid"/>
          </a:ln>
        </p:spPr>
      </p:cxnSp>
      <p:cxnSp>
        <p:nvCxnSpPr>
          <p:cNvPr id="90" name=""/>
          <p:cNvCxnSpPr/>
          <p:nvPr/>
        </p:nvCxnSpPr>
        <p:spPr>
          <a:xfrm xmlns:a="http://schemas.openxmlformats.org/drawingml/2006/main">
            <a:off x="5619750" y="3930491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5DED3"/>
            </a:solidFill>
            <a:prstDash val="dash"/>
          </a:ln>
        </p:spPr>
      </p:cxnSp>
      <p:cxnSp>
        <p:nvCxnSpPr>
          <p:cNvPr id="91" name=""/>
          <p:cNvCxnSpPr/>
          <p:nvPr/>
        </p:nvCxnSpPr>
        <p:spPr>
          <a:xfrm xmlns:a="http://schemas.openxmlformats.org/drawingml/2006/main">
            <a:off x="5619750" y="4574858"/>
            <a:ext cx="5562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5DED3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8ACD83-51C6-43C3-8528-BA95D10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9456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A7CB2-F785-4D82-B4B6-895DF699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37389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2A52B6-A1CC-4BF4-80C6-8A8B47E5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A7070-6D05-4E45-AE87-DCA8931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595" y="47105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1F6A37-5D9F-44CC-B294-BA903BF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670" y="445337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9CDC6F-3B49-46A3-AD34-073A92D5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B0EFC9-B757-47F9-87FB-B1FE1C56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04DD5-704B-4143-ABFB-4C5891B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13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FADC5B-D3AE-4575-9F4F-2EEAC80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7AD012-E630-4602-9F23-A29D1CF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407150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D6272B-8636-428E-978B-7BD3DB75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710" y="381433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29D28B-981B-453D-A632-016502F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A8F700-D5BC-4FD2-9360-D05BEF36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155" y="368098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37AF46-F539-4F14-B1D2-AEBC88B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342380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D24D31-DD66-4E33-90AB-09DB1B9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5AD29B-3EA9-4E50-A4C1-72ADCFE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9045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D49222-448B-4C4F-A9EB-75BF60E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3328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148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247867-CA3B-4CB9-9663-6A7FDB3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3625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2030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5619750" y="5061239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1" name=""/>
          <p:cNvCxnSpPr/>
          <p:nvPr/>
        </p:nvCxnSpPr>
        <p:spPr>
          <a:xfrm xmlns:a="http://schemas.openxmlformats.org/drawingml/2006/main">
            <a:off x="6732270" y="4777220"/>
            <a:ext cx="0" cy="284018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2" name=""/>
          <p:cNvCxnSpPr/>
          <p:nvPr/>
        </p:nvCxnSpPr>
        <p:spPr>
          <a:xfrm xmlns:a="http://schemas.openxmlformats.org/drawingml/2006/main">
            <a:off x="6732270" y="477722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3" name=""/>
          <p:cNvCxnSpPr/>
          <p:nvPr/>
        </p:nvCxnSpPr>
        <p:spPr>
          <a:xfrm xmlns:a="http://schemas.openxmlformats.org/drawingml/2006/main">
            <a:off x="7844790" y="4457700"/>
            <a:ext cx="0" cy="31952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4" name=""/>
          <p:cNvCxnSpPr/>
          <p:nvPr/>
        </p:nvCxnSpPr>
        <p:spPr>
          <a:xfrm xmlns:a="http://schemas.openxmlformats.org/drawingml/2006/main">
            <a:off x="7844790" y="445770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5" name=""/>
          <p:cNvCxnSpPr/>
          <p:nvPr/>
        </p:nvCxnSpPr>
        <p:spPr>
          <a:xfrm xmlns:a="http://schemas.openxmlformats.org/drawingml/2006/main">
            <a:off x="8957310" y="4138180"/>
            <a:ext cx="0" cy="31952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6" name=""/>
          <p:cNvCxnSpPr/>
          <p:nvPr/>
        </p:nvCxnSpPr>
        <p:spPr>
          <a:xfrm xmlns:a="http://schemas.openxmlformats.org/drawingml/2006/main">
            <a:off x="8957310" y="4138180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7" name=""/>
          <p:cNvCxnSpPr/>
          <p:nvPr/>
        </p:nvCxnSpPr>
        <p:spPr>
          <a:xfrm xmlns:a="http://schemas.openxmlformats.org/drawingml/2006/main">
            <a:off x="10069830" y="374765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8" name=""/>
          <p:cNvCxnSpPr/>
          <p:nvPr/>
        </p:nvCxnSpPr>
        <p:spPr>
          <a:xfrm xmlns:a="http://schemas.openxmlformats.org/drawingml/2006/main">
            <a:off x="10069830" y="3747655"/>
            <a:ext cx="111252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cxnSp>
        <p:nvCxnSpPr>
          <p:cNvPr id="119" name=""/>
          <p:cNvCxnSpPr/>
          <p:nvPr/>
        </p:nvCxnSpPr>
        <p:spPr>
          <a:xfrm xmlns:a="http://schemas.openxmlformats.org/drawingml/2006/main">
            <a:off x="11182350" y="335713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A8241C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E67C84-0131-419D-99DD-0FEE5819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Sources: DOSM Economic Census 2023; APEC / SME Corp Malaysia MSME composition; ResearchAndMarkets SEA SME Software Forecast to 2030.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27E1EC-3EBE-4AF9-AC61-B8CCD5A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476AD8-7375-4174-B8B0-52137B4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1507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99705E-3503-412F-BEA6-3DA4D7C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3AF4F-5CB7-4E97-8837-C5DF652C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8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Start with a concentrated merchant wedge, prove weekly habit, then scale through trusted partners.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3886200" y="2695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>
            <a:off x="7734300" y="2695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1B1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8FBED-792F-4054-8C5C-6A18536D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3333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1A508-D5B1-4214-80AA-11C4D1C2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DF178-0B7E-4DAA-875A-DA784B31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E8321-C9C4-480D-9C4C-C32D65C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9B85-EA84-485B-B06F-07033BC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7DE96-0F65-4DBB-9489-268CE399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6EECA-441C-4E43-8250-78B7D5CD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97988-2BA7-4C29-9618-CB702CDD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BF774-FE25-422B-ABC2-59DF1AB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Ideal first customer: a product-based merchant in a dense Klang Valley cluster.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14411-29F5-4FFB-A39A-B36BD31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8B2FC-06E3-443C-8B9C-E1BC2A4C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Pasar malam + stalls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C8A37-6382-4C74-B3A6-2B62B494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B0F33-51D6-43C6-9009-2E42885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Guided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778C8-FA84-464B-B759-E68115C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6F114-4A5B-4D22-BAB4-8967D1F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First verified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1A6C8-C713-47B9-9318-82D6C0A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3333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83127-E8B7-4B40-9C99-D4E164A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C6A15-2FB2-4198-87AE-40FE808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B8767-385A-43FF-BE8D-3D9EE37E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7157F-D9C0-4468-88EC-05E7B2DA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ED146-C1D0-403A-87BF-9503CC5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7248525" y="1914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6AC3"/>
            </a:solidFill>
            <a:prstDash val="solid"/>
          </a:ln>
        </p:spPr>
      </p:cxnSp>
      <p:cxnSp>
        <p:nvCxnSpPr>
          <p:cNvPr id="108" name=""/>
          <p:cNvCxnSpPr/>
          <p:nvPr/>
        </p:nvCxnSpPr>
        <p:spPr>
          <a:xfrm xmlns:a="http://schemas.openxmlformats.org/drawingml/2006/main">
            <a:off x="7296150" y="18669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6AC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1E939-CDDF-4F84-9229-66B87EB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764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61319-5A40-42D8-A19A-E365FBD8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Turn a weekly margin habit into cohorts delivered by institutions merchants already trust.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427B7-CB66-454F-8B34-5DAA82F9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3FBD5-FDE2-48A8-AE31-158F370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Organisers + councils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7EA70-505E-482B-92A8-B165C0B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262B3-B5A0-4240-B7F4-686197BC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Associations + wholesalers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E2A4A-7555-433A-B117-F104456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2FFB1B-5E3D-4771-B4E0-1E0F673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Banks + referrals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579B36-A080-41EC-8D41-1095B9B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333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EFE610-C98D-43D9-82BA-6786AE3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CC5F56-B7EB-43F8-8DF0-CD8BB1C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738E54-50BF-47E6-8383-0D5B3C98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71450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cxnSp>
        <p:nvCxnSpPr>
          <p:cNvPr id="121" name=""/>
          <p:cNvCxnSpPr/>
          <p:nvPr/>
        </p:nvCxnSpPr>
        <p:spPr>
          <a:xfrm xmlns:a="http://schemas.openxmlformats.org/drawingml/2006/main">
            <a:off x="11020425" y="18764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F7A57"/>
            </a:solidFill>
            <a:prstDash val="solid"/>
          </a:ln>
        </p:spPr>
      </p:cxnSp>
      <p:cxnSp>
        <p:nvCxnSpPr>
          <p:cNvPr id="122" name=""/>
          <p:cNvCxnSpPr/>
          <p:nvPr/>
        </p:nvCxnSpPr>
        <p:spPr>
          <a:xfrm xmlns:a="http://schemas.openxmlformats.org/drawingml/2006/main">
            <a:off x="11144250" y="17811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F7A57"/>
            </a:solidFill>
            <a:prstDash val="solid"/>
          </a:ln>
        </p:spPr>
      </p:cxnSp>
      <p:cxnSp>
        <p:nvCxnSpPr>
          <p:cNvPr id="123" name=""/>
          <p:cNvCxnSpPr/>
          <p:nvPr/>
        </p:nvCxnSpPr>
        <p:spPr>
          <a:xfrm xmlns:a="http://schemas.openxmlformats.org/drawingml/2006/main">
            <a:off x="11268075" y="16859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F7A57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3F81A9-5A73-40BE-A53C-ADEB08E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04440B-D690-4B88-9AAA-CC7716CD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Reuse the operating habit across sectors, markets, and sponsored partner programmes.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CA72A8-0E08-4BF4-90B4-226F812A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5C877C-C1D9-48AB-83C8-FA20563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86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Sector templates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19F42D-2B97-481A-84C6-23FA156A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C3F0E6-95C5-429C-953A-84F9FEE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766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Merchant referrals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CA3B4A-39E7-49F0-AD90-F1856EC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29146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81F72-69B5-4200-B164-7BD4559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67125"/>
            <a:ext cx="2914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Partner cohorts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4CFCBA-64C8-4D2D-8D85-FF127BF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81400"/>
            <a:ext cx="1352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19050">
            <a:solidFill>
              <a:srgbClr val="D5A62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951097-B790-4FFE-A019-7874BB5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14-DAY MARGIN</a:t>
            </a:r>
          </a:p>
          <a:p xmlns:a="http://schemas.openxmlformats.org/drawingml/2006/main">
            <a:pPr algn="ctr">
              <a:defRPr sz="82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B94EA9-A126-4E35-AB22-09D1DA0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setup → first margin → weekly habit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53774A-09CD-4798-B32B-661D273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OPERATING LOOP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C95002-26CE-4608-B02D-6715D74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60E3F2-1425-4053-BD58-60D9664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1 MARKET</a:t>
            </a:r>
          </a:p>
        </p:txBody>
      </p:sp>
      <p:cxnSp>
        <p:nvCxnSpPr>
          <p:cNvPr id="138" name=""/>
          <p:cNvCxnSpPr/>
          <p:nvPr/>
        </p:nvCxnSpPr>
        <p:spPr>
          <a:xfrm xmlns:a="http://schemas.openxmlformats.org/drawingml/2006/main">
            <a:off x="1981200" y="50577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665F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BFAD8C-3EB1-4AF1-A3A0-C7F8991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95825"/>
            <a:ext cx="16002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EB99BC-D607-4DF5-9264-A3C54AA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95825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20 MERCHANTS</a:t>
            </a:r>
          </a:p>
        </p:txBody>
      </p:sp>
      <p:cxnSp>
        <p:nvCxnSpPr>
          <p:cNvPr id="141" name=""/>
          <p:cNvCxnSpPr/>
          <p:nvPr/>
        </p:nvCxnSpPr>
        <p:spPr>
          <a:xfrm xmlns:a="http://schemas.openxmlformats.org/drawingml/2006/main">
            <a:off x="3810000" y="5000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665F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4CC869-F20C-4D91-BDD6-2C61FD0E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81525"/>
            <a:ext cx="1600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E08E77-C3F9-4593-B990-8270CF8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81525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WEEKLY HABIT</a:t>
            </a:r>
          </a:p>
        </p:txBody>
      </p:sp>
      <p:cxnSp>
        <p:nvCxnSpPr>
          <p:cNvPr id="144" name=""/>
          <p:cNvCxnSpPr/>
          <p:nvPr/>
        </p:nvCxnSpPr>
        <p:spPr>
          <a:xfrm xmlns:a="http://schemas.openxmlformats.org/drawingml/2006/main">
            <a:off x="5638800" y="49434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665F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E8FE2B-6193-4037-BF46-5DAD674C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67225"/>
            <a:ext cx="16002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351817-0D3D-45E1-AF72-6A65C6F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67225"/>
            <a:ext cx="144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REFERRALS</a:t>
            </a:r>
          </a:p>
        </p:txBody>
      </p:sp>
      <p:cxnSp>
        <p:nvCxnSpPr>
          <p:cNvPr id="147" name=""/>
          <p:cNvCxnSpPr/>
          <p:nvPr/>
        </p:nvCxnSpPr>
        <p:spPr>
          <a:xfrm xmlns:a="http://schemas.openxmlformats.org/drawingml/2006/main">
            <a:off x="7467600" y="48863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665F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DD6B69-7E37-4FEC-BD98-5E544B7C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5292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14288">
            <a:solidFill>
              <a:srgbClr val="251B1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5A034A-EABD-4CC6-A5F9-3FBAA338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52925"/>
            <a:ext cx="1847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 COHORTS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A88D8D-DF86-406D-9C28-A40EA6A2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1049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88A0C9-5274-493D-B903-4B7221D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742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1F5236-476C-472C-B621-333DDD7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39A638-E655-4CA3-8AA6-DCDAA3A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959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ACTIVATION RATE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7081F2-994F-4583-BDC6-E1DA85CB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86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setup → first verified margin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1331B6-A3EB-4F6E-8B4E-B960F5D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WEEKLY RETAINED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DAA9EF-EBB4-4BF3-A120-840D2C8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86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merchants returning each week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EB1660-25B1-482D-99F1-1C2F361C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959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VERIFIED ENTRIES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BCC747-F68A-473E-B297-042D3173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86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merchant per week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2EBD35-1961-4E1F-9C90-5997908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959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REFERRAL RATE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2779E9-F38E-46CE-ACD6-4F839E6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86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merchants from trust loops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03B386-748A-4E8F-9579-895F1D3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CCF40D-3AE2-4C6A-8AEA-BBAC8CA0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7051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3B4FDD-DFBB-489F-B53A-8599C3F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OPTIONAL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0F72B-9021-48FE-8A2E-C569555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simple model merchants can understand.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60CA8-3686-4A82-B780-89C1184B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C5021-C9DB-4115-807E-C6EB197A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1732B-0958-4964-94BB-0752DE2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619ED-6DDB-4656-9B19-BB09D6B9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4E01-606E-4A0E-B6C4-AE9CEDA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C2BB3-EF6B-4486-AD69-AE68B51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8FB85-3349-48F8-87F8-4799B5F5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FE5A7-84B6-4D8F-B899-A1E250A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Manual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DAA8F-E60E-45B7-B75D-ECD3EAC5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96CB4-4C0C-4C4E-9737-B51B2E7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15981-E49E-47C4-94A0-6580DAF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Daily gross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2C78E-3940-4812-B463-48A2C67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39A2E-B48C-4882-A09A-49154AC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37094-FEF2-429C-A8CD-FBB0F1C8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7-day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F9EAB-0FA9-4114-AAF0-65179D9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23813">
            <a:solidFill>
              <a:srgbClr val="A824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FF6FA-CE84-4CB7-A69F-8FC6ED87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9C243-E69E-4166-A356-765D711A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6C3F3-ED1C-4973-BEB7-A4932F8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RM29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16BF5-5391-4CAA-9EFF-C90BFB9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A2952-1EE9-4BC9-A6F3-5C96026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36F70-30E4-401B-B7D9-1F84FB8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F9045-8517-4DF3-846E-A4D5CE6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Voice + photo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38D0B-3C8C-4842-A217-AC7B50A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D86E3-DCE9-484D-80E5-1450881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0E4B6-85EF-4C2F-99A7-1892C89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Scenarios + trends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4C149-7C9E-4BD6-B63C-B1B1CDA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B08DC-2EBE-4F9F-BE78-C1F24E8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C5E47-43E1-4B9F-A856-A6E176E5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+ exports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1FFFC-AA55-4184-AB36-1983CFD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005C8-A51E-472F-8A76-AB621F7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5737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F82266-7148-46B1-8C6B-B780B92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258E6-E65F-4A57-9D76-D2A5CDF8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BC7DAD-FB26-4298-A0EF-3D8F5463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860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750FEC-FDD4-45D4-8398-05F70880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48A394-6867-488F-BFE7-96F4D14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7F6DCE-0E54-4443-B899-E76CF1F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Sponsored cohorts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866204-B51F-4F71-8A7A-78597627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5979C-400F-4227-989C-CFDB7C7F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C87438-C30F-4DF0-B33A-5C1EB8E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Programme reporting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F42042-AD81-44B1-84AD-1E3D7A6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434484-44C2-42A9-A631-439EB2B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100FFD-DAAD-4820-9C2F-14EA11E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910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Co-branded onboarding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EEEFE-CBE1-4838-BB55-FDDFEE0E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3181C-CC76-4E2B-84BD-F3F2A77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TRANSACTION FEE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A1639D-6D4B-4BC1-8978-B47447DB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43550"/>
            <a:ext cx="2324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1EA37F-E01F-47A3-9017-6A849D5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530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SALE OF MERCHANT 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9E84AC-998C-4481-A21F-3A9111D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72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Later: opt-in supplier, financing, and insurance referrals.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79C710-34C5-4D60-A09A-0EADABD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E665F"/>
                </a:solidFill>
                <a:latin typeface="Arial"/>
                <a:ea typeface="Arial"/>
                <a:cs typeface="Arial"/>
              </a:rPr>
              <a:t>Pricing benchmark: Bukku Seed RM35/month; StoreHub Starter from RM122/month.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DBB0A2-5360-4FAD-87F5-EEB7BF8C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F17B3C-7770-42CB-AB85-B0A323D4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0755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8D37B-D837-4B96-8412-C000DA2F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45AEC-F332-4B5F-92D3-926D681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7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is this different from Touch 'n Go or financial calculators?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33DC4-9654-4D39-AF85-8EF1A95C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They track transactions. PasarAI explains margin.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785D0-6375-4D7E-9C20-F294A16E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51244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CE8E0"/>
          </a:solidFill>
          <a:ln xmlns:a="http://schemas.openxmlformats.org/drawingml/2006/main" w="14288">
            <a:solidFill>
              <a:srgbClr val="6E66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25A5C-DC6E-45F0-9CC6-8259E3A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095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665F"/>
          </a:solidFill>
          <a:ln xmlns:a="http://schemas.openxmlformats.org/drawingml/2006/main" w="9525">
            <a:solidFill>
              <a:srgbClr val="6E66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56907-0E57-4C4E-A53C-1DB3B357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/ FINANCE 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9CA5F-30D3-40B4-BAE3-D0BD03A8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came in?"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3422F-EBD0-4D46-879D-B2F9860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8D9DD-B4DC-4F59-8417-9A9371D5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BCA5A-69AD-4098-865C-F3D796B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1C1EC-A690-4DA8-9A17-2DF07C4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Spend summaries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336A0-B644-4AA4-A935-7D6A90A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95A08-3C28-4A2C-92DD-DA7842A5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Static calculators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1F40D-CAEA-4E14-A52C-DBAF6630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EA266-C2F2-4073-B989-4FA5682B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Usually tied to app or payment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A0F9C-0C44-4847-88B8-18EAABC7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56769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9050">
            <a:solidFill>
              <a:srgbClr val="A824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2F9FC-8E9F-4A0F-9AEA-BF4E53C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11049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EC1A3-4B96-479D-9F97-5FD97E1B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PASARAI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7E4AC-1DB9-4AC3-A251-E9D3991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"What did I actually make?"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C8671-CB44-4AFF-9F4A-F8604BF4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C084D-DA1B-41E5-821B-2E99C2FB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Cash + digital + voice + receipts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10201-8687-432D-9828-8AE29D5F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522F8-DCE8-45A6-9786-2A54B0DD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Evidence-backed cost of sales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21BC9-1531-44FE-8B87-95115FB0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3795B-759B-47F3-9CCE-4C50C4B0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Verified margin and scenarios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48568-AD3E-4830-8260-B4DEC286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5F2CF-34F5-4C19-99EC-6CD09AE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Payment-agnostic operating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B314F-D1EE-4622-9002-AA01A02E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752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33AC72-AECE-411B-99AD-1E085AF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ANOTHER WALLET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08256-AAAC-4840-A2B5-830E2ED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781675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 daily operating decision layer that can sit above any payment method.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C2E5C-AC5B-4527-92D4-A824CA66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89B716-D522-4999-A0BE-CE56946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0380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F0546-A1AD-4CEB-B263-3978D9B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4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241C"/>
                </a:solidFill>
                <a:latin typeface="Arial"/>
                <a:ea typeface="Arial"/>
                <a:cs typeface="Arial"/>
              </a:rPr>
              <a:t>APPENDIX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4B68E-C1F2-4729-B0B9-2FB97DF5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The judge questions we are ready for.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6C9DE-3757-4251-8010-538D7849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E8F7"/>
          </a:solidFill>
          <a:ln xmlns:a="http://schemas.openxmlformats.org/drawingml/2006/main" w="14288">
            <a:solidFill>
              <a:srgbClr val="356A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69235-A2B4-4BD9-BE1B-DEB12C6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C3"/>
          </a:solidFill>
          <a:ln xmlns:a="http://schemas.openxmlformats.org/drawingml/2006/main" w="9525">
            <a:solidFill>
              <a:srgbClr val="356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3E448-B2AC-4643-9D96-DAD69A8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8ACB6-7759-4522-8ADD-4AD60C9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How accurate is the AI?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88284-9141-4516-BD24-E25AEE5E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AI interprets. A deterministic engine calculates. Ambiguity requires confirmation.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1BB7F-878A-4EAE-88EF-4CD6B32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E9BE"/>
          </a:solidFill>
          <a:ln xmlns:a="http://schemas.openxmlformats.org/drawingml/2006/main" w="14288">
            <a:solidFill>
              <a:srgbClr val="D5A6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0FE22-D50C-45AC-A9EF-F891129A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A62E"/>
          </a:solidFill>
          <a:ln xmlns:a="http://schemas.openxmlformats.org/drawingml/2006/main" w="9525">
            <a:solidFill>
              <a:srgbClr val="D5A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46905-BF82-4317-BE3B-52045A5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764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DC115-2551-4874-9CB3-E248577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Is gross margin the same as profit?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15D04-55AE-4175-BF9C-B5874FD5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No. PasarAI labels gross margin clearly; overheads stay excluded unless configured.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2E4AE-722D-49E1-B9EE-48446BEA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ECDF"/>
          </a:solidFill>
          <a:ln xmlns:a="http://schemas.openxmlformats.org/drawingml/2006/main" w="14288">
            <a:solidFill>
              <a:srgbClr val="2F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78857-5EBB-41C8-ABF4-310E1C5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A57"/>
          </a:solidFill>
          <a:ln xmlns:a="http://schemas.openxmlformats.org/drawingml/2006/main" w="9525">
            <a:solidFill>
              <a:srgbClr val="2F7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FB542-CD06-4BE8-AAC9-943BB7C1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B7217-6548-4229-90FD-645968C1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merchants trust the forecast?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42F7C-F0FE-4983-B08C-8610F2C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Forecasts appear only when data sufficiency and accuracy gates pass.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73626-3B7F-4F5F-8147-AF3990B0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5219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6DAD5"/>
          </a:solidFill>
          <a:ln xmlns:a="http://schemas.openxmlformats.org/drawingml/2006/main" w="14288">
            <a:solidFill>
              <a:srgbClr val="A824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46B99-28B1-446A-8AD3-F787F0B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9525"/>
            <a:ext cx="4953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41C"/>
          </a:solidFill>
          <a:ln xmlns:a="http://schemas.openxmlformats.org/drawingml/2006/main" w="9525">
            <a:solidFill>
              <a:srgbClr val="A824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FF4CC-0152-4E91-8082-48D5D4E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1ED35-E439-457B-954B-4F36F7A4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00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Can this scale beyond Telegram?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1FFC-903E-4062-9D1B-4CBBB366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529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1B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1B17"/>
                </a:solidFill>
                <a:latin typeface="Arial"/>
                <a:ea typeface="Arial"/>
                <a:cs typeface="Arial"/>
              </a:rPr>
              <a:t>Yes. Channel adapters share the same contracts, evidence, and finance engine.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E98F5-002D-42D7-8EC5-0A621881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10763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1B17"/>
          </a:solidFill>
          <a:ln xmlns:a="http://schemas.openxmlformats.org/drawingml/2006/main" w="9525">
            <a:solidFill>
              <a:srgbClr val="251B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23B5D-CBF7-4AAA-8E20-C544374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6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5A62E"/>
                </a:solidFill>
                <a:latin typeface="Arial"/>
                <a:ea typeface="Arial"/>
                <a:cs typeface="Arial"/>
              </a:rPr>
              <a:t>MOAT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D6743-4EFE-42C6-ADEE-8627D9E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24525"/>
            <a:ext cx="956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Localized merchant ontology + evidence-linked history + multilingual confirmation data + partner distribution.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8B8FC-2230-4162-B39A-7E32A3A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PasarAI | Appendix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55493-649D-4F2C-8D35-651D79A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E66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E66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0901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2026-07-18T02:44:54.7600000Z</dcterms:created>
  <dcterms:modified xsi:type="dcterms:W3CDTF">2026-07-18T02:44:54.7600000Z</dcterms:modified>
</coreProperties>
</file>
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30a66e7c914663" /><Relationship Type="http://schemas.openxmlformats.org/officeDocument/2006/relationships/extended-properties" Target="/docProps/app.xml" Id="Re81f93899a734cb2" /><Relationship Type="http://schemas.openxmlformats.org/officeDocument/2006/relationships/officeDocument" Target="/ppt/presentation.xml" Id="R1877e20784d149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2830c7129d4c63"/>
  </p:sldMasterIdLst>
  <p:notesMasterIdLst>
    <p:notesMasterId xmlns:r="http://schemas.openxmlformats.org/officeDocument/2006/relationships" r:id="R3bee12efd4b94c93"/>
  </p:notesMasterIdLst>
  <p:sldIdLst>
    <p:sldId xmlns:r="http://schemas.openxmlformats.org/officeDocument/2006/relationships" id="256" r:id="R9d0ea5e816724095"/>
    <p:sldId xmlns:r="http://schemas.openxmlformats.org/officeDocument/2006/relationships" id="257" r:id="R60e2b57c570b4592"/>
    <p:sldId xmlns:r="http://schemas.openxmlformats.org/officeDocument/2006/relationships" id="258" r:id="R1fd2b97b2a294ab2"/>
    <p:sldId xmlns:r="http://schemas.openxmlformats.org/officeDocument/2006/relationships" id="259" r:id="R39036361c9dc4361"/>
    <p:sldId xmlns:r="http://schemas.openxmlformats.org/officeDocument/2006/relationships" id="260" r:id="R3cac4d5fee5c424a"/>
    <p:sldId xmlns:r="http://schemas.openxmlformats.org/officeDocument/2006/relationships" id="261" r:id="R925f573b62df40c6"/>
    <p:sldId xmlns:r="http://schemas.openxmlformats.org/officeDocument/2006/relationships" id="262" r:id="R6f6122e19ad34528"/>
    <p:sldId xmlns:r="http://schemas.openxmlformats.org/officeDocument/2006/relationships" id="263" r:id="R23acbc96da4e4e39"/>
    <p:sldId xmlns:r="http://schemas.openxmlformats.org/officeDocument/2006/relationships" id="264" r:id="R7fc5977c67b64741"/>
    <p:sldId xmlns:r="http://schemas.openxmlformats.org/officeDocument/2006/relationships" id="265" r:id="R841fd6f23c494c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f4ee97e9e4c07" /><Relationship Type="http://schemas.openxmlformats.org/officeDocument/2006/relationships/slideMaster" Target="/ppt/slideMasters/slideMaster1.xml" Id="R7e2830c7129d4c63" /><Relationship Type="http://schemas.openxmlformats.org/officeDocument/2006/relationships/notesMaster" Target="/ppt/notesMasters/notesMaster1.xml" Id="R3bee12efd4b94c93" /><Relationship Type="http://schemas.openxmlformats.org/officeDocument/2006/relationships/presProps" Target="/ppt/presProps.xml" Id="Rb2cfc25ec2944d80" /><Relationship Type="http://schemas.openxmlformats.org/officeDocument/2006/relationships/tableStyles" Target="/ppt/tableStyles.xml" Id="Raa906fa05bac4778" /><Relationship Type="http://schemas.openxmlformats.org/officeDocument/2006/relationships/slide" Target="/ppt/slides/slide1.xml" Id="R9d0ea5e816724095" /><Relationship Type="http://schemas.openxmlformats.org/officeDocument/2006/relationships/slide" Target="/ppt/slides/slide2.xml" Id="R60e2b57c570b4592" /><Relationship Type="http://schemas.openxmlformats.org/officeDocument/2006/relationships/slide" Target="/ppt/slides/slide3.xml" Id="R1fd2b97b2a294ab2" /><Relationship Type="http://schemas.openxmlformats.org/officeDocument/2006/relationships/slide" Target="/ppt/slides/slide4.xml" Id="R39036361c9dc4361" /><Relationship Type="http://schemas.openxmlformats.org/officeDocument/2006/relationships/slide" Target="/ppt/slides/slide5.xml" Id="R3cac4d5fee5c424a" /><Relationship Type="http://schemas.openxmlformats.org/officeDocument/2006/relationships/slide" Target="/ppt/slides/slide6.xml" Id="R925f573b62df40c6" /><Relationship Type="http://schemas.openxmlformats.org/officeDocument/2006/relationships/slide" Target="/ppt/slides/slide7.xml" Id="R6f6122e19ad34528" /><Relationship Type="http://schemas.openxmlformats.org/officeDocument/2006/relationships/slide" Target="/ppt/slides/slide8.xml" Id="R23acbc96da4e4e39" /><Relationship Type="http://schemas.openxmlformats.org/officeDocument/2006/relationships/slide" Target="/ppt/slides/slide9.xml" Id="R7fc5977c67b64741" /><Relationship Type="http://schemas.openxmlformats.org/officeDocument/2006/relationships/slide" Target="/ppt/slides/slide10.xml" Id="R841fd6f23c49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6b456345d41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f81460ee14894" /><Relationship Type="http://schemas.openxmlformats.org/officeDocument/2006/relationships/notesMaster" Target="/ppt/notesMasters/notesMaster1.xml" Id="Rc06d1b9d845947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f30d76a284a6d" /><Relationship Type="http://schemas.openxmlformats.org/officeDocument/2006/relationships/notesMaster" Target="/ppt/notesMasters/notesMaster1.xml" Id="R5d32a6783dc6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bf6384015406d" /><Relationship Type="http://schemas.openxmlformats.org/officeDocument/2006/relationships/notesMaster" Target="/ppt/notesMasters/notesMaster1.xml" Id="R49afe2c604ee4a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10f9e5b1c745d2" /><Relationship Type="http://schemas.openxmlformats.org/officeDocument/2006/relationships/notesMaster" Target="/ppt/notesMasters/notesMaster1.xml" Id="R3ce1d8e2494744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fd6b3e85254ff7" /><Relationship Type="http://schemas.openxmlformats.org/officeDocument/2006/relationships/notesMaster" Target="/ppt/notesMasters/notesMaster1.xml" Id="Rade9815aa87a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63b4cd70d4288" /><Relationship Type="http://schemas.openxmlformats.org/officeDocument/2006/relationships/notesMaster" Target="/ppt/notesMasters/notesMaster1.xml" Id="R5e86940c149148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e2ca465335452e" /><Relationship Type="http://schemas.openxmlformats.org/officeDocument/2006/relationships/notesMaster" Target="/ppt/notesMasters/notesMaster1.xml" Id="R3666237b190041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3a3870fc3447f9" /><Relationship Type="http://schemas.openxmlformats.org/officeDocument/2006/relationships/notesMaster" Target="/ppt/notesMasters/notesMaster1.xml" Id="Rbda20a54c8d149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c792f1efe84a37" /><Relationship Type="http://schemas.openxmlformats.org/officeDocument/2006/relationships/notesMaster" Target="/ppt/notesMasters/notesMaster1.xml" Id="Rec09546717eb4e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770d8b15a54b13" /><Relationship Type="http://schemas.openxmlformats.org/officeDocument/2006/relationships/notesMaster" Target="/ppt/notesMasters/notesMaster1.xml" Id="Ra008d9f9f1ec4a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</a:t>
            </a:r>
          </a:p>
          <a:p xmlns:a="http://schemas.openxmlformats.org/drawingml/2006/main">
            <a:r>
              <a:t>PasarAI is a zero-UI financial copilot for Malaysian micro-vendors.</a:t>
            </a:r>
          </a:p>
          <a:p xmlns:a="http://schemas.openxmlformats.org/drawingml/2006/main">
            <a:r>
              <a:t>Merchants speak or send receipts in the channels they already use, then get verified daily margin clarity.</a:t>
            </a:r>
          </a:p>
          <a:p xmlns:a="http://schemas.openxmlformats.org/drawingml/2006/main">
            <a:r>
              <a:t>The dashboard on this slide is the working product, not a design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framing:</a:t>
            </a:r>
          </a:p>
          <a:p xmlns:a="http://schemas.openxmlformats.org/drawingml/2006/main">
            <a:r>
              <a:t>Micro-vendors often have the sales number but not the daily cost-of-sales picture.</a:t>
            </a:r>
          </a:p>
          <a:p xmlns:a="http://schemas.openxmlformats.org/drawingml/2006/main">
            <a:r>
              <a:t>Inputs arrive as cash, QR transactions, photos, voice notes, and changing supplier prices.</a:t>
            </a:r>
          </a:p>
          <a:p xmlns:a="http://schemas.openxmlformats.org/drawingml/2006/main">
            <a:r>
              <a:t>The result is delayed or guessed pricing decisions, especially when ingredient or material costs move.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framing:</a:t>
            </a:r>
          </a:p>
          <a:p xmlns:a="http://schemas.openxmlformats.org/drawingml/2006/main">
            <a:r>
              <a:t>The user does not need to learn accounting software or maintain a new spreadsheet.</a:t>
            </a:r>
          </a:p>
          <a:p xmlns:a="http://schemas.openxmlformats.org/drawingml/2006/main">
            <a:r>
              <a:t>PasarAI captures natural inputs, verifies ambiguity, then calculates using deterministic finance logic.</a:t>
            </a:r>
          </a:p>
          <a:p xmlns:a="http://schemas.openxmlformats.org/drawingml/2006/main">
            <a:r>
              <a:t>The key distinction from a calculator is the evidence-linked workflow and the continuous daily operating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narration:</a:t>
            </a:r>
          </a:p>
          <a:p xmlns:a="http://schemas.openxmlformats.org/drawingml/2006/main">
            <a:r>
              <a:t>A merchant sends a voice note or receipt.</a:t>
            </a:r>
          </a:p>
          <a:p xmlns:a="http://schemas.openxmlformats.org/drawingml/2006/main">
            <a:r>
              <a:t>The AI extracts structured facts, but it does not silently guess ambiguous units.</a:t>
            </a:r>
          </a:p>
          <a:p xmlns:a="http://schemas.openxmlformats.org/drawingml/2006/main">
            <a:r>
              <a:t>After confirmation, the deterministic engine recalculates cost per pack and gross margin.</a:t>
            </a:r>
          </a:p>
          <a:p xmlns:a="http://schemas.openxmlformats.org/drawingml/2006/main">
            <a:r>
              <a:t>The merchant receives a recommendation in the same channel and can inspect the evidence on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narration:</a:t>
            </a:r>
          </a:p>
          <a:p xmlns:a="http://schemas.openxmlformats.org/drawingml/2006/main">
            <a:r>
              <a:t>Channels stay thin; the shared contracts and deterministic engine sit behind them.</a:t>
            </a:r>
          </a:p>
          <a:p xmlns:a="http://schemas.openxmlformats.org/drawingml/2006/main">
            <a:r>
              <a:t>AI interprets and validates inputs, while the finance engine owns arithmetic.</a:t>
            </a:r>
          </a:p>
          <a:p xmlns:a="http://schemas.openxmlformats.org/drawingml/2006/main">
            <a:r>
              <a:t>Evidence and ledger writes are append-only for traceability.</a:t>
            </a:r>
          </a:p>
          <a:p xmlns:a="http://schemas.openxmlformats.org/drawingml/2006/main">
            <a:r>
              <a:t>Databricks publishes trusted analytics and forecasts back into the operational layer.</a:t>
            </a:r>
          </a:p>
          <a:p xmlns:a="http://schemas.openxmlformats.org/drawingml/2006/main">
            <a:r>
              <a:t>Codex was part of the build workflow, not a runtime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narration:</a:t>
            </a:r>
          </a:p>
          <a:p xmlns:a="http://schemas.openxmlformats.org/drawingml/2006/main">
            <a:r>
              <a:t>We are not claiming every microenterprise on day one.</a:t>
            </a:r>
          </a:p>
          <a:p xmlns:a="http://schemas.openxmlformats.org/drawingml/2006/main">
            <a:r>
              <a:t>The beachhead is product-based micro-vendors in the three densest commercial markets.</a:t>
            </a:r>
          </a:p>
          <a:p xmlns:a="http://schemas.openxmlformats.org/drawingml/2006/main">
            <a:r>
              <a:t>SAM is explicitly a planning estimate and should be refined with sector-level DOSM counts.</a:t>
            </a:r>
          </a:p>
          <a:p xmlns:a="http://schemas.openxmlformats.org/drawingml/2006/main">
            <a:r>
              <a:t>The SOM target is 3,800 active merchants in three years, approximately one percent of the planning-estimate SAM.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narration:</a:t>
            </a:r>
          </a:p>
          <a:p xmlns:a="http://schemas.openxmlformats.org/drawingml/2006/main">
            <a:r>
              <a:t>Trust is local, so the rollout begins in dense merchant communities rather than broad paid acquisition.</a:t>
            </a:r>
          </a:p>
          <a:p xmlns:a="http://schemas.openxmlformats.org/drawingml/2006/main">
            <a:r>
              <a:t>The 14-Day Margin Challenge creates a repeatable onboarding and proof loop.</a:t>
            </a:r>
          </a:p>
          <a:p xmlns:a="http://schemas.openxmlformats.org/drawingml/2006/main">
            <a:r>
              <a:t>Partners reduce customer acquisition cost and can sponsor cohorts as a merchant-enablement programme.</a:t>
            </a:r>
          </a:p>
          <a:p xmlns:a="http://schemas.openxmlformats.org/drawingml/2006/main">
            <a:r>
              <a:t>Expansion comes through reusable sector templates, not a different product for every trade.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Business-model narration:</a:t>
            </a:r>
          </a:p>
          <a:p xmlns:a="http://schemas.openxmlformats.org/drawingml/2006/main">
            <a:r>
              <a:t>This slide is optional because pricing still needs direct pilot validation.</a:t>
            </a:r>
          </a:p>
          <a:p xmlns:a="http://schemas.openxmlformats.org/drawingml/2006/main">
            <a:r>
              <a:t>RM29 per month is intentionally below entry accounting and POS benchmarks.</a:t>
            </a:r>
          </a:p>
          <a:p xmlns:a="http://schemas.openxmlformats.org/drawingml/2006/main">
            <a:r>
              <a:t>Partner-sponsored cohorts can fund distribution while keeping the merchant entry price low.</a:t>
            </a:r>
          </a:p>
          <a:p xmlns:a="http://schemas.openxmlformats.org/drawingml/2006/main">
            <a:r>
              <a:t>PasarAI should not take a transaction fee or sell merchant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answer:</a:t>
            </a:r>
          </a:p>
          <a:p xmlns:a="http://schemas.openxmlformats.org/drawingml/2006/main">
            <a:r>
              <a:t>Touch 'n Go and similar apps are valuable for payments, transaction visibility, and merchant tools.</a:t>
            </a:r>
          </a:p>
          <a:p xmlns:a="http://schemas.openxmlformats.org/drawingml/2006/main">
            <a:r>
              <a:t>PasarAI is payment-agnostic and focuses on a different question: after today's changing input costs, what did the merchant actually make?</a:t>
            </a:r>
          </a:p>
          <a:p xmlns:a="http://schemas.openxmlformats.org/drawingml/2006/main">
            <a:r>
              <a:t>It combines cash and digital activity with voice notes and receipts, then produces an evidence-backed gross-margin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answers:</a:t>
            </a:r>
          </a:p>
          <a:p xmlns:a="http://schemas.openxmlformats.org/drawingml/2006/main">
            <a:r>
              <a:t>Privacy: use merchant-scoped authentication, encrypted integration tokens, append-only audit history, and production PDPA controls.</a:t>
            </a:r>
          </a:p>
          <a:p xmlns:a="http://schemas.openxmlformats.org/drawingml/2006/main">
            <a:r>
              <a:t>Outage handling: evidence is retained and uncertain interpretations stay in review rather than silently writing financial facts.</a:t>
            </a:r>
          </a:p>
          <a:p xmlns:a="http://schemas.openxmlformats.org/drawingml/2006/main">
            <a:r>
              <a:t>Non-food use: the architecture is reusable for any product or component-based micro-business; the current demo is strongest for food vendors.</a:t>
            </a:r>
          </a:p>
          <a:p xmlns:a="http://schemas.openxmlformats.org/drawingml/2006/main">
            <a:r>
              <a:t>Moat: the compound dataset is not generic chat. It is localized, evidence-linked merchant operations data with confirmations and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593c732464b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0fd55200f4fd7" /><Relationship Type="http://schemas.openxmlformats.org/officeDocument/2006/relationships/slideLayout" Target="/ppt/slideLayouts/slideLayout1.xml" Id="R425e584e10d246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e584e10d246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656287fd44fd3" /><Relationship Type="http://schemas.openxmlformats.org/officeDocument/2006/relationships/image" Target="/ppt/media/image.jpeg" Id="R853620760e28485d" /><Relationship Type="http://schemas.openxmlformats.org/officeDocument/2006/relationships/notesSlide" Target="/ppt/notesSlides/notesSlide1.xml" Id="R2ed6ab2d9791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2dd2b3ab44c63" /><Relationship Type="http://schemas.openxmlformats.org/officeDocument/2006/relationships/image" Target="/ppt/media/image2.jpeg" Id="R0f92c578bd6249c3" /><Relationship Type="http://schemas.openxmlformats.org/officeDocument/2006/relationships/notesSlide" Target="/ppt/notesSlides/notesSlide2.xml" Id="R8c89904db1364c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448c722f74d19" /><Relationship Type="http://schemas.openxmlformats.org/officeDocument/2006/relationships/image" Target="/ppt/media/image3.jpeg" Id="Rfd233513dd0d4130" /><Relationship Type="http://schemas.openxmlformats.org/officeDocument/2006/relationships/notesSlide" Target="/ppt/notesSlides/notesSlide3.xml" Id="R86a8d24b18c342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52a9fadda42e9" /><Relationship Type="http://schemas.openxmlformats.org/officeDocument/2006/relationships/notesSlide" Target="/ppt/notesSlides/notesSlide4.xml" Id="R5cc762bb924f40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62f17524241cd" /><Relationship Type="http://schemas.openxmlformats.org/officeDocument/2006/relationships/notesSlide" Target="/ppt/notesSlides/notesSlide5.xml" Id="Rf93206a6e444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0659de9d04e18" /><Relationship Type="http://schemas.openxmlformats.org/officeDocument/2006/relationships/notesSlide" Target="/ppt/notesSlides/notesSlide6.xml" Id="R08e8d2aad51d48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892acc0074ce9" /><Relationship Type="http://schemas.openxmlformats.org/officeDocument/2006/relationships/notesSlide" Target="/ppt/notesSlides/notesSlide7.xml" Id="Re0acccea4dfd44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9e2f89ffa4e1f" /><Relationship Type="http://schemas.openxmlformats.org/officeDocument/2006/relationships/notesSlide" Target="/ppt/notesSlides/notesSlide8.xml" Id="R6c352d8873f6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0497b3b7c49e2" /><Relationship Type="http://schemas.openxmlformats.org/officeDocument/2006/relationships/notesSlide" Target="/ppt/notesSlides/notesSlide9.xml" Id="R3f583c8a5da944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a29f15d5b4ed0" /><Relationship Type="http://schemas.openxmlformats.org/officeDocument/2006/relationships/notesSlide" Target="/ppt/notesSlides/notesSlide10.xml" Id="R036c3cc650274d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37AE8-C698-4AE1-A611-37FC79C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FE3D9-6E21-46BE-93BE-CFC93A84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64D6B-8252-4BA5-9741-B421AE1A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7AD44-2C78-41CC-96E9-4112080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5CC89-35E9-4B98-9418-CA71B900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MALAYSIA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1EE72-6D1E-44D4-96EE-1166A9C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32A5-5B7F-45D9-9F9D-BD6EEEAE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324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Zero-UI financial copilot for Malaysia's micro-vendors.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56C61-C427-4183-8D29-237E00B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Starting with product-based traders.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EC050-6F0B-4DC5-A5AB-0E30231B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57200"/>
            <a:ext cx="635317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620760e28485d"/>
          <a:stretch xmlns:a="http://schemas.openxmlformats.org/drawingml/2006/main"/>
        </p:blipFill>
        <p:spPr>
          <a:xfrm xmlns:a="http://schemas.openxmlformats.org/drawingml/2006/main">
            <a:off x="5438775" y="1164226"/>
            <a:ext cx="6086475" cy="3805649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0F4E4-7218-479B-98C9-0D73AB79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04850"/>
            <a:ext cx="1571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EAF54-E3C3-481A-9222-B76E29D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143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250AC-6303-41F1-95BB-9E157DF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41D9-3C13-4448-8F80-09D4326F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 MALAM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A9F1B-37B8-46DA-8582-142C45E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578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C8E25-692F-4CB8-B246-0472B90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67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FOOD STALLS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1BBA5-3A8C-49C9-AFFC-5FE16C8F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578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D43BA-84BC-4EC8-B6A5-A7C9CAB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674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TAILORS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73033-2018-4CCF-A4BB-D00F7FD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57875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CB236-D85D-4241-9289-489CCDE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674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HOME BAKERS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6F452-C36C-4633-A5EF-5293BC0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29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Hackathon demo deck</a:t>
            </a:r>
          </a:p>
        </p:txBody>
      </p:sp>
    </p:spTree>
    <p:extLst>
      <p:ext uri="{BB962C8B-B14F-4D97-AF65-F5344CB8AC3E}">
        <p14:creationId xmlns:p14="http://schemas.microsoft.com/office/powerpoint/2010/main" val="8604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F9E877-C752-4491-9338-EAD9F4C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650C2-1FA8-4A49-ADE1-C83BB45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Revenue is visible. Real margin isn't.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7667-0304-466D-885D-815573B5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CD03A-FBB8-453C-B661-70CF87E6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8482A-F74B-420B-B53B-BB2CAAEB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1DE9A-7364-4D56-B2EF-CCACB14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192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QR sales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C815D-5FE4-4D93-B2FC-3B6A9B4C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C03F6-EA81-4E55-8628-3C46F33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E6D54-1910-42ED-967D-CA5E683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829EB-E3BA-474A-8C67-4369994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0032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Receipt photos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1E40-5A5E-40B2-9B78-3E7AAF4A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7CB3D-E783-466A-96CE-C2552E7C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9FABF-AE47-4610-A337-F7009E6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2A6F6-E15F-47D9-A332-963B53B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813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4AA38-A512-4A1A-A90B-461A784B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7B8CD-5B0E-4FA4-BAAA-B08C4CB7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39F7D-B793-40B0-BE76-7F6B439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7F51D-D7F4-4640-907E-0F6BF5D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6242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Changing input prices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476E8-3296-43FF-BD46-DF2719B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1B17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207D4-918B-49B2-B865-FE6A0E32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33625"/>
            <a:ext cx="1581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EC57F-F76C-4325-B7D4-FC9343FC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7662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REAL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cxnSp>
        <p:nvCxnSpPr>
          <p:cNvPr id="62" name=""/>
          <p:cNvCxnSpPr>
            <a:stCxn xmlns:a="http://schemas.openxmlformats.org/drawingml/2006/main" id="3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3162300" y="2009775"/>
            <a:ext cx="8001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7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3162300" y="2790825"/>
            <a:ext cx="8001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162300" y="3171825"/>
            <a:ext cx="8001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162300" y="3171825"/>
            <a:ext cx="8001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11431-4D80-41AD-83F6-77483A1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95450"/>
            <a:ext cx="2743200" cy="3524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C0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B1740-2C6B-436E-9BED-BC11A7D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33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merchants know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E3379-9DA6-456E-BD43-D5C9885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RM200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39C92-8B4F-4067-8807-750E160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sales today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6467475" y="3476625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0B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6EE32-51EE-4F30-A018-0DB7EE3D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they cannot see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170B0B-0EEF-4928-8419-6AE7AE7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RM 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5EA91E-6EE2-4F30-8CDE-6AD99DF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gross profit after today's costs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694B0-09C8-4578-8F1A-93A6B74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62100"/>
            <a:ext cx="2324100" cy="39814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675F55"/>
          </a:solidFill>
          <a:ln xmlns:a="http://schemas.openxmlformats.org/drawingml/2006/main" w="14288">
            <a:solidFill>
              <a:srgbClr val="251B1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2c578bd6249c3"/>
          <a:srcRect xmlns:a="http://schemas.openxmlformats.org/drawingml/2006/main" l="10608" t="0" r="10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0225" y="1685925"/>
            <a:ext cx="2076450" cy="3733800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58AE3-689F-4ABD-9D32-036F2BFB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57850"/>
            <a:ext cx="2657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27F5F6-6C5B-4689-B3D6-5EB1381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67375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RECEIPT. MANY COST CHANGES.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441E61-48D5-471D-9A3B-8E64D18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Most micro-vendors know what they sold, not what they actually made.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4C5E8-7AAB-4C2F-BD45-569FD41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7A7CE4-0F84-497E-8F04-DFEBA23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7255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E97F31-E3FC-46E6-B33F-A3652B6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2424A-0BF1-46ED-A62E-A9DAB0D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Turning Voice Notes into Real-Time Margins.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6A46-80B3-4745-9BBC-EA928ED4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11C62-78D3-4CF2-832D-15475CB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9F165-BCF7-4BB6-B013-4BFDF65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88B52-228A-4562-95E9-7B0C26E2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824F-FDFE-4981-895F-A73F2A08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Voice, Telegram, receipts, and cash purchases.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72D15-4BC3-48DB-8C47-5EFDE2B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616E-0BA2-404B-8441-3AF9590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4245-C6CA-4FE9-8060-79FD465F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EF025-2791-4FA4-A76C-EF3A635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CEA1-7E6C-4BAF-8E29-8B8A9CC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AI structures the input and asks for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12A56-400C-447D-AA96-012A4655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C04A6-C526-4605-859A-8CAC478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8B49C-E28E-4C56-88E0-5DF9BB1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F431-C77B-4571-8DB7-B3AE6D99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7FD77-5DE9-4853-AB48-6306A7B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See margin, cost drivers, scenarios, and forecasts.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B67DF-5F1D-431C-AC7D-7DDAD9B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73533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33513dd0d4130"/>
          <a:srcRect xmlns:a="http://schemas.openxmlformats.org/drawingml/2006/main" l="0" t="2063" r="0" b="2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562100"/>
            <a:ext cx="7086600" cy="4248150"/>
          </a:xfrm>
          <a:prstGeom xmlns:a="http://schemas.openxmlformats.org/drawingml/2006/main" prst="roundRect">
            <a:avLst>
              <a:gd name="adj" fmla="val 179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76BA0-0BE0-4034-8543-65FC9CC1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0497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DA558-F772-473F-87AC-0247F529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A538E-BD36-48F9-BEAC-13FCA131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04975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C18FB-8E35-4E2D-A992-D659BB7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145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AB00F-435B-48BA-A3C9-C59C415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70497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EF379-DB2C-4B1D-928D-B566427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714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064C7-2252-43D5-AD58-2263907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6257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C390F-8DA3-4B38-93B3-E666CAC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35.60% GROSS MARGIN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F9C71-6B9F-4B60-B213-420E376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Zero new forms. Zero spreadsheet setup. One verified daily answer.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5C75A-B745-4B9F-AC02-8B8122A1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C466E-9D92-48B7-AAC3-3D9B3F6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5896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776FE1-66B5-4A18-8B6D-6078413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B100E-23E2-472D-B20C-C9362B46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From voice note to decision in five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76FC2-9689-43A6-863C-FF06013D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6212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E00D1-72EF-4A65-8077-627EFCF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81D69-2FD0-4B87-B4EA-7D4D9BA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932BA-F3A9-4DBB-939F-0BA8D0F8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SPEAK / SNAP /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79285-B32B-49F8-9958-817CF6A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Natural merchant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6426A-70B6-44C7-87B9-A380A3A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83446-0AA2-47CE-9F8C-37776788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7D1C0-60B5-4082-ADFC-0447856F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3CEFD-4B44-45A8-A596-BB235B39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AI STRUCTURES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92D20-ADBE-4B0F-9233-7F86F64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Item, quantity, unit,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AA00-43B5-4671-9E04-95E0366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6212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00972-8F13-40A2-80B8-D5464D2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A4867-F502-44C0-92B7-0BB277E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B1816-0C5B-49BC-8F25-C82CDCAB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MERCHANT CONFIRMS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10777-DBEE-43AE-8F6D-0C602A4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Ambiguity stays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38CF4-FFE5-4451-87E7-4E32E18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6212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BF1C7-695C-4C80-8CA5-E4E1B85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B5A40-C43E-4A56-B6B4-75676C39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97B0A-414E-41ED-BBA9-20480768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MARGIN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9D6ED-E306-4A04-89EE-FAF3AD4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Deterministic calculation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9CF37-7B21-4E00-B344-99EEFA4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6212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4CEB-EB3A-4310-BAAF-ABA3BF6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7EB5F-7175-4C6E-9578-6C9ED51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5C88A-E958-4596-BF94-7D0B79F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0360B-CA53-4106-B18E-0CF1B22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9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Act on price, cost, volume</a:t>
            </a:r>
          </a:p>
        </p:txBody>
      </p:sp>
      <p:cxnSp>
        <p:nvCxnSpPr>
          <p:cNvPr id="8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6003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26003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29450" y="26003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353550" y="26003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9EE7CD-7B5E-4153-A0EB-21D496C0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108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8B07F-224E-4925-8E07-B738A16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EF7AC-B9A5-43C2-8041-8DE243B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EXAMPLE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31E86-15E2-490D-A455-9A5133A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"Egg price increased RM2 per tray."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937BC-EEB9-4814-986B-E03BF69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33900"/>
            <a:ext cx="13525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BB382A-532D-4A43-B600-2BDF642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053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6883A4-3917-4140-BC75-9DE860BF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tray size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7C7651-61D3-40AB-B5E2-4C41991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13525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300D75-FCAC-4D5C-B02A-999CE94D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RECALCULATE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0D7A64-5383-4F58-9E5B-A1B724AA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per pack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3A64A0-9555-47DE-90BE-DA494F75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13525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7C553-07F3-4D44-B06D-458B3C2F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053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795420-20DF-445F-916A-F23F3F7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gross margin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26302-4CF5-4999-AAAA-858B7D91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33900"/>
            <a:ext cx="13525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E0EFF4-94CA-47AE-B62C-F691F6DF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053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SUGGEST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6F0E0D-DB17-4A80-9139-9282FBB8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72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 / volume</a:t>
            </a:r>
          </a:p>
        </p:txBody>
      </p:sp>
      <p:cxnSp>
        <p:nvCxnSpPr>
          <p:cNvPr id="100" name=""/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6076950" y="49911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01" name=""/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696200" y="49911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02" name=""/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315450" y="49911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46F55F-2AFE-4EFF-8DF1-38F6E18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C15C8C-5614-4FE6-AC2D-B80529AD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9885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7DD062-5B20-4751-9FA4-77BF4397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3CA4E-ACAE-4C69-A617-CA1DADE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F3422-923E-4E77-A7C0-A7BE0D7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B9AA-EA60-4D7D-AC3B-C5EE967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4297-01CA-471E-B713-A1D6CBA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EA575-46B7-40DC-9C99-0D10D28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ABEE"/>
          </a:solidFill>
          <a:ln xmlns:a="http://schemas.openxmlformats.org/drawingml/2006/main" w="9525">
            <a:solidFill>
              <a:srgbClr val="2AAB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CAFD9-2E0D-4F93-B156-922DB69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DCB55-5C1C-460B-9F9A-A5C96AB1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7E435-350D-465D-98B8-65E264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ELEVENLABS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977C1-EBCC-4315-BE4C-705EAA32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809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48056-99B9-43F6-8682-A0324EDB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SHEETS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D970A-9FC3-4E2D-B75C-09E1DCC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143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INGRESS +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10EEC-B25B-4C2C-9777-09BBE2B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257300"/>
            <a:ext cx="2238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3022D-9351-4FAF-9ACF-E582DBF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2573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NEXT.JS BFF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C540D-D8E6-4A6D-B5D3-1214A02B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28800"/>
            <a:ext cx="2238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29932-F6F9-4766-BF93-F98AB53C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288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WEBHOOKS + SYNC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B8EE4-8809-4099-A29A-16AA2134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2238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21FD6-D1E5-47D3-BDBB-0E70848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SCRIBE TRANSCRIPTION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FAC78-AAF6-448A-818B-FBBD7F0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2238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31FE0-0D98-4737-BD2B-8C6FABEB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QWEN INTERPRETER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D1898-FFB4-4D93-AE57-5FD1B0E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43300"/>
            <a:ext cx="2238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4E89E-063F-4B46-98C7-4BE62F8F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433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VALIDATION +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B2BC1-76FB-4DB6-A95F-A61ED26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143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2A9E7-D5F3-4933-B9CC-B13716A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257300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1B1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E366C-909D-49B3-9B76-0DA4540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573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PUBLIC NODE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E1379-2FD7-4E1C-A117-301037D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24050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46CEE-C5E3-47A7-8F6F-9D48AE9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DETERMINISTIC FINANCE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A105B-CC33-4C61-93B5-AC19AC5B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8B3BD-0133-4D1F-9ACE-3F6728B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908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IMMUTABLE EVIDENCE 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0AB00-5A25-420F-84E7-18CBFFD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57550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79B33-11D9-4259-AB20-82D299E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LAKEBASE APPEND-ONLY LEDGER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7D600-2F8E-4988-9AB3-61F12618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14375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ANALYTICS +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232B6-AD8B-479B-9093-9D1A943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3543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72E504-D205-41E3-9FBD-3EDDC00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LAKEBASE SNAPSHOT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42B7D3-4EB1-47DA-9C6A-BAC5778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7810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2942C-A41B-4DFF-8BC9-81DE9C5E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80F33-BC22-4082-9BD3-6FFB9FB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7810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3395A2-732F-48B0-B7E5-E307A14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B543F9-5D41-4C12-849C-3DC93670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52625"/>
            <a:ext cx="7810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3C2E20-55BF-4F90-9485-9521376B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52625"/>
            <a:ext cx="78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cxnSp>
        <p:nvCxnSpPr>
          <p:cNvPr id="132" name=""/>
          <p:cNvCxnSpPr>
            <a:stCxn xmlns:a="http://schemas.openxmlformats.org/drawingml/2006/main" id="3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029700" y="22669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33" name=""/>
          <p:cNvCxnSpPr>
            <a:stCxn xmlns:a="http://schemas.openxmlformats.org/drawingml/2006/main" id="37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982200" y="22669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34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8639175" y="1638300"/>
            <a:ext cx="138112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FFFFFF"/>
            </a:solidFill>
            <a:prstDash val="solid"/>
            <a:tail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5D7E1A-67CB-44D7-A19D-9DD5409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26860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C92ED4-64B5-4572-AEE9-65694FA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 PUBLISHER</a:t>
            </a:r>
          </a:p>
        </p:txBody>
      </p:sp>
      <p:cxnSp>
        <p:nvCxnSpPr>
          <p:cNvPr id="137" name=""/>
          <p:cNvCxnSpPr>
            <a:stCxn xmlns:a="http://schemas.openxmlformats.org/drawingml/2006/main" id="39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9591675" y="2581275"/>
            <a:ext cx="952500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FFFFFF"/>
            </a:solidFill>
            <a:prstDash val="solid"/>
            <a:tail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974484-7D57-4B02-A865-94C6F935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686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11430">
            <a:solidFill>
              <a:srgbClr val="356AC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5AAF6D-93F2-464A-8CAF-40BC876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+ SCENARIOS</a:t>
            </a:r>
          </a:p>
        </p:txBody>
      </p:sp>
      <p:cxnSp>
        <p:nvCxnSpPr>
          <p:cNvPr id="140" name=""/>
          <p:cNvCxnSpPr>
            <a:stCxn xmlns:a="http://schemas.openxmlformats.org/drawingml/2006/main" id="44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9591675" y="33528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76862"/>
            </a:solidFill>
            <a:prstDash val="solid"/>
            <a:tailEnd type="arrow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25E142-4ADE-47B5-AA2D-189C643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686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11430">
            <a:solidFill>
              <a:srgbClr val="2AAB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A7CE20-3BA1-4BC0-BFF3-01C54E85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 REPLIES</a:t>
            </a:r>
          </a:p>
        </p:txBody>
      </p:sp>
      <p:cxnSp>
        <p:nvCxnSpPr>
          <p:cNvPr id="143" name=""/>
          <p:cNvCxnSpPr>
            <a:stCxn xmlns:a="http://schemas.openxmlformats.org/drawingml/2006/main" id="4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591675" y="335280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76862"/>
            </a:solidFill>
            <a:prstDash val="solid"/>
            <a:tailEnd type="arrow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57076F-5C81-4FE7-AD12-2E5110D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7250"/>
            <a:ext cx="2686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11430">
            <a:solidFill>
              <a:srgbClr val="2F7A5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156196-9FC4-4BAB-8F21-E14F6B80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72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SHEETS SYNC</a:t>
            </a:r>
          </a:p>
        </p:txBody>
      </p:sp>
      <p:cxnSp>
        <p:nvCxnSpPr>
          <p:cNvPr id="146" name=""/>
          <p:cNvCxnSpPr>
            <a:stCxn xmlns:a="http://schemas.openxmlformats.org/drawingml/2006/main" id="44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9591675" y="335280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76862"/>
            </a:solidFill>
            <a:prstDash val="solid"/>
            <a:tailEnd type="arrow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0F2303-41C2-43B3-ADDA-A3A0678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686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11430">
            <a:solidFill>
              <a:srgbClr val="A8241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2A2564-D1F9-4327-96A6-F6DF60A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+ AUDIT</a:t>
            </a:r>
          </a:p>
        </p:txBody>
      </p:sp>
      <p:cxnSp>
        <p:nvCxnSpPr>
          <p:cNvPr id="149" name=""/>
          <p:cNvCxnSpPr>
            <a:stCxn xmlns:a="http://schemas.openxmlformats.org/drawingml/2006/main" id="44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9591675" y="33528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76862"/>
            </a:solidFill>
            <a:prstDash val="solid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209800" y="14573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209800" y="20288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2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09800" y="2028825"/>
            <a:ext cx="4191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3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09800" y="2028825"/>
            <a:ext cx="41910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4" name=""/>
          <p:cNvCxnSpPr>
            <a:stCxn xmlns:a="http://schemas.openxmlformats.org/drawingml/2006/main" id="1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867275" y="1457325"/>
            <a:ext cx="428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748088" y="22288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56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748088" y="28003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57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48088" y="33718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58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4867275" y="1504950"/>
            <a:ext cx="428625" cy="2238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159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557963" y="1752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60" name=""/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6557963" y="24193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61" name=""/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557963" y="30861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77872"/>
            </a:solidFill>
            <a:prstDash val="solid"/>
            <a:tailEnd type="arrow" w="sm" len="sm"/>
          </a:ln>
        </p:spPr>
      </p:cxnSp>
      <p:cxnSp>
        <p:nvCxnSpPr>
          <p:cNvPr id="162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7820025" y="1447800"/>
            <a:ext cx="428625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FFFFF"/>
            </a:solidFill>
            <a:prstDash val="solid"/>
            <a:tailEnd type="arrow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364395-7585-49AD-8BCC-B92951C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BUILT WITH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234FD3-18CA-4AE8-973B-58B18E1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5A0507-E066-4A24-A7C3-958D3109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6E515B-69BC-41DD-9EF6-700C0E9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84B347-49B9-4174-8D46-A70B7E3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NODE.JS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007B83-84DA-4FC4-A3C7-1EF30D4C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FFB2E9-04AC-4882-B010-BEAD2B9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4F89E8-85C6-4A69-9744-18799B1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43C373-2B74-4006-BAB3-87052570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ELEVENLABS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D7C203-B226-488E-9D03-B4D1CB1F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CE6803-18BE-4797-A96C-CA1F4DB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CBAD38-D1AA-4C5A-A40D-B0B72C31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6DBB37-D0BE-4119-945E-0860265B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SHEETS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B80644-1DD5-42EF-A3B3-CF829BB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3C9A6B-0164-4E63-A41E-54C62CA9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DATABRICKS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D484D21-CE42-4E4C-BC10-383F931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7A1842-2943-4937-B9F8-D24F0FF7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LAKEBASE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80C068-BA74-482A-9965-02D9590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953125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4A4B4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442ABF-EEAD-4B5D-A6D4-C9DFDC9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953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630B4D-2577-4484-B100-E49A8BB6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8C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8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170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167531-00D5-49D4-93B6-030F3DC0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D97DE-5C59-4D8E-8506-4B889803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focused Malaysian market, with room to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AD691-44D9-4E20-960C-763EA53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TAM / SAM / SOM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EF749-E69C-4376-9E25-06EB2D8A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AD5"/>
          </a:solidFill>
          <a:ln xmlns:a="http://schemas.openxmlformats.org/drawingml/2006/main" w="19050">
            <a:solidFill>
              <a:srgbClr val="A824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0115A-11D3-479C-8637-7A9B4FE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DF"/>
          </a:solidFill>
          <a:ln xmlns:a="http://schemas.openxmlformats.org/drawingml/2006/main" w="19050">
            <a:solidFill>
              <a:srgbClr val="2F7A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D097F-863A-431B-ACB0-3F2996F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0515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BE"/>
          </a:solidFill>
          <a:ln xmlns:a="http://schemas.openxmlformats.org/drawingml/2006/main" w="19050">
            <a:solidFill>
              <a:srgbClr val="D5A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A9AE-2A7D-46BC-AC82-163F40D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MALAYSIA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1014E-8AEE-47FF-8E15-7FA7550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43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3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4F55D-0578-4258-B120-10C806F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051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3-YEAR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EC206-516B-444B-8D12-0E4AC8D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EC685-55A3-48D0-BB85-5F842649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767K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D200-6811-4EBA-9BB5-9AE778D1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908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E1083-0979-4644-BFEA-1328648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DA410-A6C9-49FA-92BD-D1CC6BE1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~377K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71E09-8120-4F5C-962A-C540726F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11A1B-5F69-477E-99F0-589AB9BA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16103-8937-48F4-9917-90E1125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3.8K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38184-DD1F-4943-BA05-DE035B2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33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3162300" y="2381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8241C"/>
            </a:solidFill>
            <a:prstDash val="solid"/>
          </a:ln>
        </p:spPr>
      </p:cxnSp>
      <p:cxnSp>
        <p:nvCxnSpPr>
          <p:cNvPr id="81" name=""/>
          <p:cNvCxnSpPr/>
          <p:nvPr/>
        </p:nvCxnSpPr>
        <p:spPr>
          <a:xfrm xmlns:a="http://schemas.openxmlformats.org/drawingml/2006/main">
            <a:off x="2733675" y="346710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F7A57"/>
            </a:solidFill>
            <a:prstDash val="solid"/>
          </a:ln>
        </p:spPr>
      </p:cxnSp>
      <p:cxnSp>
        <p:nvCxnSpPr>
          <p:cNvPr id="82" name=""/>
          <p:cNvCxnSpPr/>
          <p:nvPr/>
        </p:nvCxnSpPr>
        <p:spPr>
          <a:xfrm xmlns:a="http://schemas.openxmlformats.org/drawingml/2006/main">
            <a:off x="2533650" y="44100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5A62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B0FC6-BC76-4402-A098-14EBBDD0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SAM is a planning estimate using establishment concentration as a proxy.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C6570-7843-454F-9F0C-2EF350F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33525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PREDICTED SME SOFTWARE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8A5C9-FDFA-4CCD-B517-688491C8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8.2%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795D9-5B26-4E8D-95E5-9DF77B9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62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CAGR through 2030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0FF6F-DF84-4239-9721-A5DC4EBF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Market index (2025 = 100)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5619750" y="5238750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9C0B5"/>
            </a:solidFill>
            <a:prstDash val="solid"/>
          </a:ln>
        </p:spPr>
      </p:cxnSp>
      <p:cxnSp>
        <p:nvCxnSpPr>
          <p:cNvPr id="89" name=""/>
          <p:cNvCxnSpPr/>
          <p:nvPr/>
        </p:nvCxnSpPr>
        <p:spPr>
          <a:xfrm xmlns:a="http://schemas.openxmlformats.org/drawingml/2006/main">
            <a:off x="5619750" y="32861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9C0B5"/>
            </a:solidFill>
            <a:prstDash val="solid"/>
          </a:ln>
        </p:spPr>
      </p:cxnSp>
      <p:cxnSp>
        <p:nvCxnSpPr>
          <p:cNvPr id="90" name=""/>
          <p:cNvCxnSpPr/>
          <p:nvPr/>
        </p:nvCxnSpPr>
        <p:spPr>
          <a:xfrm xmlns:a="http://schemas.openxmlformats.org/drawingml/2006/main">
            <a:off x="5619750" y="3930491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5DED3"/>
            </a:solidFill>
            <a:prstDash val="dash"/>
          </a:ln>
        </p:spPr>
      </p:cxnSp>
      <p:cxnSp>
        <p:nvCxnSpPr>
          <p:cNvPr id="91" name=""/>
          <p:cNvCxnSpPr/>
          <p:nvPr/>
        </p:nvCxnSpPr>
        <p:spPr>
          <a:xfrm xmlns:a="http://schemas.openxmlformats.org/drawingml/2006/main">
            <a:off x="5619750" y="4574858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5DED3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296EBC-D822-4026-9BA2-819D35ED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9456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1DAD9-96F0-4B69-A9F4-C2CA918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37389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22502-6F07-4327-8DDB-45A6D257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28311C-AC45-496E-9525-070F485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595" y="47105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CD71D-DEAE-48E0-9350-EC2F2D1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670" y="445337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6EF4B-0773-44BB-A4F5-6DF13F14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FD046D-7E33-4918-9908-21B503F5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85143B-7012-4057-A20A-24BEAB5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13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196A95-9551-4EF5-BA6C-BC12F64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FBB7F-3D66-4430-98FB-1798594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407150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E2ECFC-106A-4298-B1F5-86ECB846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710" y="381433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5D59A-B560-473E-820D-7905D34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C1A5F5-2BD5-4367-8617-DB2EF77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155" y="368098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2A212D-AB53-400E-BA87-921D77EF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342380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B0AFB7-B111-4BE3-A4B4-5948625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35E93A-0B28-4AA5-8E7A-8A7388F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9045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C3126B-DAB9-49FE-92F1-BFE83A4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3328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D41999-7D6A-4BDD-B2A0-AF9FD92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2030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5619750" y="5061239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1" name=""/>
          <p:cNvCxnSpPr/>
          <p:nvPr/>
        </p:nvCxnSpPr>
        <p:spPr>
          <a:xfrm xmlns:a="http://schemas.openxmlformats.org/drawingml/2006/main">
            <a:off x="6732270" y="4777220"/>
            <a:ext cx="0" cy="284018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2" name=""/>
          <p:cNvCxnSpPr/>
          <p:nvPr/>
        </p:nvCxnSpPr>
        <p:spPr>
          <a:xfrm xmlns:a="http://schemas.openxmlformats.org/drawingml/2006/main">
            <a:off x="6732270" y="477722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3" name=""/>
          <p:cNvCxnSpPr/>
          <p:nvPr/>
        </p:nvCxnSpPr>
        <p:spPr>
          <a:xfrm xmlns:a="http://schemas.openxmlformats.org/drawingml/2006/main">
            <a:off x="7844790" y="4457700"/>
            <a:ext cx="0" cy="31952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4" name=""/>
          <p:cNvCxnSpPr/>
          <p:nvPr/>
        </p:nvCxnSpPr>
        <p:spPr>
          <a:xfrm xmlns:a="http://schemas.openxmlformats.org/drawingml/2006/main">
            <a:off x="7844790" y="445770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5" name=""/>
          <p:cNvCxnSpPr/>
          <p:nvPr/>
        </p:nvCxnSpPr>
        <p:spPr>
          <a:xfrm xmlns:a="http://schemas.openxmlformats.org/drawingml/2006/main">
            <a:off x="8957310" y="4138180"/>
            <a:ext cx="0" cy="31952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6" name=""/>
          <p:cNvCxnSpPr/>
          <p:nvPr/>
        </p:nvCxnSpPr>
        <p:spPr>
          <a:xfrm xmlns:a="http://schemas.openxmlformats.org/drawingml/2006/main">
            <a:off x="8957310" y="413818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7" name=""/>
          <p:cNvCxnSpPr/>
          <p:nvPr/>
        </p:nvCxnSpPr>
        <p:spPr>
          <a:xfrm xmlns:a="http://schemas.openxmlformats.org/drawingml/2006/main">
            <a:off x="10069830" y="374765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8" name=""/>
          <p:cNvCxnSpPr/>
          <p:nvPr/>
        </p:nvCxnSpPr>
        <p:spPr>
          <a:xfrm xmlns:a="http://schemas.openxmlformats.org/drawingml/2006/main">
            <a:off x="10069830" y="3747655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9" name=""/>
          <p:cNvCxnSpPr/>
          <p:nvPr/>
        </p:nvCxnSpPr>
        <p:spPr>
          <a:xfrm xmlns:a="http://schemas.openxmlformats.org/drawingml/2006/main">
            <a:off x="11182350" y="335713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861294-8FD6-40A7-A040-20627267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Sources: DOSM Economic Census 2023; APEC / SME Corp Malaysia MSME composition; ResearchAndMarkets SEA SME Software Forecast to 2030.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FB73A9-A579-44D6-B1E4-FA355095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88FCF7-0BEC-4251-BA64-7FFA61C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737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D900D-B9F7-4E2E-8B1F-32E9EA7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07A25-A56C-4DC2-83EB-A9B8D82D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Win market by market.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C1699-D637-4533-93E8-CFEC6A55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12115-8089-40EE-80BD-15E018B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72EBC-6F83-4378-BB8C-B45B31F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1351F-6E4E-4211-A4EB-9A9C5C20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967F-B788-4EE4-9F18-5818A32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Food and product-based micro-vendors in Klang Valley.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65FCA-638A-4909-97A6-6E5FC67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333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40121-81EF-45D1-925D-C1928A1C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145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D3515-B818-48CE-BDE6-CC86D98D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876FC-2163-41C2-BD1B-113F94BA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60C2F-563B-4E00-A483-10B3AA96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Market organisers, councils, associations, wholesalers, banks.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96EB2-1018-409C-9496-2EAC9AB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333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D44C3-1BA1-43D4-BA27-07CC2E83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145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0B689-FDC4-4CD0-A17B-8B1AB08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1E353-1F7B-4122-8EC6-21EBE82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288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ED709-0C62-47A2-A9D3-E0F21EF3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B17"/>
                </a:solidFill>
                <a:latin typeface="Arial"/>
                <a:ea typeface="Arial"/>
                <a:cs typeface="Arial"/>
              </a:rPr>
              <a:t>Sector templates for bakers, retailers, tailors, and home businesses.</a:t>
            </a:r>
          </a:p>
        </p:txBody>
      </p:sp>
      <p:cxnSp>
        <p:nvCxnSpPr>
          <p:cNvPr id="61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86200" y="29241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29241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08BC7-6DCA-4949-8A1A-5E87EF2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104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FF2DD-0ECF-4F2B-866F-733B2B3F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21431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0A18B-A7A5-4023-80A5-2229F47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14-DAY MARGIN 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4EB5B-B1F6-4588-B144-95FFEC3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81550"/>
            <a:ext cx="136207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5256D-92FF-45AF-B559-FF97E9E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24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1 MARKET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80CB0-388F-4A75-A124-6C25EC6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9112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8B306-F126-4EC6-B48C-1D96614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781550"/>
            <a:ext cx="136207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46539-3BE8-4574-9A19-E35706E5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24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20 MERCHANTS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9DCA1-47EC-43CD-B183-0758517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19112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guided onboarding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D204A-F9DA-4444-9831-4E08153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136207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907EC-DD11-4924-8856-D6DDCC0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24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WEEKLY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AD600-3EDB-413C-8EC2-493BEED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habit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67F3F4-91FF-49BD-AB54-837D1FE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81550"/>
            <a:ext cx="136207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457B4-5F74-491A-85EE-A211206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24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REFERRALS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A6584-25CA-47F3-928B-ADE36F82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9112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merchant-led trust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4C066-5234-4B05-9164-9106EF7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36207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B28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63860-7D36-437D-9607-1C68C664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24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PARTNER COHORTS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20BBF-BA75-427F-8CC1-0E7988E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209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repeatable scale</a:t>
            </a:r>
          </a:p>
        </p:txBody>
      </p:sp>
      <p:cxnSp>
        <p:nvCxnSpPr>
          <p:cNvPr id="81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543425" y="51911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153150" y="51911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762875" y="51911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FFFFFF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72600" y="51911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FFFFFF"/>
            </a:solidFill>
            <a:prstDash val="solid"/>
            <a:tailEnd type="arrow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6082A-AF4B-4908-A1EA-52295659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9D3D1-0A5D-477E-8604-770CFA6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7102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E6CF41-9FA7-47D0-BFF4-DB006D2E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OPTIONAL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31A5A-E924-4F3F-A80C-49EF5D5A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simple model merchants can understand.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D96E6-D03D-4E16-A823-60BFB4E6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15E40-83A2-4FD3-BA6D-10C0563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076BA-C124-4864-97D1-46D38085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AE822-2690-49B0-9DEF-08748B6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61F2-19F9-48FF-8155-1B6A4A8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AF7E8-0E64-4F7E-B4A8-44E3C84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33136-3592-43FB-9CC0-6156B86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106F0-76E2-4AB0-93C6-188C24FB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Manual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50CFE-7B9A-4831-AD00-4229FDF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7DD9F-21B7-4902-BCAF-D65144D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9ACE0-F7D1-4AB5-A813-A9E00823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Daily gross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2C483-D246-437A-BFC9-2147568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4AE3A-74A1-4E87-A4FE-A2329FF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76F84-E3D1-480E-94A3-188D31E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7-day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9F7F1-7E8C-41A7-B697-EEBD7D7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23813">
            <a:solidFill>
              <a:srgbClr val="A824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1C6A0-584D-4E03-8E8F-A69D3588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AD1CA-BAE7-4DAC-86D9-3A82C29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A24D8-C1B9-44C9-AE94-1F2D61D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F8DF4-8608-4244-83C1-5CDC6963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00F1B-F89B-4781-A82F-AF311816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A63F7-0525-42B7-A7C5-7481224A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6DB9A-3BF0-46D2-A1C3-E6135299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+ photo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AC2FC-1B6D-4384-9CD7-4E4C906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26205-502B-4D91-AB4A-0AA9B03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CC014-C3C8-4FA0-9B86-F5D4CFD6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Scenarios + trends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B3FD2-F05E-4506-B775-0542D46D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82762-CBA8-40D2-BEDB-EE724E9B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5E02F-0DDF-4E1D-A305-FEB76C13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+ exports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10DE6A-81C9-49F7-B06E-C3E1485C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666D3-4659-4A0D-ACBE-228CA70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5098C-AA6D-47B9-AEF1-DE433CA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5A18AC-8907-4C94-8E31-E3D4426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246F95-EB07-45C3-A005-C4295AF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F9D55-44B0-45B8-A2B9-7CDB364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55DBEE-7AC7-4135-8C6E-A1AE1365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302EF1-C8FF-4F6F-808D-D39489C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Sponsored cohorts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E7927-A526-451C-9065-32001A5A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B554B-43BE-42AC-8ABB-ADE01D8A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19E5C2-821B-490E-8D32-8440E1B0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Programme reporting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5E98DB-33BB-4BAB-9D3C-C665D69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4FD9D-A87F-48A7-99EE-2D49BD6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E5FE44-54A9-4116-8F6C-F04FA48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Co-branded onboarding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D870E1-2EBF-4EB2-B704-B7832F0D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5F252C-9EC2-495E-8D59-FB60A9AF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TRANSACTION FEE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B910B9-2B13-409C-BE7D-28B74EB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43550"/>
            <a:ext cx="2324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0D908F-3586-4022-8B9C-592297DC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530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SALE OF MERCHANT 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A682DE-532C-4D75-B47E-2057A11A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72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Later: opt-in supplier, financing, and insurance referrals.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0F3566-3463-49C5-9DB4-A36A3E1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Pricing benchmark: Bukku Seed RM35/month; StoreHub Starter from RM122/month.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13578D-6935-4C3D-B23E-2EEAF84B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3335AE-5E72-4D63-B1CC-495819C0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7423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F66EB4-88A1-45C1-BDA2-ECB711C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E40EB-04F9-49FD-B8C2-11888E1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7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is this different from Touch 'n Go or financial calculators?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67539-C633-4993-96B2-0918ADD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They track transactions. PasarAI explains margin.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637A3-DC4A-4686-8589-88819A8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51244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7DA96-79DC-48F2-A9A3-4BF208A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095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234A1-556D-4CBD-BDEE-F60E81FA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/ FINANCE 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945D8-5F0A-4EE0-925F-455CB11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came in?"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30263-20B9-4E33-8FE7-A956F18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9E66F-D4BB-4BEE-957B-FCFB991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0EE6-2858-4ED5-BEF2-E1284399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70161-359D-4A14-8282-9F7D5AB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Spend summaries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02474-5C88-4CFB-AD06-1ADD8123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C7A62-B8B0-41A8-8C1B-CAAB5A88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Static calculators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14157-8240-42FC-B24A-21BC7A4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2C83E-3272-4527-B3E0-59BF52A6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Usually tied to app or payment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B79E1-AB63-400B-ACD4-68433E62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56769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9050">
            <a:solidFill>
              <a:srgbClr val="A824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3B42A-16CC-4901-B648-D6FADF6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F8B1D-7371-4C4A-8D9F-F74ED23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82585-C666-4EDA-84A3-8BA2B0C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did I actually make?"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3E334-ECD3-407D-801C-72EC019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0A9C2-76C8-42D0-8AAE-4DF1DAAE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digital + voice + receipts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DDCAD-3932-4186-AFFE-BB9D7406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D0974-97F1-4002-9847-7B43177B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Evidence-backed cost of sales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AAF37-35B6-4C41-A1A5-9C0F33D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987D1-FDFE-499D-9F1A-C7B3D895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Verified margin and scenarios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F2B71-E91C-4B4C-82AC-7797A12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42705-37FB-4B3B-900F-9C8D284C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Payment-agnostic operating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F74D2-6EED-4E71-A6F5-30678D4F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752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427D0-D0B8-4D5E-8B19-C2F88C6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ANOTHER WALLET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E98AC-50A1-47A6-90E8-F6D004EF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781675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daily operating decision layer that can sit above any payment method.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3679E-B5CF-4EB9-AB79-40E4B715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9E672-1F4F-49E7-9E9B-1DE79EC9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70621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138AEB-1B66-4629-8000-2D5EB5AE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6B380-B434-4CF5-BB0E-AA96ED4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judge questions we are ready for.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CB2B9-704E-40C6-823A-61AD581B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C9385-105F-4767-A711-6C1E5C46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394C3-028E-4AA2-A445-C747597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1A2C8-05A1-4AB5-87F9-E6B0399B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accurate is the AI?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1C8A0-A52B-41D5-B655-BA75075A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AI interprets. A deterministic engine calculates. Ambiguity requires confirmation.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8F95D-B8FF-4C7A-9369-A6A4696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F940F-4EC5-4338-8C80-3C8CBF9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92D02-9EF1-491C-B4FE-E057694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764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275A4-06B4-4F72-8081-7F7D1848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Is gross margin the same as profit?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D4559-FA27-466E-B419-5A237CE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No. PasarAI labels gross margin clearly; overheads stay excluded unless configured.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2FB0F-7DFF-47EE-B27D-1BBDCD8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9066E-F02A-4554-8BA3-679AF56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FA512-D8E0-4B77-B34A-EC225D7F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6F723-5B56-4E37-83C6-BF78B5D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merchants trust the forecast?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9C74-4623-48C9-8E0D-1C68C97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appear only when data sufficiency and accuracy gates pass.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7EA26-0C0C-478B-B4E2-80C5D51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4D08E-EB9D-4D4D-8D6E-C977D0B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ED156-990F-4BC0-9D67-755AFF0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817E9-2499-4842-9B67-F77F499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00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this scale beyond Telegram?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99494-3AB5-4C57-8975-01B4858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529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Yes. Channel adapters share the same contracts, evidence, and finance engine.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AF255-F2FB-4FF1-AEB9-C3EE882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10763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D68F2-0145-4EC4-8764-6AA552B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MOAT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9AF69-D3D1-4197-87E9-A6BFE9C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24525"/>
            <a:ext cx="956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Localized merchant ontology + evidence-linked history + multilingual confirmation data + partner distribution.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A4A8C-3898-455A-AE14-B321F5F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64B22-E49D-4EE6-91C7-35469CB5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6947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2026-07-17T10:19:24.8040000Z</dcterms:created>
  <dcterms:modified xsi:type="dcterms:W3CDTF">2026-07-17T10:19:24.8040000Z</dcterms:modified>
</coreProperties>
</file>